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7BCCFF-7447-4F93-9BDD-223712C31262}" v="26" dt="2026-07-21T11:04:07.2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274"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LIJI MOHAN B" userId="54cbeda012444387" providerId="LiveId" clId="{02F54985-FA4E-4180-B62C-44046FC5C1A1}"/>
    <pc:docChg chg="undo redo custSel modSld">
      <pc:chgData name="BALIJI MOHAN B" userId="54cbeda012444387" providerId="LiveId" clId="{02F54985-FA4E-4180-B62C-44046FC5C1A1}" dt="2026-07-21T11:04:26.617" v="923" actId="20577"/>
      <pc:docMkLst>
        <pc:docMk/>
      </pc:docMkLst>
      <pc:sldChg chg="modSp mod">
        <pc:chgData name="BALIJI MOHAN B" userId="54cbeda012444387" providerId="LiveId" clId="{02F54985-FA4E-4180-B62C-44046FC5C1A1}" dt="2026-07-21T09:35:04.454" v="3" actId="207"/>
        <pc:sldMkLst>
          <pc:docMk/>
          <pc:sldMk cId="0" sldId="262"/>
        </pc:sldMkLst>
        <pc:spChg chg="mod">
          <ac:chgData name="BALIJI MOHAN B" userId="54cbeda012444387" providerId="LiveId" clId="{02F54985-FA4E-4180-B62C-44046FC5C1A1}" dt="2026-07-21T09:34:59.433" v="2" actId="207"/>
          <ac:spMkLst>
            <pc:docMk/>
            <pc:sldMk cId="0" sldId="262"/>
            <ac:spMk id="27" creationId="{00000000-0000-0000-0000-000000000000}"/>
          </ac:spMkLst>
        </pc:spChg>
        <pc:spChg chg="mod">
          <ac:chgData name="BALIJI MOHAN B" userId="54cbeda012444387" providerId="LiveId" clId="{02F54985-FA4E-4180-B62C-44046FC5C1A1}" dt="2026-07-21T09:35:04.454" v="3" actId="207"/>
          <ac:spMkLst>
            <pc:docMk/>
            <pc:sldMk cId="0" sldId="262"/>
            <ac:spMk id="51" creationId="{00000000-0000-0000-0000-000000000000}"/>
          </ac:spMkLst>
        </pc:spChg>
      </pc:sldChg>
      <pc:sldChg chg="modSp mod">
        <pc:chgData name="BALIJI MOHAN B" userId="54cbeda012444387" providerId="LiveId" clId="{02F54985-FA4E-4180-B62C-44046FC5C1A1}" dt="2026-07-21T09:43:24.324" v="14" actId="207"/>
        <pc:sldMkLst>
          <pc:docMk/>
          <pc:sldMk cId="0" sldId="263"/>
        </pc:sldMkLst>
        <pc:spChg chg="mod">
          <ac:chgData name="BALIJI MOHAN B" userId="54cbeda012444387" providerId="LiveId" clId="{02F54985-FA4E-4180-B62C-44046FC5C1A1}" dt="2026-07-21T09:36:20.366" v="5" actId="207"/>
          <ac:spMkLst>
            <pc:docMk/>
            <pc:sldMk cId="0" sldId="263"/>
            <ac:spMk id="4" creationId="{00000000-0000-0000-0000-000000000000}"/>
          </ac:spMkLst>
        </pc:spChg>
        <pc:spChg chg="mod">
          <ac:chgData name="BALIJI MOHAN B" userId="54cbeda012444387" providerId="LiveId" clId="{02F54985-FA4E-4180-B62C-44046FC5C1A1}" dt="2026-07-21T09:42:17.021" v="8" actId="207"/>
          <ac:spMkLst>
            <pc:docMk/>
            <pc:sldMk cId="0" sldId="263"/>
            <ac:spMk id="13" creationId="{00000000-0000-0000-0000-000000000000}"/>
          </ac:spMkLst>
        </pc:spChg>
        <pc:spChg chg="mod">
          <ac:chgData name="BALIJI MOHAN B" userId="54cbeda012444387" providerId="LiveId" clId="{02F54985-FA4E-4180-B62C-44046FC5C1A1}" dt="2026-07-21T09:42:49.222" v="10" actId="207"/>
          <ac:spMkLst>
            <pc:docMk/>
            <pc:sldMk cId="0" sldId="263"/>
            <ac:spMk id="32" creationId="{00000000-0000-0000-0000-000000000000}"/>
          </ac:spMkLst>
        </pc:spChg>
        <pc:spChg chg="mod">
          <ac:chgData name="BALIJI MOHAN B" userId="54cbeda012444387" providerId="LiveId" clId="{02F54985-FA4E-4180-B62C-44046FC5C1A1}" dt="2026-07-21T09:43:09.169" v="12" actId="207"/>
          <ac:spMkLst>
            <pc:docMk/>
            <pc:sldMk cId="0" sldId="263"/>
            <ac:spMk id="37" creationId="{00000000-0000-0000-0000-000000000000}"/>
          </ac:spMkLst>
        </pc:spChg>
        <pc:spChg chg="mod">
          <ac:chgData name="BALIJI MOHAN B" userId="54cbeda012444387" providerId="LiveId" clId="{02F54985-FA4E-4180-B62C-44046FC5C1A1}" dt="2026-07-21T09:43:24.324" v="14" actId="207"/>
          <ac:spMkLst>
            <pc:docMk/>
            <pc:sldMk cId="0" sldId="263"/>
            <ac:spMk id="42" creationId="{00000000-0000-0000-0000-000000000000}"/>
          </ac:spMkLst>
        </pc:spChg>
      </pc:sldChg>
      <pc:sldChg chg="addSp delSp modSp mod">
        <pc:chgData name="BALIJI MOHAN B" userId="54cbeda012444387" providerId="LiveId" clId="{02F54985-FA4E-4180-B62C-44046FC5C1A1}" dt="2026-07-21T10:22:08.443" v="594" actId="20577"/>
        <pc:sldMkLst>
          <pc:docMk/>
          <pc:sldMk cId="0" sldId="264"/>
        </pc:sldMkLst>
        <pc:spChg chg="mod">
          <ac:chgData name="BALIJI MOHAN B" userId="54cbeda012444387" providerId="LiveId" clId="{02F54985-FA4E-4180-B62C-44046FC5C1A1}" dt="2026-07-21T10:22:08.443" v="594" actId="20577"/>
          <ac:spMkLst>
            <pc:docMk/>
            <pc:sldMk cId="0" sldId="264"/>
            <ac:spMk id="3" creationId="{00000000-0000-0000-0000-000000000000}"/>
          </ac:spMkLst>
        </pc:spChg>
        <pc:spChg chg="mod">
          <ac:chgData name="BALIJI MOHAN B" userId="54cbeda012444387" providerId="LiveId" clId="{02F54985-FA4E-4180-B62C-44046FC5C1A1}" dt="2026-07-21T09:57:35.924" v="116" actId="14100"/>
          <ac:spMkLst>
            <pc:docMk/>
            <pc:sldMk cId="0" sldId="264"/>
            <ac:spMk id="4" creationId="{00000000-0000-0000-0000-000000000000}"/>
          </ac:spMkLst>
        </pc:spChg>
        <pc:spChg chg="del mod">
          <ac:chgData name="BALIJI MOHAN B" userId="54cbeda012444387" providerId="LiveId" clId="{02F54985-FA4E-4180-B62C-44046FC5C1A1}" dt="2026-07-21T10:03:25.237" v="147" actId="21"/>
          <ac:spMkLst>
            <pc:docMk/>
            <pc:sldMk cId="0" sldId="264"/>
            <ac:spMk id="5" creationId="{00000000-0000-0000-0000-000000000000}"/>
          </ac:spMkLst>
        </pc:spChg>
        <pc:spChg chg="del">
          <ac:chgData name="BALIJI MOHAN B" userId="54cbeda012444387" providerId="LiveId" clId="{02F54985-FA4E-4180-B62C-44046FC5C1A1}" dt="2026-07-21T10:03:34.605" v="150" actId="21"/>
          <ac:spMkLst>
            <pc:docMk/>
            <pc:sldMk cId="0" sldId="264"/>
            <ac:spMk id="6" creationId="{00000000-0000-0000-0000-000000000000}"/>
          </ac:spMkLst>
        </pc:spChg>
        <pc:spChg chg="del">
          <ac:chgData name="BALIJI MOHAN B" userId="54cbeda012444387" providerId="LiveId" clId="{02F54985-FA4E-4180-B62C-44046FC5C1A1}" dt="2026-07-21T10:03:32.722" v="149" actId="21"/>
          <ac:spMkLst>
            <pc:docMk/>
            <pc:sldMk cId="0" sldId="264"/>
            <ac:spMk id="7" creationId="{00000000-0000-0000-0000-000000000000}"/>
          </ac:spMkLst>
        </pc:spChg>
        <pc:spChg chg="del">
          <ac:chgData name="BALIJI MOHAN B" userId="54cbeda012444387" providerId="LiveId" clId="{02F54985-FA4E-4180-B62C-44046FC5C1A1}" dt="2026-07-21T10:03:30.877" v="148" actId="21"/>
          <ac:spMkLst>
            <pc:docMk/>
            <pc:sldMk cId="0" sldId="264"/>
            <ac:spMk id="8" creationId="{00000000-0000-0000-0000-000000000000}"/>
          </ac:spMkLst>
        </pc:spChg>
        <pc:spChg chg="mod">
          <ac:chgData name="BALIJI MOHAN B" userId="54cbeda012444387" providerId="LiveId" clId="{02F54985-FA4E-4180-B62C-44046FC5C1A1}" dt="2026-07-21T09:59:31.108" v="137" actId="255"/>
          <ac:spMkLst>
            <pc:docMk/>
            <pc:sldMk cId="0" sldId="264"/>
            <ac:spMk id="9" creationId="{00000000-0000-0000-0000-000000000000}"/>
          </ac:spMkLst>
        </pc:spChg>
        <pc:spChg chg="del">
          <ac:chgData name="BALIJI MOHAN B" userId="54cbeda012444387" providerId="LiveId" clId="{02F54985-FA4E-4180-B62C-44046FC5C1A1}" dt="2026-07-21T09:53:14.797" v="25" actId="21"/>
          <ac:spMkLst>
            <pc:docMk/>
            <pc:sldMk cId="0" sldId="264"/>
            <ac:spMk id="10" creationId="{00000000-0000-0000-0000-000000000000}"/>
          </ac:spMkLst>
        </pc:spChg>
        <pc:spChg chg="mod">
          <ac:chgData name="BALIJI MOHAN B" userId="54cbeda012444387" providerId="LiveId" clId="{02F54985-FA4E-4180-B62C-44046FC5C1A1}" dt="2026-07-21T09:53:29.290" v="43" actId="20577"/>
          <ac:spMkLst>
            <pc:docMk/>
            <pc:sldMk cId="0" sldId="264"/>
            <ac:spMk id="13" creationId="{00000000-0000-0000-0000-000000000000}"/>
          </ac:spMkLst>
        </pc:spChg>
        <pc:spChg chg="del">
          <ac:chgData name="BALIJI MOHAN B" userId="54cbeda012444387" providerId="LiveId" clId="{02F54985-FA4E-4180-B62C-44046FC5C1A1}" dt="2026-07-21T09:53:16.890" v="26" actId="21"/>
          <ac:spMkLst>
            <pc:docMk/>
            <pc:sldMk cId="0" sldId="264"/>
            <ac:spMk id="14" creationId="{00000000-0000-0000-0000-000000000000}"/>
          </ac:spMkLst>
        </pc:spChg>
        <pc:spChg chg="mod">
          <ac:chgData name="BALIJI MOHAN B" userId="54cbeda012444387" providerId="LiveId" clId="{02F54985-FA4E-4180-B62C-44046FC5C1A1}" dt="2026-07-21T09:53:34.616" v="56" actId="20577"/>
          <ac:spMkLst>
            <pc:docMk/>
            <pc:sldMk cId="0" sldId="264"/>
            <ac:spMk id="17" creationId="{00000000-0000-0000-0000-000000000000}"/>
          </ac:spMkLst>
        </pc:spChg>
        <pc:spChg chg="del">
          <ac:chgData name="BALIJI MOHAN B" userId="54cbeda012444387" providerId="LiveId" clId="{02F54985-FA4E-4180-B62C-44046FC5C1A1}" dt="2026-07-21T09:53:19.140" v="27" actId="21"/>
          <ac:spMkLst>
            <pc:docMk/>
            <pc:sldMk cId="0" sldId="264"/>
            <ac:spMk id="18" creationId="{00000000-0000-0000-0000-000000000000}"/>
          </ac:spMkLst>
        </pc:spChg>
        <pc:spChg chg="del">
          <ac:chgData name="BALIJI MOHAN B" userId="54cbeda012444387" providerId="LiveId" clId="{02F54985-FA4E-4180-B62C-44046FC5C1A1}" dt="2026-07-21T10:14:19.190" v="327" actId="21"/>
          <ac:spMkLst>
            <pc:docMk/>
            <pc:sldMk cId="0" sldId="264"/>
            <ac:spMk id="20" creationId="{00000000-0000-0000-0000-000000000000}"/>
          </ac:spMkLst>
        </pc:spChg>
        <pc:spChg chg="add del mod">
          <ac:chgData name="BALIJI MOHAN B" userId="54cbeda012444387" providerId="LiveId" clId="{02F54985-FA4E-4180-B62C-44046FC5C1A1}" dt="2026-07-21T10:07:11.471" v="197" actId="21"/>
          <ac:spMkLst>
            <pc:docMk/>
            <pc:sldMk cId="0" sldId="264"/>
            <ac:spMk id="21" creationId="{00000000-0000-0000-0000-000000000000}"/>
          </ac:spMkLst>
        </pc:spChg>
        <pc:spChg chg="del">
          <ac:chgData name="BALIJI MOHAN B" userId="54cbeda012444387" providerId="LiveId" clId="{02F54985-FA4E-4180-B62C-44046FC5C1A1}" dt="2026-07-21T09:53:20.953" v="28" actId="21"/>
          <ac:spMkLst>
            <pc:docMk/>
            <pc:sldMk cId="0" sldId="264"/>
            <ac:spMk id="22" creationId="{00000000-0000-0000-0000-000000000000}"/>
          </ac:spMkLst>
        </pc:spChg>
        <pc:spChg chg="mod">
          <ac:chgData name="BALIJI MOHAN B" userId="54cbeda012444387" providerId="LiveId" clId="{02F54985-FA4E-4180-B62C-44046FC5C1A1}" dt="2026-07-21T09:55:18.954" v="90" actId="20577"/>
          <ac:spMkLst>
            <pc:docMk/>
            <pc:sldMk cId="0" sldId="264"/>
            <ac:spMk id="24" creationId="{00000000-0000-0000-0000-000000000000}"/>
          </ac:spMkLst>
        </pc:spChg>
        <pc:spChg chg="mod">
          <ac:chgData name="BALIJI MOHAN B" userId="54cbeda012444387" providerId="LiveId" clId="{02F54985-FA4E-4180-B62C-44046FC5C1A1}" dt="2026-07-21T09:53:43.931" v="79" actId="20577"/>
          <ac:spMkLst>
            <pc:docMk/>
            <pc:sldMk cId="0" sldId="264"/>
            <ac:spMk id="25" creationId="{00000000-0000-0000-0000-000000000000}"/>
          </ac:spMkLst>
        </pc:spChg>
        <pc:spChg chg="mod">
          <ac:chgData name="BALIJI MOHAN B" userId="54cbeda012444387" providerId="LiveId" clId="{02F54985-FA4E-4180-B62C-44046FC5C1A1}" dt="2026-07-21T09:57:50.286" v="119" actId="14100"/>
          <ac:spMkLst>
            <pc:docMk/>
            <pc:sldMk cId="0" sldId="264"/>
            <ac:spMk id="29" creationId="{00000000-0000-0000-0000-000000000000}"/>
          </ac:spMkLst>
        </pc:spChg>
        <pc:spChg chg="add mod">
          <ac:chgData name="BALIJI MOHAN B" userId="54cbeda012444387" providerId="LiveId" clId="{02F54985-FA4E-4180-B62C-44046FC5C1A1}" dt="2026-07-21T10:21:45.013" v="592" actId="20577"/>
          <ac:spMkLst>
            <pc:docMk/>
            <pc:sldMk cId="0" sldId="264"/>
            <ac:spMk id="35" creationId="{CE497B77-8BF5-F71D-18F5-3983D84B9484}"/>
          </ac:spMkLst>
        </pc:spChg>
        <pc:spChg chg="add mod">
          <ac:chgData name="BALIJI MOHAN B" userId="54cbeda012444387" providerId="LiveId" clId="{02F54985-FA4E-4180-B62C-44046FC5C1A1}" dt="2026-07-21T10:13:57.321" v="324" actId="255"/>
          <ac:spMkLst>
            <pc:docMk/>
            <pc:sldMk cId="0" sldId="264"/>
            <ac:spMk id="37" creationId="{72CEC681-F88D-D4C4-5A6A-3C006D133C64}"/>
          </ac:spMkLst>
        </pc:spChg>
        <pc:spChg chg="add del">
          <ac:chgData name="BALIJI MOHAN B" userId="54cbeda012444387" providerId="LiveId" clId="{02F54985-FA4E-4180-B62C-44046FC5C1A1}" dt="2026-07-21T10:07:09.477" v="195" actId="22"/>
          <ac:spMkLst>
            <pc:docMk/>
            <pc:sldMk cId="0" sldId="264"/>
            <ac:spMk id="41" creationId="{D89D8D5C-1417-3E4C-269D-16D7361CD219}"/>
          </ac:spMkLst>
        </pc:spChg>
        <pc:spChg chg="add del">
          <ac:chgData name="BALIJI MOHAN B" userId="54cbeda012444387" providerId="LiveId" clId="{02F54985-FA4E-4180-B62C-44046FC5C1A1}" dt="2026-07-21T10:07:09.188" v="194" actId="22"/>
          <ac:spMkLst>
            <pc:docMk/>
            <pc:sldMk cId="0" sldId="264"/>
            <ac:spMk id="43" creationId="{902CD52E-04AF-45FE-05C6-A5ABC44CDF29}"/>
          </ac:spMkLst>
        </pc:spChg>
        <pc:spChg chg="add del">
          <ac:chgData name="BALIJI MOHAN B" userId="54cbeda012444387" providerId="LiveId" clId="{02F54985-FA4E-4180-B62C-44046FC5C1A1}" dt="2026-07-21T10:07:08.975" v="193" actId="22"/>
          <ac:spMkLst>
            <pc:docMk/>
            <pc:sldMk cId="0" sldId="264"/>
            <ac:spMk id="45" creationId="{C5AD7C68-D1A6-6C83-585C-D442E864F158}"/>
          </ac:spMkLst>
        </pc:spChg>
        <pc:spChg chg="add del">
          <ac:chgData name="BALIJI MOHAN B" userId="54cbeda012444387" providerId="LiveId" clId="{02F54985-FA4E-4180-B62C-44046FC5C1A1}" dt="2026-07-21T10:07:08.739" v="192" actId="22"/>
          <ac:spMkLst>
            <pc:docMk/>
            <pc:sldMk cId="0" sldId="264"/>
            <ac:spMk id="47" creationId="{32DF3AA8-FBDE-1394-DF44-7DB03B4B0BB1}"/>
          </ac:spMkLst>
        </pc:spChg>
        <pc:graphicFrameChg chg="del">
          <ac:chgData name="BALIJI MOHAN B" userId="54cbeda012444387" providerId="LiveId" clId="{02F54985-FA4E-4180-B62C-44046FC5C1A1}" dt="2026-07-21T09:53:10.075" v="24" actId="21"/>
          <ac:graphicFrameMkLst>
            <pc:docMk/>
            <pc:sldMk cId="0" sldId="264"/>
            <ac:graphicFrameMk id="26" creationId="{00000000-0000-0000-0000-000000000000}"/>
          </ac:graphicFrameMkLst>
        </pc:graphicFrameChg>
        <pc:graphicFrameChg chg="del">
          <ac:chgData name="BALIJI MOHAN B" userId="54cbeda012444387" providerId="LiveId" clId="{02F54985-FA4E-4180-B62C-44046FC5C1A1}" dt="2026-07-21T09:53:07.749" v="23" actId="21"/>
          <ac:graphicFrameMkLst>
            <pc:docMk/>
            <pc:sldMk cId="0" sldId="264"/>
            <ac:graphicFrameMk id="27" creationId="{00000000-0000-0000-0000-000000000000}"/>
          </ac:graphicFrameMkLst>
        </pc:graphicFrameChg>
        <pc:graphicFrameChg chg="del">
          <ac:chgData name="BALIJI MOHAN B" userId="54cbeda012444387" providerId="LiveId" clId="{02F54985-FA4E-4180-B62C-44046FC5C1A1}" dt="2026-07-21T09:53:04.810" v="22" actId="21"/>
          <ac:graphicFrameMkLst>
            <pc:docMk/>
            <pc:sldMk cId="0" sldId="264"/>
            <ac:graphicFrameMk id="28" creationId="{00000000-0000-0000-0000-000000000000}"/>
          </ac:graphicFrameMkLst>
        </pc:graphicFrameChg>
        <pc:picChg chg="del">
          <ac:chgData name="BALIJI MOHAN B" userId="54cbeda012444387" providerId="LiveId" clId="{02F54985-FA4E-4180-B62C-44046FC5C1A1}" dt="2026-07-21T09:55:15.284" v="89" actId="21"/>
          <ac:picMkLst>
            <pc:docMk/>
            <pc:sldMk cId="0" sldId="264"/>
            <ac:picMk id="23" creationId="{00000000-0000-0000-0000-000000000000}"/>
          </ac:picMkLst>
        </pc:picChg>
        <pc:picChg chg="add del mod">
          <ac:chgData name="BALIJI MOHAN B" userId="54cbeda012444387" providerId="LiveId" clId="{02F54985-FA4E-4180-B62C-44046FC5C1A1}" dt="2026-07-21T10:01:03.718" v="138" actId="21"/>
          <ac:picMkLst>
            <pc:docMk/>
            <pc:sldMk cId="0" sldId="264"/>
            <ac:picMk id="33" creationId="{F5399F29-404A-1DC2-7E97-8CE657862FE9}"/>
          </ac:picMkLst>
        </pc:picChg>
        <pc:picChg chg="add mod">
          <ac:chgData name="BALIJI MOHAN B" userId="54cbeda012444387" providerId="LiveId" clId="{02F54985-FA4E-4180-B62C-44046FC5C1A1}" dt="2026-07-21T10:05:12.102" v="156" actId="1076"/>
          <ac:picMkLst>
            <pc:docMk/>
            <pc:sldMk cId="0" sldId="264"/>
            <ac:picMk id="39" creationId="{AF86A643-5F2C-8692-3EED-59E816FA1331}"/>
          </ac:picMkLst>
        </pc:picChg>
      </pc:sldChg>
      <pc:sldChg chg="addSp delSp modSp mod">
        <pc:chgData name="BALIJI MOHAN B" userId="54cbeda012444387" providerId="LiveId" clId="{02F54985-FA4E-4180-B62C-44046FC5C1A1}" dt="2026-07-21T10:43:17.386" v="803" actId="14100"/>
        <pc:sldMkLst>
          <pc:docMk/>
          <pc:sldMk cId="0" sldId="265"/>
        </pc:sldMkLst>
        <pc:spChg chg="mod">
          <ac:chgData name="BALIJI MOHAN B" userId="54cbeda012444387" providerId="LiveId" clId="{02F54985-FA4E-4180-B62C-44046FC5C1A1}" dt="2026-07-21T10:36:38.814" v="751" actId="555"/>
          <ac:spMkLst>
            <pc:docMk/>
            <pc:sldMk cId="0" sldId="265"/>
            <ac:spMk id="4" creationId="{00000000-0000-0000-0000-000000000000}"/>
          </ac:spMkLst>
        </pc:spChg>
        <pc:spChg chg="mod ord">
          <ac:chgData name="BALIJI MOHAN B" userId="54cbeda012444387" providerId="LiveId" clId="{02F54985-FA4E-4180-B62C-44046FC5C1A1}" dt="2026-07-21T10:43:17.386" v="803" actId="14100"/>
          <ac:spMkLst>
            <pc:docMk/>
            <pc:sldMk cId="0" sldId="265"/>
            <ac:spMk id="5" creationId="{00000000-0000-0000-0000-000000000000}"/>
          </ac:spMkLst>
        </pc:spChg>
        <pc:spChg chg="del">
          <ac:chgData name="BALIJI MOHAN B" userId="54cbeda012444387" providerId="LiveId" clId="{02F54985-FA4E-4180-B62C-44046FC5C1A1}" dt="2026-07-21T10:26:12.870" v="626" actId="21"/>
          <ac:spMkLst>
            <pc:docMk/>
            <pc:sldMk cId="0" sldId="265"/>
            <ac:spMk id="6" creationId="{00000000-0000-0000-0000-000000000000}"/>
          </ac:spMkLst>
        </pc:spChg>
        <pc:spChg chg="del">
          <ac:chgData name="BALIJI MOHAN B" userId="54cbeda012444387" providerId="LiveId" clId="{02F54985-FA4E-4180-B62C-44046FC5C1A1}" dt="2026-07-21T10:26:10.455" v="625" actId="21"/>
          <ac:spMkLst>
            <pc:docMk/>
            <pc:sldMk cId="0" sldId="265"/>
            <ac:spMk id="7" creationId="{00000000-0000-0000-0000-000000000000}"/>
          </ac:spMkLst>
        </pc:spChg>
        <pc:spChg chg="del">
          <ac:chgData name="BALIJI MOHAN B" userId="54cbeda012444387" providerId="LiveId" clId="{02F54985-FA4E-4180-B62C-44046FC5C1A1}" dt="2026-07-21T10:26:08.114" v="624" actId="21"/>
          <ac:spMkLst>
            <pc:docMk/>
            <pc:sldMk cId="0" sldId="265"/>
            <ac:spMk id="8" creationId="{00000000-0000-0000-0000-000000000000}"/>
          </ac:spMkLst>
        </pc:spChg>
        <pc:spChg chg="del">
          <ac:chgData name="BALIJI MOHAN B" userId="54cbeda012444387" providerId="LiveId" clId="{02F54985-FA4E-4180-B62C-44046FC5C1A1}" dt="2026-07-21T10:26:03.646" v="623" actId="21"/>
          <ac:spMkLst>
            <pc:docMk/>
            <pc:sldMk cId="0" sldId="265"/>
            <ac:spMk id="9" creationId="{00000000-0000-0000-0000-000000000000}"/>
          </ac:spMkLst>
        </pc:spChg>
        <pc:spChg chg="del">
          <ac:chgData name="BALIJI MOHAN B" userId="54cbeda012444387" providerId="LiveId" clId="{02F54985-FA4E-4180-B62C-44046FC5C1A1}" dt="2026-07-21T10:25:36.621" v="615" actId="21"/>
          <ac:spMkLst>
            <pc:docMk/>
            <pc:sldMk cId="0" sldId="265"/>
            <ac:spMk id="10" creationId="{00000000-0000-0000-0000-000000000000}"/>
          </ac:spMkLst>
        </pc:spChg>
        <pc:spChg chg="del">
          <ac:chgData name="BALIJI MOHAN B" userId="54cbeda012444387" providerId="LiveId" clId="{02F54985-FA4E-4180-B62C-44046FC5C1A1}" dt="2026-07-21T10:26:40.534" v="635" actId="21"/>
          <ac:spMkLst>
            <pc:docMk/>
            <pc:sldMk cId="0" sldId="265"/>
            <ac:spMk id="12" creationId="{00000000-0000-0000-0000-000000000000}"/>
          </ac:spMkLst>
        </pc:spChg>
        <pc:spChg chg="del">
          <ac:chgData name="BALIJI MOHAN B" userId="54cbeda012444387" providerId="LiveId" clId="{02F54985-FA4E-4180-B62C-44046FC5C1A1}" dt="2026-07-21T10:25:47.068" v="618" actId="21"/>
          <ac:spMkLst>
            <pc:docMk/>
            <pc:sldMk cId="0" sldId="265"/>
            <ac:spMk id="13" creationId="{00000000-0000-0000-0000-000000000000}"/>
          </ac:spMkLst>
        </pc:spChg>
        <pc:spChg chg="del">
          <ac:chgData name="BALIJI MOHAN B" userId="54cbeda012444387" providerId="LiveId" clId="{02F54985-FA4E-4180-B62C-44046FC5C1A1}" dt="2026-07-21T10:25:34.119" v="614" actId="21"/>
          <ac:spMkLst>
            <pc:docMk/>
            <pc:sldMk cId="0" sldId="265"/>
            <ac:spMk id="14" creationId="{00000000-0000-0000-0000-000000000000}"/>
          </ac:spMkLst>
        </pc:spChg>
        <pc:spChg chg="del">
          <ac:chgData name="BALIJI MOHAN B" userId="54cbeda012444387" providerId="LiveId" clId="{02F54985-FA4E-4180-B62C-44046FC5C1A1}" dt="2026-07-21T10:26:43.670" v="636" actId="21"/>
          <ac:spMkLst>
            <pc:docMk/>
            <pc:sldMk cId="0" sldId="265"/>
            <ac:spMk id="16" creationId="{00000000-0000-0000-0000-000000000000}"/>
          </ac:spMkLst>
        </pc:spChg>
        <pc:spChg chg="del">
          <ac:chgData name="BALIJI MOHAN B" userId="54cbeda012444387" providerId="LiveId" clId="{02F54985-FA4E-4180-B62C-44046FC5C1A1}" dt="2026-07-21T10:25:49.901" v="619" actId="21"/>
          <ac:spMkLst>
            <pc:docMk/>
            <pc:sldMk cId="0" sldId="265"/>
            <ac:spMk id="17" creationId="{00000000-0000-0000-0000-000000000000}"/>
          </ac:spMkLst>
        </pc:spChg>
        <pc:spChg chg="del">
          <ac:chgData name="BALIJI MOHAN B" userId="54cbeda012444387" providerId="LiveId" clId="{02F54985-FA4E-4180-B62C-44046FC5C1A1}" dt="2026-07-21T10:25:41.076" v="616" actId="21"/>
          <ac:spMkLst>
            <pc:docMk/>
            <pc:sldMk cId="0" sldId="265"/>
            <ac:spMk id="18" creationId="{00000000-0000-0000-0000-000000000000}"/>
          </ac:spMkLst>
        </pc:spChg>
        <pc:spChg chg="del">
          <ac:chgData name="BALIJI MOHAN B" userId="54cbeda012444387" providerId="LiveId" clId="{02F54985-FA4E-4180-B62C-44046FC5C1A1}" dt="2026-07-21T10:26:51.743" v="639" actId="21"/>
          <ac:spMkLst>
            <pc:docMk/>
            <pc:sldMk cId="0" sldId="265"/>
            <ac:spMk id="20" creationId="{00000000-0000-0000-0000-000000000000}"/>
          </ac:spMkLst>
        </pc:spChg>
        <pc:spChg chg="del mod">
          <ac:chgData name="BALIJI MOHAN B" userId="54cbeda012444387" providerId="LiveId" clId="{02F54985-FA4E-4180-B62C-44046FC5C1A1}" dt="2026-07-21T10:25:55.142" v="621" actId="21"/>
          <ac:spMkLst>
            <pc:docMk/>
            <pc:sldMk cId="0" sldId="265"/>
            <ac:spMk id="21" creationId="{00000000-0000-0000-0000-000000000000}"/>
          </ac:spMkLst>
        </pc:spChg>
        <pc:spChg chg="del">
          <ac:chgData name="BALIJI MOHAN B" userId="54cbeda012444387" providerId="LiveId" clId="{02F54985-FA4E-4180-B62C-44046FC5C1A1}" dt="2026-07-21T10:25:43.522" v="617" actId="21"/>
          <ac:spMkLst>
            <pc:docMk/>
            <pc:sldMk cId="0" sldId="265"/>
            <ac:spMk id="22" creationId="{00000000-0000-0000-0000-000000000000}"/>
          </ac:spMkLst>
        </pc:spChg>
        <pc:spChg chg="del">
          <ac:chgData name="BALIJI MOHAN B" userId="54cbeda012444387" providerId="LiveId" clId="{02F54985-FA4E-4180-B62C-44046FC5C1A1}" dt="2026-07-21T10:26:26.710" v="631" actId="21"/>
          <ac:spMkLst>
            <pc:docMk/>
            <pc:sldMk cId="0" sldId="265"/>
            <ac:spMk id="24" creationId="{00000000-0000-0000-0000-000000000000}"/>
          </ac:spMkLst>
        </pc:spChg>
        <pc:spChg chg="del">
          <ac:chgData name="BALIJI MOHAN B" userId="54cbeda012444387" providerId="LiveId" clId="{02F54985-FA4E-4180-B62C-44046FC5C1A1}" dt="2026-07-21T10:25:58.685" v="622" actId="21"/>
          <ac:spMkLst>
            <pc:docMk/>
            <pc:sldMk cId="0" sldId="265"/>
            <ac:spMk id="25" creationId="{00000000-0000-0000-0000-000000000000}"/>
          </ac:spMkLst>
        </pc:spChg>
        <pc:spChg chg="mod">
          <ac:chgData name="BALIJI MOHAN B" userId="54cbeda012444387" providerId="LiveId" clId="{02F54985-FA4E-4180-B62C-44046FC5C1A1}" dt="2026-07-21T10:43:13.370" v="802" actId="14100"/>
          <ac:spMkLst>
            <pc:docMk/>
            <pc:sldMk cId="0" sldId="265"/>
            <ac:spMk id="28" creationId="{00000000-0000-0000-0000-000000000000}"/>
          </ac:spMkLst>
        </pc:spChg>
        <pc:spChg chg="del">
          <ac:chgData name="BALIJI MOHAN B" userId="54cbeda012444387" providerId="LiveId" clId="{02F54985-FA4E-4180-B62C-44046FC5C1A1}" dt="2026-07-21T10:24:43.983" v="600" actId="21"/>
          <ac:spMkLst>
            <pc:docMk/>
            <pc:sldMk cId="0" sldId="265"/>
            <ac:spMk id="29" creationId="{00000000-0000-0000-0000-000000000000}"/>
          </ac:spMkLst>
        </pc:spChg>
        <pc:spChg chg="del">
          <ac:chgData name="BALIJI MOHAN B" userId="54cbeda012444387" providerId="LiveId" clId="{02F54985-FA4E-4180-B62C-44046FC5C1A1}" dt="2026-07-21T10:24:36.637" v="598" actId="21"/>
          <ac:spMkLst>
            <pc:docMk/>
            <pc:sldMk cId="0" sldId="265"/>
            <ac:spMk id="30" creationId="{00000000-0000-0000-0000-000000000000}"/>
          </ac:spMkLst>
        </pc:spChg>
        <pc:spChg chg="del">
          <ac:chgData name="BALIJI MOHAN B" userId="54cbeda012444387" providerId="LiveId" clId="{02F54985-FA4E-4180-B62C-44046FC5C1A1}" dt="2026-07-21T10:24:49.812" v="602" actId="21"/>
          <ac:spMkLst>
            <pc:docMk/>
            <pc:sldMk cId="0" sldId="265"/>
            <ac:spMk id="31" creationId="{00000000-0000-0000-0000-000000000000}"/>
          </ac:spMkLst>
        </pc:spChg>
        <pc:spChg chg="del">
          <ac:chgData name="BALIJI MOHAN B" userId="54cbeda012444387" providerId="LiveId" clId="{02F54985-FA4E-4180-B62C-44046FC5C1A1}" dt="2026-07-21T10:41:20.007" v="796" actId="21"/>
          <ac:spMkLst>
            <pc:docMk/>
            <pc:sldMk cId="0" sldId="265"/>
            <ac:spMk id="32" creationId="{00000000-0000-0000-0000-000000000000}"/>
          </ac:spMkLst>
        </pc:spChg>
        <pc:spChg chg="del">
          <ac:chgData name="BALIJI MOHAN B" userId="54cbeda012444387" providerId="LiveId" clId="{02F54985-FA4E-4180-B62C-44046FC5C1A1}" dt="2026-07-21T10:24:40.980" v="599" actId="21"/>
          <ac:spMkLst>
            <pc:docMk/>
            <pc:sldMk cId="0" sldId="265"/>
            <ac:spMk id="33" creationId="{00000000-0000-0000-0000-000000000000}"/>
          </ac:spMkLst>
        </pc:spChg>
        <pc:spChg chg="del">
          <ac:chgData name="BALIJI MOHAN B" userId="54cbeda012444387" providerId="LiveId" clId="{02F54985-FA4E-4180-B62C-44046FC5C1A1}" dt="2026-07-21T10:24:51.820" v="603" actId="21"/>
          <ac:spMkLst>
            <pc:docMk/>
            <pc:sldMk cId="0" sldId="265"/>
            <ac:spMk id="34" creationId="{00000000-0000-0000-0000-000000000000}"/>
          </ac:spMkLst>
        </pc:spChg>
        <pc:spChg chg="del">
          <ac:chgData name="BALIJI MOHAN B" userId="54cbeda012444387" providerId="LiveId" clId="{02F54985-FA4E-4180-B62C-44046FC5C1A1}" dt="2026-07-21T10:24:59.426" v="605" actId="21"/>
          <ac:spMkLst>
            <pc:docMk/>
            <pc:sldMk cId="0" sldId="265"/>
            <ac:spMk id="35" creationId="{00000000-0000-0000-0000-000000000000}"/>
          </ac:spMkLst>
        </pc:spChg>
        <pc:spChg chg="del">
          <ac:chgData name="BALIJI MOHAN B" userId="54cbeda012444387" providerId="LiveId" clId="{02F54985-FA4E-4180-B62C-44046FC5C1A1}" dt="2026-07-21T10:24:46.826" v="601" actId="21"/>
          <ac:spMkLst>
            <pc:docMk/>
            <pc:sldMk cId="0" sldId="265"/>
            <ac:spMk id="36" creationId="{00000000-0000-0000-0000-000000000000}"/>
          </ac:spMkLst>
        </pc:spChg>
        <pc:spChg chg="del">
          <ac:chgData name="BALIJI MOHAN B" userId="54cbeda012444387" providerId="LiveId" clId="{02F54985-FA4E-4180-B62C-44046FC5C1A1}" dt="2026-07-21T10:24:54.682" v="604" actId="21"/>
          <ac:spMkLst>
            <pc:docMk/>
            <pc:sldMk cId="0" sldId="265"/>
            <ac:spMk id="37" creationId="{00000000-0000-0000-0000-000000000000}"/>
          </ac:spMkLst>
        </pc:spChg>
        <pc:spChg chg="del">
          <ac:chgData name="BALIJI MOHAN B" userId="54cbeda012444387" providerId="LiveId" clId="{02F54985-FA4E-4180-B62C-44046FC5C1A1}" dt="2026-07-21T10:25:05.494" v="606" actId="21"/>
          <ac:spMkLst>
            <pc:docMk/>
            <pc:sldMk cId="0" sldId="265"/>
            <ac:spMk id="38" creationId="{00000000-0000-0000-0000-000000000000}"/>
          </ac:spMkLst>
        </pc:spChg>
        <pc:spChg chg="del">
          <ac:chgData name="BALIJI MOHAN B" userId="54cbeda012444387" providerId="LiveId" clId="{02F54985-FA4E-4180-B62C-44046FC5C1A1}" dt="2026-07-21T10:25:21.345" v="611" actId="21"/>
          <ac:spMkLst>
            <pc:docMk/>
            <pc:sldMk cId="0" sldId="265"/>
            <ac:spMk id="39" creationId="{00000000-0000-0000-0000-000000000000}"/>
          </ac:spMkLst>
        </pc:spChg>
        <pc:spChg chg="del">
          <ac:chgData name="BALIJI MOHAN B" userId="54cbeda012444387" providerId="LiveId" clId="{02F54985-FA4E-4180-B62C-44046FC5C1A1}" dt="2026-07-21T10:25:07.993" v="607" actId="21"/>
          <ac:spMkLst>
            <pc:docMk/>
            <pc:sldMk cId="0" sldId="265"/>
            <ac:spMk id="40" creationId="{00000000-0000-0000-0000-000000000000}"/>
          </ac:spMkLst>
        </pc:spChg>
        <pc:spChg chg="del">
          <ac:chgData name="BALIJI MOHAN B" userId="54cbeda012444387" providerId="LiveId" clId="{02F54985-FA4E-4180-B62C-44046FC5C1A1}" dt="2026-07-21T10:25:11.406" v="608" actId="21"/>
          <ac:spMkLst>
            <pc:docMk/>
            <pc:sldMk cId="0" sldId="265"/>
            <ac:spMk id="41" creationId="{00000000-0000-0000-0000-000000000000}"/>
          </ac:spMkLst>
        </pc:spChg>
        <pc:spChg chg="del">
          <ac:chgData name="BALIJI MOHAN B" userId="54cbeda012444387" providerId="LiveId" clId="{02F54985-FA4E-4180-B62C-44046FC5C1A1}" dt="2026-07-21T10:25:25.854" v="612" actId="21"/>
          <ac:spMkLst>
            <pc:docMk/>
            <pc:sldMk cId="0" sldId="265"/>
            <ac:spMk id="42" creationId="{00000000-0000-0000-0000-000000000000}"/>
          </ac:spMkLst>
        </pc:spChg>
        <pc:spChg chg="del">
          <ac:chgData name="BALIJI MOHAN B" userId="54cbeda012444387" providerId="LiveId" clId="{02F54985-FA4E-4180-B62C-44046FC5C1A1}" dt="2026-07-21T10:25:14.651" v="609" actId="21"/>
          <ac:spMkLst>
            <pc:docMk/>
            <pc:sldMk cId="0" sldId="265"/>
            <ac:spMk id="43" creationId="{00000000-0000-0000-0000-000000000000}"/>
          </ac:spMkLst>
        </pc:spChg>
        <pc:spChg chg="del">
          <ac:chgData name="BALIJI MOHAN B" userId="54cbeda012444387" providerId="LiveId" clId="{02F54985-FA4E-4180-B62C-44046FC5C1A1}" dt="2026-07-21T10:25:18.337" v="610" actId="21"/>
          <ac:spMkLst>
            <pc:docMk/>
            <pc:sldMk cId="0" sldId="265"/>
            <ac:spMk id="44" creationId="{00000000-0000-0000-0000-000000000000}"/>
          </ac:spMkLst>
        </pc:spChg>
        <pc:spChg chg="del">
          <ac:chgData name="BALIJI MOHAN B" userId="54cbeda012444387" providerId="LiveId" clId="{02F54985-FA4E-4180-B62C-44046FC5C1A1}" dt="2026-07-21T10:25:30.903" v="613" actId="21"/>
          <ac:spMkLst>
            <pc:docMk/>
            <pc:sldMk cId="0" sldId="265"/>
            <ac:spMk id="45" creationId="{00000000-0000-0000-0000-000000000000}"/>
          </ac:spMkLst>
        </pc:spChg>
        <pc:spChg chg="del">
          <ac:chgData name="BALIJI MOHAN B" userId="54cbeda012444387" providerId="LiveId" clId="{02F54985-FA4E-4180-B62C-44046FC5C1A1}" dt="2026-07-21T10:24:23.339" v="596" actId="21"/>
          <ac:spMkLst>
            <pc:docMk/>
            <pc:sldMk cId="0" sldId="265"/>
            <ac:spMk id="46" creationId="{00000000-0000-0000-0000-000000000000}"/>
          </ac:spMkLst>
        </pc:spChg>
        <pc:graphicFrameChg chg="del">
          <ac:chgData name="BALIJI MOHAN B" userId="54cbeda012444387" providerId="LiveId" clId="{02F54985-FA4E-4180-B62C-44046FC5C1A1}" dt="2026-07-21T10:24:18.823" v="595" actId="21"/>
          <ac:graphicFrameMkLst>
            <pc:docMk/>
            <pc:sldMk cId="0" sldId="265"/>
            <ac:graphicFrameMk id="26" creationId="{00000000-0000-0000-0000-000000000000}"/>
          </ac:graphicFrameMkLst>
        </pc:graphicFrameChg>
        <pc:graphicFrameChg chg="del">
          <ac:chgData name="BALIJI MOHAN B" userId="54cbeda012444387" providerId="LiveId" clId="{02F54985-FA4E-4180-B62C-44046FC5C1A1}" dt="2026-07-21T10:24:27.034" v="597" actId="21"/>
          <ac:graphicFrameMkLst>
            <pc:docMk/>
            <pc:sldMk cId="0" sldId="265"/>
            <ac:graphicFrameMk id="27" creationId="{00000000-0000-0000-0000-000000000000}"/>
          </ac:graphicFrameMkLst>
        </pc:graphicFrameChg>
        <pc:picChg chg="del">
          <ac:chgData name="BALIJI MOHAN B" userId="54cbeda012444387" providerId="LiveId" clId="{02F54985-FA4E-4180-B62C-44046FC5C1A1}" dt="2026-07-21T10:26:37.815" v="634" actId="21"/>
          <ac:picMkLst>
            <pc:docMk/>
            <pc:sldMk cId="0" sldId="265"/>
            <ac:picMk id="11" creationId="{00000000-0000-0000-0000-000000000000}"/>
          </ac:picMkLst>
        </pc:picChg>
        <pc:picChg chg="del">
          <ac:chgData name="BALIJI MOHAN B" userId="54cbeda012444387" providerId="LiveId" clId="{02F54985-FA4E-4180-B62C-44046FC5C1A1}" dt="2026-07-21T10:26:46.392" v="637" actId="21"/>
          <ac:picMkLst>
            <pc:docMk/>
            <pc:sldMk cId="0" sldId="265"/>
            <ac:picMk id="15" creationId="{00000000-0000-0000-0000-000000000000}"/>
          </ac:picMkLst>
        </pc:picChg>
        <pc:picChg chg="del">
          <ac:chgData name="BALIJI MOHAN B" userId="54cbeda012444387" providerId="LiveId" clId="{02F54985-FA4E-4180-B62C-44046FC5C1A1}" dt="2026-07-21T10:26:49.033" v="638" actId="21"/>
          <ac:picMkLst>
            <pc:docMk/>
            <pc:sldMk cId="0" sldId="265"/>
            <ac:picMk id="19" creationId="{00000000-0000-0000-0000-000000000000}"/>
          </ac:picMkLst>
        </pc:picChg>
        <pc:picChg chg="del">
          <ac:chgData name="BALIJI MOHAN B" userId="54cbeda012444387" providerId="LiveId" clId="{02F54985-FA4E-4180-B62C-44046FC5C1A1}" dt="2026-07-21T10:26:29.348" v="632" actId="21"/>
          <ac:picMkLst>
            <pc:docMk/>
            <pc:sldMk cId="0" sldId="265"/>
            <ac:picMk id="23" creationId="{00000000-0000-0000-0000-000000000000}"/>
          </ac:picMkLst>
        </pc:picChg>
        <pc:picChg chg="add mod">
          <ac:chgData name="BALIJI MOHAN B" userId="54cbeda012444387" providerId="LiveId" clId="{02F54985-FA4E-4180-B62C-44046FC5C1A1}" dt="2026-07-21T10:37:37.030" v="758" actId="14100"/>
          <ac:picMkLst>
            <pc:docMk/>
            <pc:sldMk cId="0" sldId="265"/>
            <ac:picMk id="50" creationId="{22D647D6-73D6-42F0-B80F-D6A0668EC714}"/>
          </ac:picMkLst>
        </pc:picChg>
      </pc:sldChg>
      <pc:sldChg chg="modSp mod">
        <pc:chgData name="BALIJI MOHAN B" userId="54cbeda012444387" providerId="LiveId" clId="{02F54985-FA4E-4180-B62C-44046FC5C1A1}" dt="2026-07-21T10:45:42.822" v="837" actId="113"/>
        <pc:sldMkLst>
          <pc:docMk/>
          <pc:sldMk cId="0" sldId="266"/>
        </pc:sldMkLst>
        <pc:spChg chg="mod">
          <ac:chgData name="BALIJI MOHAN B" userId="54cbeda012444387" providerId="LiveId" clId="{02F54985-FA4E-4180-B62C-44046FC5C1A1}" dt="2026-07-21T10:44:16.869" v="805" actId="207"/>
          <ac:spMkLst>
            <pc:docMk/>
            <pc:sldMk cId="0" sldId="266"/>
            <ac:spMk id="4" creationId="{00000000-0000-0000-0000-000000000000}"/>
          </ac:spMkLst>
        </pc:spChg>
        <pc:spChg chg="mod">
          <ac:chgData name="BALIJI MOHAN B" userId="54cbeda012444387" providerId="LiveId" clId="{02F54985-FA4E-4180-B62C-44046FC5C1A1}" dt="2026-07-21T10:45:12.310" v="828" actId="113"/>
          <ac:spMkLst>
            <pc:docMk/>
            <pc:sldMk cId="0" sldId="266"/>
            <ac:spMk id="9" creationId="{00000000-0000-0000-0000-000000000000}"/>
          </ac:spMkLst>
        </pc:spChg>
        <pc:spChg chg="mod">
          <ac:chgData name="BALIJI MOHAN B" userId="54cbeda012444387" providerId="LiveId" clId="{02F54985-FA4E-4180-B62C-44046FC5C1A1}" dt="2026-07-21T10:45:15.127" v="829" actId="113"/>
          <ac:spMkLst>
            <pc:docMk/>
            <pc:sldMk cId="0" sldId="266"/>
            <ac:spMk id="14" creationId="{00000000-0000-0000-0000-000000000000}"/>
          </ac:spMkLst>
        </pc:spChg>
        <pc:spChg chg="mod">
          <ac:chgData name="BALIJI MOHAN B" userId="54cbeda012444387" providerId="LiveId" clId="{02F54985-FA4E-4180-B62C-44046FC5C1A1}" dt="2026-07-21T10:45:19.799" v="830" actId="113"/>
          <ac:spMkLst>
            <pc:docMk/>
            <pc:sldMk cId="0" sldId="266"/>
            <ac:spMk id="19" creationId="{00000000-0000-0000-0000-000000000000}"/>
          </ac:spMkLst>
        </pc:spChg>
        <pc:spChg chg="mod">
          <ac:chgData name="BALIJI MOHAN B" userId="54cbeda012444387" providerId="LiveId" clId="{02F54985-FA4E-4180-B62C-44046FC5C1A1}" dt="2026-07-21T10:45:23.195" v="831" actId="113"/>
          <ac:spMkLst>
            <pc:docMk/>
            <pc:sldMk cId="0" sldId="266"/>
            <ac:spMk id="24" creationId="{00000000-0000-0000-0000-000000000000}"/>
          </ac:spMkLst>
        </pc:spChg>
        <pc:spChg chg="mod">
          <ac:chgData name="BALIJI MOHAN B" userId="54cbeda012444387" providerId="LiveId" clId="{02F54985-FA4E-4180-B62C-44046FC5C1A1}" dt="2026-07-21T10:45:28.397" v="832" actId="113"/>
          <ac:spMkLst>
            <pc:docMk/>
            <pc:sldMk cId="0" sldId="266"/>
            <ac:spMk id="29" creationId="{00000000-0000-0000-0000-000000000000}"/>
          </ac:spMkLst>
        </pc:spChg>
        <pc:spChg chg="mod">
          <ac:chgData name="BALIJI MOHAN B" userId="54cbeda012444387" providerId="LiveId" clId="{02F54985-FA4E-4180-B62C-44046FC5C1A1}" dt="2026-07-21T10:45:31.515" v="834" actId="1076"/>
          <ac:spMkLst>
            <pc:docMk/>
            <pc:sldMk cId="0" sldId="266"/>
            <ac:spMk id="30" creationId="{00000000-0000-0000-0000-000000000000}"/>
          </ac:spMkLst>
        </pc:spChg>
        <pc:spChg chg="mod">
          <ac:chgData name="BALIJI MOHAN B" userId="54cbeda012444387" providerId="LiveId" clId="{02F54985-FA4E-4180-B62C-44046FC5C1A1}" dt="2026-07-21T10:45:35.820" v="835" actId="113"/>
          <ac:spMkLst>
            <pc:docMk/>
            <pc:sldMk cId="0" sldId="266"/>
            <ac:spMk id="34" creationId="{00000000-0000-0000-0000-000000000000}"/>
          </ac:spMkLst>
        </pc:spChg>
        <pc:spChg chg="mod">
          <ac:chgData name="BALIJI MOHAN B" userId="54cbeda012444387" providerId="LiveId" clId="{02F54985-FA4E-4180-B62C-44046FC5C1A1}" dt="2026-07-21T10:45:38.835" v="836" actId="113"/>
          <ac:spMkLst>
            <pc:docMk/>
            <pc:sldMk cId="0" sldId="266"/>
            <ac:spMk id="39" creationId="{00000000-0000-0000-0000-000000000000}"/>
          </ac:spMkLst>
        </pc:spChg>
        <pc:spChg chg="mod">
          <ac:chgData name="BALIJI MOHAN B" userId="54cbeda012444387" providerId="LiveId" clId="{02F54985-FA4E-4180-B62C-44046FC5C1A1}" dt="2026-07-21T10:45:42.822" v="837" actId="113"/>
          <ac:spMkLst>
            <pc:docMk/>
            <pc:sldMk cId="0" sldId="266"/>
            <ac:spMk id="44" creationId="{00000000-0000-0000-0000-000000000000}"/>
          </ac:spMkLst>
        </pc:spChg>
      </pc:sldChg>
      <pc:sldChg chg="modSp mod">
        <pc:chgData name="BALIJI MOHAN B" userId="54cbeda012444387" providerId="LiveId" clId="{02F54985-FA4E-4180-B62C-44046FC5C1A1}" dt="2026-07-21T10:48:42.719" v="847" actId="207"/>
        <pc:sldMkLst>
          <pc:docMk/>
          <pc:sldMk cId="0" sldId="267"/>
        </pc:sldMkLst>
        <pc:spChg chg="mod">
          <ac:chgData name="BALIJI MOHAN B" userId="54cbeda012444387" providerId="LiveId" clId="{02F54985-FA4E-4180-B62C-44046FC5C1A1}" dt="2026-07-21T10:47:50.873" v="843" actId="207"/>
          <ac:spMkLst>
            <pc:docMk/>
            <pc:sldMk cId="0" sldId="267"/>
            <ac:spMk id="8" creationId="{00000000-0000-0000-0000-000000000000}"/>
          </ac:spMkLst>
        </pc:spChg>
        <pc:spChg chg="mod">
          <ac:chgData name="BALIJI MOHAN B" userId="54cbeda012444387" providerId="LiveId" clId="{02F54985-FA4E-4180-B62C-44046FC5C1A1}" dt="2026-07-21T10:48:20.710" v="845" actId="207"/>
          <ac:spMkLst>
            <pc:docMk/>
            <pc:sldMk cId="0" sldId="267"/>
            <ac:spMk id="13" creationId="{00000000-0000-0000-0000-000000000000}"/>
          </ac:spMkLst>
        </pc:spChg>
        <pc:spChg chg="mod">
          <ac:chgData name="BALIJI MOHAN B" userId="54cbeda012444387" providerId="LiveId" clId="{02F54985-FA4E-4180-B62C-44046FC5C1A1}" dt="2026-07-21T10:48:42.719" v="847" actId="207"/>
          <ac:spMkLst>
            <pc:docMk/>
            <pc:sldMk cId="0" sldId="267"/>
            <ac:spMk id="23" creationId="{00000000-0000-0000-0000-000000000000}"/>
          </ac:spMkLst>
        </pc:spChg>
      </pc:sldChg>
      <pc:sldChg chg="modSp mod">
        <pc:chgData name="BALIJI MOHAN B" userId="54cbeda012444387" providerId="LiveId" clId="{02F54985-FA4E-4180-B62C-44046FC5C1A1}" dt="2026-07-21T10:59:26.136" v="910" actId="207"/>
        <pc:sldMkLst>
          <pc:docMk/>
          <pc:sldMk cId="0" sldId="268"/>
        </pc:sldMkLst>
        <pc:spChg chg="mod">
          <ac:chgData name="BALIJI MOHAN B" userId="54cbeda012444387" providerId="LiveId" clId="{02F54985-FA4E-4180-B62C-44046FC5C1A1}" dt="2026-07-21T10:49:50.263" v="849" actId="20577"/>
          <ac:spMkLst>
            <pc:docMk/>
            <pc:sldMk cId="0" sldId="268"/>
            <ac:spMk id="3" creationId="{00000000-0000-0000-0000-000000000000}"/>
          </ac:spMkLst>
        </pc:spChg>
        <pc:spChg chg="mod">
          <ac:chgData name="BALIJI MOHAN B" userId="54cbeda012444387" providerId="LiveId" clId="{02F54985-FA4E-4180-B62C-44046FC5C1A1}" dt="2026-07-21T10:51:30.450" v="872" actId="20577"/>
          <ac:spMkLst>
            <pc:docMk/>
            <pc:sldMk cId="0" sldId="268"/>
            <ac:spMk id="9" creationId="{00000000-0000-0000-0000-000000000000}"/>
          </ac:spMkLst>
        </pc:spChg>
        <pc:spChg chg="mod">
          <ac:chgData name="BALIJI MOHAN B" userId="54cbeda012444387" providerId="LiveId" clId="{02F54985-FA4E-4180-B62C-44046FC5C1A1}" dt="2026-07-21T10:58:24.731" v="906" actId="20577"/>
          <ac:spMkLst>
            <pc:docMk/>
            <pc:sldMk cId="0" sldId="268"/>
            <ac:spMk id="15" creationId="{00000000-0000-0000-0000-000000000000}"/>
          </ac:spMkLst>
        </pc:spChg>
        <pc:spChg chg="mod">
          <ac:chgData name="BALIJI MOHAN B" userId="54cbeda012444387" providerId="LiveId" clId="{02F54985-FA4E-4180-B62C-44046FC5C1A1}" dt="2026-07-21T10:59:26.136" v="910" actId="207"/>
          <ac:spMkLst>
            <pc:docMk/>
            <pc:sldMk cId="0" sldId="268"/>
            <ac:spMk id="27" creationId="{00000000-0000-0000-0000-000000000000}"/>
          </ac:spMkLst>
        </pc:spChg>
      </pc:sldChg>
      <pc:sldChg chg="modSp mod">
        <pc:chgData name="BALIJI MOHAN B" userId="54cbeda012444387" providerId="LiveId" clId="{02F54985-FA4E-4180-B62C-44046FC5C1A1}" dt="2026-07-21T11:01:39.868" v="912" actId="207"/>
        <pc:sldMkLst>
          <pc:docMk/>
          <pc:sldMk cId="0" sldId="269"/>
        </pc:sldMkLst>
        <pc:spChg chg="mod">
          <ac:chgData name="BALIJI MOHAN B" userId="54cbeda012444387" providerId="LiveId" clId="{02F54985-FA4E-4180-B62C-44046FC5C1A1}" dt="2026-07-21T11:01:39.868" v="912" actId="207"/>
          <ac:spMkLst>
            <pc:docMk/>
            <pc:sldMk cId="0" sldId="269"/>
            <ac:spMk id="9" creationId="{00000000-0000-0000-0000-000000000000}"/>
          </ac:spMkLst>
        </pc:spChg>
      </pc:sldChg>
      <pc:sldChg chg="modSp mod">
        <pc:chgData name="BALIJI MOHAN B" userId="54cbeda012444387" providerId="LiveId" clId="{02F54985-FA4E-4180-B62C-44046FC5C1A1}" dt="2026-07-21T11:04:26.617" v="923" actId="20577"/>
        <pc:sldMkLst>
          <pc:docMk/>
          <pc:sldMk cId="0" sldId="270"/>
        </pc:sldMkLst>
        <pc:spChg chg="mod">
          <ac:chgData name="BALIJI MOHAN B" userId="54cbeda012444387" providerId="LiveId" clId="{02F54985-FA4E-4180-B62C-44046FC5C1A1}" dt="2026-07-21T11:04:26.617" v="923" actId="20577"/>
          <ac:spMkLst>
            <pc:docMk/>
            <pc:sldMk cId="0" sldId="270"/>
            <ac:spMk id="7" creationId="{00000000-0000-0000-0000-000000000000}"/>
          </ac:spMkLst>
        </pc:spChg>
        <pc:spChg chg="mod">
          <ac:chgData name="BALIJI MOHAN B" userId="54cbeda012444387" providerId="LiveId" clId="{02F54985-FA4E-4180-B62C-44046FC5C1A1}" dt="2026-07-21T11:03:25.929" v="913"/>
          <ac:spMkLst>
            <pc:docMk/>
            <pc:sldMk cId="0" sldId="270"/>
            <ac:spMk id="11" creationId="{00000000-0000-0000-0000-000000000000}"/>
          </ac:spMkLst>
        </pc:spChg>
        <pc:spChg chg="mod">
          <ac:chgData name="BALIJI MOHAN B" userId="54cbeda012444387" providerId="LiveId" clId="{02F54985-FA4E-4180-B62C-44046FC5C1A1}" dt="2026-07-21T11:03:38.178" v="914"/>
          <ac:spMkLst>
            <pc:docMk/>
            <pc:sldMk cId="0" sldId="270"/>
            <ac:spMk id="14" creationId="{00000000-0000-0000-0000-000000000000}"/>
          </ac:spMkLst>
        </pc:spChg>
        <pc:spChg chg="mod">
          <ac:chgData name="BALIJI MOHAN B" userId="54cbeda012444387" providerId="LiveId" clId="{02F54985-FA4E-4180-B62C-44046FC5C1A1}" dt="2026-07-21T11:03:46.609" v="915"/>
          <ac:spMkLst>
            <pc:docMk/>
            <pc:sldMk cId="0" sldId="270"/>
            <ac:spMk id="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705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11.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15.png"/><Relationship Id="rId3" Type="http://schemas.openxmlformats.org/officeDocument/2006/relationships/image" Target="../media/image16.png"/><Relationship Id="rId7" Type="http://schemas.openxmlformats.org/officeDocument/2006/relationships/image" Target="../media/image19.png"/><Relationship Id="rId12" Type="http://schemas.openxmlformats.org/officeDocument/2006/relationships/image" Target="../media/image23.png"/><Relationship Id="rId2" Type="http://schemas.openxmlformats.org/officeDocument/2006/relationships/notesSlide" Target="../notesSlides/notesSlide6.xml"/><Relationship Id="rId16"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2.png"/><Relationship Id="rId5" Type="http://schemas.openxmlformats.org/officeDocument/2006/relationships/image" Target="../media/image2.png"/><Relationship Id="rId15" Type="http://schemas.openxmlformats.org/officeDocument/2006/relationships/image" Target="../media/image25.png"/><Relationship Id="rId10"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3.png"/><Relationship Id="rId14"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3.png"/><Relationship Id="rId10" Type="http://schemas.openxmlformats.org/officeDocument/2006/relationships/image" Target="../media/image30.png"/><Relationship Id="rId4" Type="http://schemas.openxmlformats.org/officeDocument/2006/relationships/image" Target="../media/image18.png"/><Relationship Id="rId9"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5.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41.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3.png"/><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FFFFFF">
              <a:alpha val="6000"/>
            </a:srgbClr>
          </a:solidFill>
          <a:ln/>
        </p:spPr>
        <p:txBody>
          <a:bodyPr/>
          <a:lstStyle/>
          <a:p>
            <a:endParaRPr lang="en-IN"/>
          </a:p>
        </p:txBody>
      </p:sp>
      <p:sp>
        <p:nvSpPr>
          <p:cNvPr id="3" name="Shape 1"/>
          <p:cNvSpPr/>
          <p:nvPr/>
        </p:nvSpPr>
        <p:spPr>
          <a:xfrm>
            <a:off x="-1280160" y="4572000"/>
            <a:ext cx="3291840" cy="3291840"/>
          </a:xfrm>
          <a:prstGeom prst="ellipse">
            <a:avLst/>
          </a:prstGeom>
          <a:solidFill>
            <a:srgbClr val="FFFFFF">
              <a:alpha val="6000"/>
            </a:srgbClr>
          </a:solidFill>
          <a:ln/>
        </p:spPr>
        <p:txBody>
          <a:bodyPr/>
          <a:lstStyle/>
          <a:p>
            <a:endParaRPr lang="en-IN"/>
          </a:p>
        </p:txBody>
      </p:sp>
      <p:sp>
        <p:nvSpPr>
          <p:cNvPr id="4" name="Text 2"/>
          <p:cNvSpPr/>
          <p:nvPr/>
        </p:nvSpPr>
        <p:spPr>
          <a:xfrm>
            <a:off x="822960" y="1417320"/>
            <a:ext cx="10515600" cy="365760"/>
          </a:xfrm>
          <a:prstGeom prst="rect">
            <a:avLst/>
          </a:prstGeom>
          <a:noFill/>
          <a:ln/>
        </p:spPr>
        <p:txBody>
          <a:bodyPr wrap="square" rtlCol="0" anchor="ctr"/>
          <a:lstStyle/>
          <a:p>
            <a:pPr marL="0" indent="0">
              <a:buNone/>
            </a:pPr>
            <a:r>
              <a:rPr lang="en-US" sz="1300" b="1" kern="0" spc="300" dirty="0">
                <a:solidFill>
                  <a:srgbClr val="C9A227"/>
                </a:solidFill>
                <a:latin typeface="Calibri" pitchFamily="34" charset="0"/>
                <a:ea typeface="Calibri" pitchFamily="34" charset="-122"/>
                <a:cs typeface="Calibri" pitchFamily="34" charset="-120"/>
              </a:rPr>
              <a:t>BUSINESS INTELLIGENCE  &amp;  DATA ANALYTICS REPORT</a:t>
            </a:r>
            <a:endParaRPr lang="en-US" sz="1300" dirty="0"/>
          </a:p>
        </p:txBody>
      </p:sp>
      <p:sp>
        <p:nvSpPr>
          <p:cNvPr id="5" name="Text 3"/>
          <p:cNvSpPr/>
          <p:nvPr/>
        </p:nvSpPr>
        <p:spPr>
          <a:xfrm>
            <a:off x="777240" y="1874520"/>
            <a:ext cx="10607040" cy="914400"/>
          </a:xfrm>
          <a:prstGeom prst="rect">
            <a:avLst/>
          </a:prstGeom>
          <a:noFill/>
          <a:ln/>
        </p:spPr>
        <p:txBody>
          <a:bodyPr wrap="square"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Customer Data Analysis Project</a:t>
            </a:r>
            <a:endParaRPr lang="en-US" sz="4600" dirty="0"/>
          </a:p>
        </p:txBody>
      </p:sp>
      <p:sp>
        <p:nvSpPr>
          <p:cNvPr id="6" name="Text 4"/>
          <p:cNvSpPr/>
          <p:nvPr/>
        </p:nvSpPr>
        <p:spPr>
          <a:xfrm>
            <a:off x="777240" y="2606040"/>
            <a:ext cx="10607040" cy="77724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Using SQL &amp; Power BI</a:t>
            </a:r>
            <a:endParaRPr lang="en-US" sz="3400" b="1" dirty="0"/>
          </a:p>
        </p:txBody>
      </p:sp>
      <p:sp>
        <p:nvSpPr>
          <p:cNvPr id="7" name="Shape 5"/>
          <p:cNvSpPr/>
          <p:nvPr/>
        </p:nvSpPr>
        <p:spPr>
          <a:xfrm>
            <a:off x="822960" y="3520440"/>
            <a:ext cx="2103120" cy="0"/>
          </a:xfrm>
          <a:prstGeom prst="line">
            <a:avLst/>
          </a:prstGeom>
          <a:noFill/>
          <a:ln w="31750">
            <a:solidFill>
              <a:srgbClr val="C9A227"/>
            </a:solidFill>
            <a:prstDash val="solid"/>
          </a:ln>
        </p:spPr>
        <p:txBody>
          <a:bodyPr/>
          <a:lstStyle/>
          <a:p>
            <a:endParaRPr lang="en-IN"/>
          </a:p>
        </p:txBody>
      </p:sp>
      <p:sp>
        <p:nvSpPr>
          <p:cNvPr id="8" name="Text 6"/>
          <p:cNvSpPr/>
          <p:nvPr/>
        </p:nvSpPr>
        <p:spPr>
          <a:xfrm>
            <a:off x="822960" y="3703320"/>
            <a:ext cx="7863840" cy="640080"/>
          </a:xfrm>
          <a:prstGeom prst="rect">
            <a:avLst/>
          </a:prstGeom>
          <a:noFill/>
          <a:ln/>
        </p:spPr>
        <p:txBody>
          <a:bodyPr wrap="square" rtlCol="0" anchor="ctr"/>
          <a:lstStyle/>
          <a:p>
            <a:pPr>
              <a:lnSpc>
                <a:spcPct val="125000"/>
              </a:lnSpc>
            </a:pPr>
            <a:r>
              <a:rPr lang="en-IN" sz="1300" dirty="0">
                <a:solidFill>
                  <a:schemeClr val="bg1"/>
                </a:solidFill>
              </a:rPr>
              <a:t>Analyzed 1,000 customer retail transactions using SQL and Power BI to build interactive dashboards, uncover actionable business insights, and deliver strategic recommendations.</a:t>
            </a:r>
            <a:endParaRPr lang="en-US" sz="1300" dirty="0"/>
          </a:p>
        </p:txBody>
      </p:sp>
      <p:sp>
        <p:nvSpPr>
          <p:cNvPr id="9" name="Shape 7"/>
          <p:cNvSpPr/>
          <p:nvPr/>
        </p:nvSpPr>
        <p:spPr>
          <a:xfrm>
            <a:off x="822960" y="4526280"/>
            <a:ext cx="457200" cy="457200"/>
          </a:xfrm>
          <a:prstGeom prst="ellipse">
            <a:avLst/>
          </a:prstGeom>
          <a:solidFill>
            <a:srgbClr val="FFFFFF">
              <a:alpha val="15000"/>
            </a:srgbClr>
          </a:solidFill>
          <a:ln w="12700">
            <a:solidFill>
              <a:srgbClr val="C9A227"/>
            </a:solidFill>
            <a:prstDash val="solid"/>
          </a:ln>
        </p:spPr>
        <p:txBody>
          <a:bodyPr/>
          <a:lstStyle/>
          <a:p>
            <a:endParaRPr lang="en-IN"/>
          </a:p>
        </p:txBody>
      </p:sp>
      <p:pic>
        <p:nvPicPr>
          <p:cNvPr id="10" name="Image 0" descr="preencoded.png"/>
          <p:cNvPicPr>
            <a:picLocks noChangeAspect="1"/>
          </p:cNvPicPr>
          <p:nvPr/>
        </p:nvPicPr>
        <p:blipFill>
          <a:blip r:embed="rId4"/>
          <a:stretch>
            <a:fillRect/>
          </a:stretch>
        </p:blipFill>
        <p:spPr>
          <a:xfrm>
            <a:off x="923544" y="4626864"/>
            <a:ext cx="256032" cy="256032"/>
          </a:xfrm>
          <a:prstGeom prst="rect">
            <a:avLst/>
          </a:prstGeom>
        </p:spPr>
      </p:pic>
      <p:sp>
        <p:nvSpPr>
          <p:cNvPr id="11" name="Text 8"/>
          <p:cNvSpPr/>
          <p:nvPr/>
        </p:nvSpPr>
        <p:spPr>
          <a:xfrm>
            <a:off x="685800" y="5029200"/>
            <a:ext cx="731520" cy="274320"/>
          </a:xfrm>
          <a:prstGeom prst="rect">
            <a:avLst/>
          </a:prstGeom>
          <a:noFill/>
          <a:ln/>
        </p:spPr>
        <p:txBody>
          <a:bodyPr wrap="square" rtlCol="0" anchor="ctr"/>
          <a:lstStyle/>
          <a:p>
            <a:pPr marL="0" indent="0" algn="ctr">
              <a:buNone/>
            </a:pPr>
            <a:r>
              <a:rPr lang="en-IN" sz="1000" b="1" dirty="0">
                <a:solidFill>
                  <a:srgbClr val="D7DCF0"/>
                </a:solidFill>
                <a:latin typeface="Calibri" pitchFamily="34" charset="0"/>
                <a:ea typeface="Calibri" pitchFamily="34" charset="-122"/>
                <a:cs typeface="Calibri" pitchFamily="34" charset="-120"/>
              </a:rPr>
              <a:t>Database</a:t>
            </a:r>
            <a:r>
              <a:rPr lang="en-IN" sz="1000" dirty="0">
                <a:solidFill>
                  <a:srgbClr val="D7DCF0"/>
                </a:solidFill>
                <a:latin typeface="Calibri" pitchFamily="34" charset="0"/>
                <a:ea typeface="Calibri" pitchFamily="34" charset="-122"/>
                <a:cs typeface="Calibri" pitchFamily="34" charset="-120"/>
              </a:rPr>
              <a:t> </a:t>
            </a:r>
            <a:endParaRPr lang="en-US" sz="1000" dirty="0"/>
          </a:p>
        </p:txBody>
      </p:sp>
      <p:sp>
        <p:nvSpPr>
          <p:cNvPr id="12" name="Shape 9"/>
          <p:cNvSpPr/>
          <p:nvPr/>
        </p:nvSpPr>
        <p:spPr>
          <a:xfrm>
            <a:off x="1737360" y="4526280"/>
            <a:ext cx="457200" cy="457200"/>
          </a:xfrm>
          <a:prstGeom prst="ellipse">
            <a:avLst/>
          </a:prstGeom>
          <a:solidFill>
            <a:srgbClr val="FFFFFF">
              <a:alpha val="15000"/>
            </a:srgbClr>
          </a:solidFill>
          <a:ln w="12700">
            <a:solidFill>
              <a:srgbClr val="C9A227"/>
            </a:solidFill>
            <a:prstDash val="solid"/>
          </a:ln>
        </p:spPr>
        <p:txBody>
          <a:bodyPr/>
          <a:lstStyle/>
          <a:p>
            <a:endParaRPr lang="en-IN"/>
          </a:p>
        </p:txBody>
      </p:sp>
      <p:pic>
        <p:nvPicPr>
          <p:cNvPr id="13" name="Image 1" descr="preencoded.png"/>
          <p:cNvPicPr>
            <a:picLocks noChangeAspect="1"/>
          </p:cNvPicPr>
          <p:nvPr/>
        </p:nvPicPr>
        <p:blipFill>
          <a:blip r:embed="rId5"/>
          <a:stretch>
            <a:fillRect/>
          </a:stretch>
        </p:blipFill>
        <p:spPr>
          <a:xfrm>
            <a:off x="1837944" y="4626864"/>
            <a:ext cx="256032" cy="256032"/>
          </a:xfrm>
          <a:prstGeom prst="rect">
            <a:avLst/>
          </a:prstGeom>
        </p:spPr>
      </p:pic>
      <p:sp>
        <p:nvSpPr>
          <p:cNvPr id="14" name="Text 10"/>
          <p:cNvSpPr/>
          <p:nvPr/>
        </p:nvSpPr>
        <p:spPr>
          <a:xfrm>
            <a:off x="1600200" y="5029200"/>
            <a:ext cx="731520" cy="274320"/>
          </a:xfrm>
          <a:prstGeom prst="rect">
            <a:avLst/>
          </a:prstGeom>
          <a:noFill/>
          <a:ln/>
        </p:spPr>
        <p:txBody>
          <a:bodyPr wrap="square" rtlCol="0" anchor="ctr"/>
          <a:lstStyle/>
          <a:p>
            <a:pPr marL="0" indent="0" algn="ctr">
              <a:buNone/>
            </a:pPr>
            <a:r>
              <a:rPr lang="en-US" sz="1000" b="1" dirty="0">
                <a:solidFill>
                  <a:srgbClr val="D7DCF0"/>
                </a:solidFill>
                <a:latin typeface="Calibri" pitchFamily="34" charset="0"/>
                <a:ea typeface="Calibri" pitchFamily="34" charset="-122"/>
                <a:cs typeface="Calibri" pitchFamily="34" charset="-120"/>
              </a:rPr>
              <a:t>SQL</a:t>
            </a:r>
            <a:endParaRPr lang="en-US" sz="1000" b="1" dirty="0"/>
          </a:p>
        </p:txBody>
      </p:sp>
      <p:sp>
        <p:nvSpPr>
          <p:cNvPr id="15" name="Shape 11"/>
          <p:cNvSpPr/>
          <p:nvPr/>
        </p:nvSpPr>
        <p:spPr>
          <a:xfrm>
            <a:off x="2651760" y="4526280"/>
            <a:ext cx="457200" cy="457200"/>
          </a:xfrm>
          <a:prstGeom prst="ellipse">
            <a:avLst/>
          </a:prstGeom>
          <a:solidFill>
            <a:srgbClr val="FFFFFF">
              <a:alpha val="15000"/>
            </a:srgbClr>
          </a:solidFill>
          <a:ln w="12700">
            <a:solidFill>
              <a:srgbClr val="C9A227"/>
            </a:solidFill>
            <a:prstDash val="solid"/>
          </a:ln>
        </p:spPr>
        <p:txBody>
          <a:bodyPr/>
          <a:lstStyle/>
          <a:p>
            <a:endParaRPr lang="en-IN"/>
          </a:p>
        </p:txBody>
      </p:sp>
      <p:pic>
        <p:nvPicPr>
          <p:cNvPr id="16" name="Image 2" descr="preencoded.png"/>
          <p:cNvPicPr>
            <a:picLocks noChangeAspect="1"/>
          </p:cNvPicPr>
          <p:nvPr/>
        </p:nvPicPr>
        <p:blipFill>
          <a:blip r:embed="rId6"/>
          <a:stretch>
            <a:fillRect/>
          </a:stretch>
        </p:blipFill>
        <p:spPr>
          <a:xfrm>
            <a:off x="2752344" y="4626864"/>
            <a:ext cx="256032" cy="256032"/>
          </a:xfrm>
          <a:prstGeom prst="rect">
            <a:avLst/>
          </a:prstGeom>
        </p:spPr>
      </p:pic>
      <p:sp>
        <p:nvSpPr>
          <p:cNvPr id="17" name="Text 12"/>
          <p:cNvSpPr/>
          <p:nvPr/>
        </p:nvSpPr>
        <p:spPr>
          <a:xfrm>
            <a:off x="2514600" y="5029200"/>
            <a:ext cx="731520" cy="274320"/>
          </a:xfrm>
          <a:prstGeom prst="rect">
            <a:avLst/>
          </a:prstGeom>
          <a:noFill/>
          <a:ln/>
        </p:spPr>
        <p:txBody>
          <a:bodyPr wrap="square" rtlCol="0" anchor="ctr"/>
          <a:lstStyle/>
          <a:p>
            <a:pPr marL="0" indent="0" algn="ctr">
              <a:buNone/>
            </a:pPr>
            <a:r>
              <a:rPr lang="en-US" sz="1000" b="1" dirty="0">
                <a:solidFill>
                  <a:srgbClr val="D7DCF0"/>
                </a:solidFill>
                <a:latin typeface="Calibri" pitchFamily="34" charset="0"/>
                <a:ea typeface="Calibri" pitchFamily="34" charset="-122"/>
                <a:cs typeface="Calibri" pitchFamily="34" charset="-120"/>
              </a:rPr>
              <a:t>Power BI</a:t>
            </a:r>
            <a:endParaRPr lang="en-US" sz="1000" b="1" dirty="0"/>
          </a:p>
        </p:txBody>
      </p:sp>
      <p:sp>
        <p:nvSpPr>
          <p:cNvPr id="18" name="Shape 13"/>
          <p:cNvSpPr/>
          <p:nvPr/>
        </p:nvSpPr>
        <p:spPr>
          <a:xfrm>
            <a:off x="7818120" y="5074920"/>
            <a:ext cx="3566160" cy="1371600"/>
          </a:xfrm>
          <a:prstGeom prst="roundRect">
            <a:avLst>
              <a:gd name="adj" fmla="val 6000"/>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9" name="Text 14"/>
          <p:cNvSpPr/>
          <p:nvPr/>
        </p:nvSpPr>
        <p:spPr>
          <a:xfrm>
            <a:off x="8092440" y="5193792"/>
            <a:ext cx="3108960" cy="228600"/>
          </a:xfrm>
          <a:prstGeom prst="rect">
            <a:avLst/>
          </a:prstGeom>
          <a:noFill/>
          <a:ln/>
        </p:spPr>
        <p:txBody>
          <a:bodyPr wrap="square" rtlCol="0" anchor="ctr"/>
          <a:lstStyle/>
          <a:p>
            <a:pPr marL="0" indent="0">
              <a:buNone/>
            </a:pPr>
            <a:r>
              <a:rPr lang="en-US" sz="1050" b="1" kern="0" spc="150" dirty="0">
                <a:solidFill>
                  <a:srgbClr val="C9A227"/>
                </a:solidFill>
                <a:latin typeface="Segoe UI Semibold" panose="020B0702040204020203" pitchFamily="34" charset="0"/>
                <a:ea typeface="Calibri" pitchFamily="34" charset="-122"/>
                <a:cs typeface="Segoe UI Semibold" panose="020B0702040204020203" pitchFamily="34" charset="0"/>
              </a:rPr>
              <a:t>PREPARED BY</a:t>
            </a:r>
            <a:endParaRPr lang="en-US" sz="1050" dirty="0">
              <a:latin typeface="Segoe UI Semibold" panose="020B0702040204020203" pitchFamily="34" charset="0"/>
              <a:cs typeface="Segoe UI Semibold" panose="020B0702040204020203" pitchFamily="34" charset="0"/>
            </a:endParaRPr>
          </a:p>
        </p:txBody>
      </p:sp>
      <p:sp>
        <p:nvSpPr>
          <p:cNvPr id="20" name="Text 15"/>
          <p:cNvSpPr/>
          <p:nvPr/>
        </p:nvSpPr>
        <p:spPr>
          <a:xfrm>
            <a:off x="8092440" y="5422392"/>
            <a:ext cx="3108960" cy="320040"/>
          </a:xfrm>
          <a:prstGeom prst="rect">
            <a:avLst/>
          </a:prstGeom>
          <a:noFill/>
          <a:ln/>
        </p:spPr>
        <p:txBody>
          <a:bodyPr wrap="square" rtlCol="0" anchor="ctr"/>
          <a:lstStyle/>
          <a:p>
            <a:pPr marL="0" indent="0">
              <a:buNone/>
            </a:pPr>
            <a:r>
              <a:rPr lang="en-US" sz="1600" b="1" dirty="0">
                <a:solidFill>
                  <a:srgbClr val="1F4E79"/>
                </a:solidFill>
                <a:latin typeface="Segoe UI Semibold" panose="020B0702040204020203" pitchFamily="34" charset="0"/>
                <a:ea typeface="Calibri" pitchFamily="34" charset="-122"/>
                <a:cs typeface="Segoe UI Semibold" panose="020B0702040204020203" pitchFamily="34" charset="0"/>
              </a:rPr>
              <a:t>Baliji Mohan</a:t>
            </a:r>
            <a:endParaRPr lang="en-US" sz="1600" dirty="0">
              <a:latin typeface="Segoe UI Semibold" panose="020B0702040204020203" pitchFamily="34" charset="0"/>
              <a:cs typeface="Segoe UI Semibold" panose="020B0702040204020203" pitchFamily="34" charset="0"/>
            </a:endParaRPr>
          </a:p>
        </p:txBody>
      </p:sp>
      <p:sp>
        <p:nvSpPr>
          <p:cNvPr id="21" name="Text 16"/>
          <p:cNvSpPr/>
          <p:nvPr/>
        </p:nvSpPr>
        <p:spPr>
          <a:xfrm>
            <a:off x="8092440" y="5742432"/>
            <a:ext cx="3108960" cy="274320"/>
          </a:xfrm>
          <a:prstGeom prst="rect">
            <a:avLst/>
          </a:prstGeom>
          <a:noFill/>
          <a:ln/>
        </p:spPr>
        <p:txBody>
          <a:bodyPr wrap="square" rtlCol="0" anchor="ctr"/>
          <a:lstStyle/>
          <a:p>
            <a:pPr marL="0" indent="0">
              <a:buNone/>
            </a:pPr>
            <a:r>
              <a:rPr lang="en-US" sz="1050" b="1" dirty="0">
                <a:solidFill>
                  <a:srgbClr val="48505C"/>
                </a:solidFill>
                <a:latin typeface="Calibri" pitchFamily="34" charset="0"/>
                <a:ea typeface="Calibri" pitchFamily="34" charset="-122"/>
                <a:cs typeface="Calibri" pitchFamily="34" charset="-120"/>
              </a:rPr>
              <a:t>Data Analyst  </a:t>
            </a:r>
            <a:endParaRPr lang="en-US" sz="1050" b="1" dirty="0"/>
          </a:p>
        </p:txBody>
      </p:sp>
      <p:sp>
        <p:nvSpPr>
          <p:cNvPr id="22" name="Shape 17"/>
          <p:cNvSpPr/>
          <p:nvPr/>
        </p:nvSpPr>
        <p:spPr>
          <a:xfrm>
            <a:off x="8092440" y="6053328"/>
            <a:ext cx="3017520" cy="0"/>
          </a:xfrm>
          <a:prstGeom prst="line">
            <a:avLst/>
          </a:prstGeom>
          <a:noFill/>
          <a:ln w="12700">
            <a:solidFill>
              <a:srgbClr val="DDE1E8"/>
            </a:solidFill>
            <a:prstDash val="solid"/>
          </a:ln>
        </p:spPr>
        <p:txBody>
          <a:bodyPr/>
          <a:lstStyle/>
          <a:p>
            <a:endParaRPr lang="en-IN"/>
          </a:p>
        </p:txBody>
      </p:sp>
      <p:sp>
        <p:nvSpPr>
          <p:cNvPr id="23" name="Text 18"/>
          <p:cNvSpPr/>
          <p:nvPr/>
        </p:nvSpPr>
        <p:spPr>
          <a:xfrm>
            <a:off x="8092440" y="6108192"/>
            <a:ext cx="3108960" cy="274320"/>
          </a:xfrm>
          <a:prstGeom prst="rect">
            <a:avLst/>
          </a:prstGeom>
          <a:noFill/>
          <a:ln/>
        </p:spPr>
        <p:txBody>
          <a:bodyPr wrap="square" rtlCol="0" anchor="ctr"/>
          <a:lstStyle/>
          <a:p>
            <a:pPr marL="0" indent="0">
              <a:buNone/>
            </a:pPr>
            <a:r>
              <a:rPr lang="en-US" sz="900" b="1" dirty="0">
                <a:solidFill>
                  <a:schemeClr val="tx1">
                    <a:lumMod val="65000"/>
                    <a:lumOff val="35000"/>
                  </a:schemeClr>
                </a:solidFill>
                <a:latin typeface="Calibri" pitchFamily="34" charset="0"/>
                <a:ea typeface="Calibri" pitchFamily="34" charset="-122"/>
                <a:cs typeface="Calibri" pitchFamily="34" charset="-120"/>
              </a:rPr>
              <a:t>July 2026</a:t>
            </a:r>
            <a:endParaRPr lang="en-US" sz="900" b="1" dirty="0">
              <a:solidFill>
                <a:schemeClr val="tx1">
                  <a:lumMod val="65000"/>
                  <a:lumOff val="3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56032"/>
          </a:xfrm>
          <a:prstGeom prst="rect">
            <a:avLst/>
          </a:prstGeom>
          <a:noFill/>
          <a:ln/>
        </p:spPr>
        <p:txBody>
          <a:bodyPr wrap="square"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SECTION 01</a:t>
            </a:r>
            <a:endParaRPr lang="en-US" sz="1100" dirty="0"/>
          </a:p>
        </p:txBody>
      </p:sp>
      <p:sp>
        <p:nvSpPr>
          <p:cNvPr id="3" name="Text 1"/>
          <p:cNvSpPr/>
          <p:nvPr/>
        </p:nvSpPr>
        <p:spPr>
          <a:xfrm>
            <a:off x="502920" y="621792"/>
            <a:ext cx="10972800" cy="566928"/>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Executive Summary</a:t>
            </a:r>
            <a:endParaRPr lang="en-US" sz="2800" dirty="0"/>
          </a:p>
        </p:txBody>
      </p:sp>
      <p:sp>
        <p:nvSpPr>
          <p:cNvPr id="4" name="Text 2"/>
          <p:cNvSpPr/>
          <p:nvPr/>
        </p:nvSpPr>
        <p:spPr>
          <a:xfrm>
            <a:off x="502920" y="1371600"/>
            <a:ext cx="6858000" cy="1188720"/>
          </a:xfrm>
          <a:prstGeom prst="rect">
            <a:avLst/>
          </a:prstGeom>
          <a:noFill/>
          <a:ln/>
        </p:spPr>
        <p:txBody>
          <a:bodyPr wrap="square" rtlCol="0" anchor="ctr"/>
          <a:lstStyle/>
          <a:p>
            <a:pPr>
              <a:lnSpc>
                <a:spcPct val="130000"/>
              </a:lnSpc>
            </a:pPr>
            <a:r>
              <a:rPr lang="en-IN" sz="1400" dirty="0">
                <a:solidFill>
                  <a:schemeClr val="tx1">
                    <a:lumMod val="65000"/>
                    <a:lumOff val="35000"/>
                  </a:schemeClr>
                </a:solidFill>
              </a:rPr>
              <a:t>This project analyzes 1,000 customer retail transactions across ten shopping malls using SQL and Power BI. The analysis identifies customer demographics, purchasing behavior, payment preferences, product performance, and shopping mall trends, transforming raw data into actionable business insights.</a:t>
            </a:r>
            <a:endParaRPr lang="en-US" sz="1300" dirty="0">
              <a:solidFill>
                <a:schemeClr val="tx1">
                  <a:lumMod val="65000"/>
                  <a:lumOff val="35000"/>
                </a:schemeClr>
              </a:solidFill>
            </a:endParaRPr>
          </a:p>
        </p:txBody>
      </p:sp>
      <p:sp>
        <p:nvSpPr>
          <p:cNvPr id="5" name="Shape 3"/>
          <p:cNvSpPr/>
          <p:nvPr/>
        </p:nvSpPr>
        <p:spPr>
          <a:xfrm>
            <a:off x="502920" y="2724912"/>
            <a:ext cx="146304" cy="146304"/>
          </a:xfrm>
          <a:prstGeom prst="ellipse">
            <a:avLst/>
          </a:prstGeom>
          <a:solidFill>
            <a:srgbClr val="C9A227"/>
          </a:solidFill>
          <a:ln/>
        </p:spPr>
        <p:txBody>
          <a:bodyPr/>
          <a:lstStyle/>
          <a:p>
            <a:endParaRPr lang="en-IN"/>
          </a:p>
        </p:txBody>
      </p:sp>
      <p:sp>
        <p:nvSpPr>
          <p:cNvPr id="6" name="Text 4"/>
          <p:cNvSpPr/>
          <p:nvPr/>
        </p:nvSpPr>
        <p:spPr>
          <a:xfrm>
            <a:off x="777240" y="2633472"/>
            <a:ext cx="6583680" cy="329184"/>
          </a:xfrm>
          <a:prstGeom prst="rect">
            <a:avLst/>
          </a:prstGeom>
          <a:noFill/>
          <a:ln/>
        </p:spPr>
        <p:txBody>
          <a:bodyPr wrap="square" rtlCol="0" anchor="ctr"/>
          <a:lstStyle/>
          <a:p>
            <a:r>
              <a:rPr lang="en-IN" sz="1200" dirty="0">
                <a:solidFill>
                  <a:schemeClr val="tx1">
                    <a:lumMod val="85000"/>
                    <a:lumOff val="15000"/>
                  </a:schemeClr>
                </a:solidFill>
              </a:rPr>
              <a:t>Customers aged 50+ contribute the highest share of transactions and revenue</a:t>
            </a:r>
            <a:endParaRPr lang="en-US" sz="1150" dirty="0">
              <a:solidFill>
                <a:schemeClr val="tx1">
                  <a:lumMod val="85000"/>
                  <a:lumOff val="15000"/>
                </a:schemeClr>
              </a:solidFill>
            </a:endParaRPr>
          </a:p>
        </p:txBody>
      </p:sp>
      <p:sp>
        <p:nvSpPr>
          <p:cNvPr id="7" name="Shape 5"/>
          <p:cNvSpPr/>
          <p:nvPr/>
        </p:nvSpPr>
        <p:spPr>
          <a:xfrm>
            <a:off x="502920" y="3182112"/>
            <a:ext cx="146304" cy="146304"/>
          </a:xfrm>
          <a:prstGeom prst="ellipse">
            <a:avLst/>
          </a:prstGeom>
          <a:solidFill>
            <a:srgbClr val="C9A227"/>
          </a:solidFill>
          <a:ln/>
        </p:spPr>
        <p:txBody>
          <a:bodyPr/>
          <a:lstStyle/>
          <a:p>
            <a:endParaRPr lang="en-IN"/>
          </a:p>
        </p:txBody>
      </p:sp>
      <p:sp>
        <p:nvSpPr>
          <p:cNvPr id="8" name="Text 6"/>
          <p:cNvSpPr/>
          <p:nvPr/>
        </p:nvSpPr>
        <p:spPr>
          <a:xfrm>
            <a:off x="777240" y="3090672"/>
            <a:ext cx="6583680" cy="329184"/>
          </a:xfrm>
          <a:prstGeom prst="rect">
            <a:avLst/>
          </a:prstGeom>
          <a:noFill/>
          <a:ln/>
        </p:spPr>
        <p:txBody>
          <a:bodyPr wrap="square" rtlCol="0" anchor="ctr"/>
          <a:lstStyle/>
          <a:p>
            <a:r>
              <a:rPr lang="en-IN" sz="1200" dirty="0">
                <a:solidFill>
                  <a:schemeClr val="tx1">
                    <a:lumMod val="85000"/>
                    <a:lumOff val="15000"/>
                  </a:schemeClr>
                </a:solidFill>
              </a:rPr>
              <a:t>Female customers account for 62% of all transactions and generate the highest overall revenue.</a:t>
            </a:r>
            <a:endParaRPr lang="en-US" sz="1150" dirty="0">
              <a:solidFill>
                <a:schemeClr val="tx1">
                  <a:lumMod val="85000"/>
                  <a:lumOff val="15000"/>
                </a:schemeClr>
              </a:solidFill>
            </a:endParaRPr>
          </a:p>
        </p:txBody>
      </p:sp>
      <p:sp>
        <p:nvSpPr>
          <p:cNvPr id="9" name="Shape 7"/>
          <p:cNvSpPr/>
          <p:nvPr/>
        </p:nvSpPr>
        <p:spPr>
          <a:xfrm>
            <a:off x="502920" y="3639312"/>
            <a:ext cx="146304" cy="146304"/>
          </a:xfrm>
          <a:prstGeom prst="ellipse">
            <a:avLst/>
          </a:prstGeom>
          <a:solidFill>
            <a:srgbClr val="C9A227"/>
          </a:solidFill>
          <a:ln/>
        </p:spPr>
        <p:txBody>
          <a:bodyPr/>
          <a:lstStyle/>
          <a:p>
            <a:endParaRPr lang="en-IN"/>
          </a:p>
        </p:txBody>
      </p:sp>
      <p:sp>
        <p:nvSpPr>
          <p:cNvPr id="10" name="Text 8"/>
          <p:cNvSpPr/>
          <p:nvPr/>
        </p:nvSpPr>
        <p:spPr>
          <a:xfrm>
            <a:off x="777240" y="3547872"/>
            <a:ext cx="6583680" cy="329184"/>
          </a:xfrm>
          <a:prstGeom prst="rect">
            <a:avLst/>
          </a:prstGeom>
          <a:noFill/>
          <a:ln/>
        </p:spPr>
        <p:txBody>
          <a:bodyPr wrap="square" rtlCol="0" anchor="ctr"/>
          <a:lstStyle/>
          <a:p>
            <a:pPr marL="0" indent="0">
              <a:buNone/>
            </a:pPr>
            <a:r>
              <a:rPr lang="en-US" sz="1150" dirty="0">
                <a:solidFill>
                  <a:schemeClr val="tx1">
                    <a:lumMod val="85000"/>
                    <a:lumOff val="15000"/>
                  </a:schemeClr>
                </a:solidFill>
                <a:latin typeface="Calibri" pitchFamily="34" charset="0"/>
                <a:ea typeface="Calibri" pitchFamily="34" charset="-122"/>
                <a:cs typeface="Calibri" pitchFamily="34" charset="-120"/>
              </a:rPr>
              <a:t>Clothing leads every category in both quantity and revenue</a:t>
            </a:r>
            <a:endParaRPr lang="en-US" sz="1150" dirty="0">
              <a:solidFill>
                <a:schemeClr val="tx1">
                  <a:lumMod val="85000"/>
                  <a:lumOff val="15000"/>
                </a:schemeClr>
              </a:solidFill>
            </a:endParaRPr>
          </a:p>
        </p:txBody>
      </p:sp>
      <p:sp>
        <p:nvSpPr>
          <p:cNvPr id="11" name="Shape 9"/>
          <p:cNvSpPr/>
          <p:nvPr/>
        </p:nvSpPr>
        <p:spPr>
          <a:xfrm>
            <a:off x="502920" y="4096512"/>
            <a:ext cx="146304" cy="146304"/>
          </a:xfrm>
          <a:prstGeom prst="ellipse">
            <a:avLst/>
          </a:prstGeom>
          <a:solidFill>
            <a:srgbClr val="C9A227"/>
          </a:solidFill>
          <a:ln/>
        </p:spPr>
        <p:txBody>
          <a:bodyPr/>
          <a:lstStyle/>
          <a:p>
            <a:endParaRPr lang="en-IN"/>
          </a:p>
        </p:txBody>
      </p:sp>
      <p:sp>
        <p:nvSpPr>
          <p:cNvPr id="12" name="Text 10"/>
          <p:cNvSpPr/>
          <p:nvPr/>
        </p:nvSpPr>
        <p:spPr>
          <a:xfrm>
            <a:off x="777240" y="4005072"/>
            <a:ext cx="6583680" cy="329184"/>
          </a:xfrm>
          <a:prstGeom prst="rect">
            <a:avLst/>
          </a:prstGeom>
          <a:noFill/>
          <a:ln/>
        </p:spPr>
        <p:txBody>
          <a:bodyPr wrap="square" rtlCol="0" anchor="ctr"/>
          <a:lstStyle/>
          <a:p>
            <a:r>
              <a:rPr lang="en-IN" sz="1200" dirty="0">
                <a:solidFill>
                  <a:schemeClr val="tx1">
                    <a:lumMod val="85000"/>
                    <a:lumOff val="15000"/>
                  </a:schemeClr>
                </a:solidFill>
              </a:rPr>
              <a:t>Cash is the most preferred payment method, representing 42% of all transactions</a:t>
            </a:r>
            <a:r>
              <a:rPr lang="en-IN" sz="1200" dirty="0"/>
              <a:t>.</a:t>
            </a:r>
            <a:endParaRPr lang="en-US" sz="1150" dirty="0"/>
          </a:p>
        </p:txBody>
      </p:sp>
      <p:sp>
        <p:nvSpPr>
          <p:cNvPr id="13" name="Shape 11"/>
          <p:cNvSpPr/>
          <p:nvPr/>
        </p:nvSpPr>
        <p:spPr>
          <a:xfrm>
            <a:off x="502920" y="4553712"/>
            <a:ext cx="146304" cy="146304"/>
          </a:xfrm>
          <a:prstGeom prst="ellipse">
            <a:avLst/>
          </a:prstGeom>
          <a:solidFill>
            <a:srgbClr val="C9A227"/>
          </a:solidFill>
          <a:ln/>
        </p:spPr>
        <p:txBody>
          <a:bodyPr/>
          <a:lstStyle/>
          <a:p>
            <a:endParaRPr lang="en-IN"/>
          </a:p>
        </p:txBody>
      </p:sp>
      <p:sp>
        <p:nvSpPr>
          <p:cNvPr id="14" name="Text 12"/>
          <p:cNvSpPr/>
          <p:nvPr/>
        </p:nvSpPr>
        <p:spPr>
          <a:xfrm>
            <a:off x="777240" y="4462272"/>
            <a:ext cx="6583680" cy="329184"/>
          </a:xfrm>
          <a:prstGeom prst="rect">
            <a:avLst/>
          </a:prstGeom>
          <a:noFill/>
          <a:ln/>
        </p:spPr>
        <p:txBody>
          <a:bodyPr wrap="square" rtlCol="0" anchor="ctr"/>
          <a:lstStyle/>
          <a:p>
            <a:r>
              <a:rPr lang="en-IN" sz="1200" dirty="0">
                <a:solidFill>
                  <a:schemeClr val="tx1">
                    <a:lumMod val="85000"/>
                    <a:lumOff val="15000"/>
                  </a:schemeClr>
                </a:solidFill>
              </a:rPr>
              <a:t>Mall of Istanbul consistently ranks as the highest-performing shopping mall across key business metrics</a:t>
            </a:r>
            <a:r>
              <a:rPr lang="en-IN" sz="1200" dirty="0"/>
              <a:t>.</a:t>
            </a:r>
            <a:endParaRPr lang="en-US" sz="1150" dirty="0"/>
          </a:p>
        </p:txBody>
      </p:sp>
      <p:sp>
        <p:nvSpPr>
          <p:cNvPr id="15" name="Shape 13"/>
          <p:cNvSpPr/>
          <p:nvPr/>
        </p:nvSpPr>
        <p:spPr>
          <a:xfrm>
            <a:off x="7955280" y="1371600"/>
            <a:ext cx="3703320" cy="960120"/>
          </a:xfrm>
          <a:prstGeom prst="roundRect">
            <a:avLst>
              <a:gd name="adj" fmla="val 857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6" name="Shape 14"/>
          <p:cNvSpPr/>
          <p:nvPr/>
        </p:nvSpPr>
        <p:spPr>
          <a:xfrm>
            <a:off x="8156448" y="1563624"/>
            <a:ext cx="566928" cy="566928"/>
          </a:xfrm>
          <a:prstGeom prst="ellipse">
            <a:avLst/>
          </a:prstGeom>
          <a:solidFill>
            <a:srgbClr val="1F4E79"/>
          </a:solidFill>
          <a:ln/>
        </p:spPr>
        <p:txBody>
          <a:bodyPr/>
          <a:lstStyle/>
          <a:p>
            <a:endParaRPr lang="en-IN"/>
          </a:p>
        </p:txBody>
      </p:sp>
      <p:pic>
        <p:nvPicPr>
          <p:cNvPr id="17" name="Image 0" descr="preencoded.png"/>
          <p:cNvPicPr>
            <a:picLocks noChangeAspect="1"/>
          </p:cNvPicPr>
          <p:nvPr/>
        </p:nvPicPr>
        <p:blipFill>
          <a:blip r:embed="rId3"/>
          <a:stretch>
            <a:fillRect/>
          </a:stretch>
        </p:blipFill>
        <p:spPr>
          <a:xfrm>
            <a:off x="8303849" y="1711025"/>
            <a:ext cx="272125" cy="272125"/>
          </a:xfrm>
          <a:prstGeom prst="rect">
            <a:avLst/>
          </a:prstGeom>
        </p:spPr>
      </p:pic>
      <p:sp>
        <p:nvSpPr>
          <p:cNvPr id="18" name="Text 15"/>
          <p:cNvSpPr/>
          <p:nvPr/>
        </p:nvSpPr>
        <p:spPr>
          <a:xfrm>
            <a:off x="8915400" y="1463040"/>
            <a:ext cx="2606040" cy="457200"/>
          </a:xfrm>
          <a:prstGeom prst="rect">
            <a:avLst/>
          </a:prstGeom>
          <a:noFill/>
          <a:ln/>
        </p:spPr>
        <p:txBody>
          <a:bodyPr wrap="square" rtlCol="0" anchor="ctr"/>
          <a:lstStyle/>
          <a:p>
            <a:pPr marL="0" indent="0">
              <a:buNone/>
            </a:pPr>
            <a:r>
              <a:rPr lang="en-US" sz="2200" b="1" dirty="0">
                <a:solidFill>
                  <a:srgbClr val="1F2937"/>
                </a:solidFill>
                <a:latin typeface="Calibri" pitchFamily="34" charset="0"/>
                <a:ea typeface="Calibri" pitchFamily="34" charset="-122"/>
                <a:cs typeface="Calibri" pitchFamily="34" charset="-120"/>
              </a:rPr>
              <a:t>1,000</a:t>
            </a:r>
            <a:endParaRPr lang="en-US" sz="2200" dirty="0"/>
          </a:p>
        </p:txBody>
      </p:sp>
      <p:sp>
        <p:nvSpPr>
          <p:cNvPr id="19" name="Text 16"/>
          <p:cNvSpPr/>
          <p:nvPr/>
        </p:nvSpPr>
        <p:spPr>
          <a:xfrm>
            <a:off x="8915400" y="1901952"/>
            <a:ext cx="2606040" cy="274320"/>
          </a:xfrm>
          <a:prstGeom prst="rect">
            <a:avLst/>
          </a:prstGeom>
          <a:noFill/>
          <a:ln/>
        </p:spPr>
        <p:txBody>
          <a:bodyPr wrap="square" rtlCol="0" anchor="ctr"/>
          <a:lstStyle/>
          <a:p>
            <a:pPr marL="0" indent="0">
              <a:buNone/>
            </a:pPr>
            <a:r>
              <a:rPr lang="en-US" sz="1050" dirty="0">
                <a:solidFill>
                  <a:srgbClr val="8A93A3"/>
                </a:solidFill>
                <a:latin typeface="Calibri" pitchFamily="34" charset="0"/>
                <a:ea typeface="Calibri" pitchFamily="34" charset="-122"/>
                <a:cs typeface="Calibri" pitchFamily="34" charset="-120"/>
              </a:rPr>
              <a:t>Total Customers</a:t>
            </a:r>
            <a:endParaRPr lang="en-US" sz="1050" dirty="0"/>
          </a:p>
        </p:txBody>
      </p:sp>
      <p:sp>
        <p:nvSpPr>
          <p:cNvPr id="20" name="Shape 17"/>
          <p:cNvSpPr/>
          <p:nvPr/>
        </p:nvSpPr>
        <p:spPr>
          <a:xfrm>
            <a:off x="7955280" y="2532888"/>
            <a:ext cx="3703320" cy="960120"/>
          </a:xfrm>
          <a:prstGeom prst="roundRect">
            <a:avLst>
              <a:gd name="adj" fmla="val 857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1" name="Shape 18"/>
          <p:cNvSpPr/>
          <p:nvPr/>
        </p:nvSpPr>
        <p:spPr>
          <a:xfrm>
            <a:off x="8156448" y="2724912"/>
            <a:ext cx="566928" cy="566928"/>
          </a:xfrm>
          <a:prstGeom prst="ellipse">
            <a:avLst/>
          </a:prstGeom>
          <a:solidFill>
            <a:srgbClr val="6A1B9A"/>
          </a:solidFill>
          <a:ln/>
        </p:spPr>
        <p:txBody>
          <a:bodyPr/>
          <a:lstStyle/>
          <a:p>
            <a:endParaRPr lang="en-IN"/>
          </a:p>
        </p:txBody>
      </p:sp>
      <p:pic>
        <p:nvPicPr>
          <p:cNvPr id="22" name="Image 1" descr="preencoded.png"/>
          <p:cNvPicPr>
            <a:picLocks noChangeAspect="1"/>
          </p:cNvPicPr>
          <p:nvPr/>
        </p:nvPicPr>
        <p:blipFill>
          <a:blip r:embed="rId4"/>
          <a:stretch>
            <a:fillRect/>
          </a:stretch>
        </p:blipFill>
        <p:spPr>
          <a:xfrm>
            <a:off x="8303849" y="2872313"/>
            <a:ext cx="272125" cy="272125"/>
          </a:xfrm>
          <a:prstGeom prst="rect">
            <a:avLst/>
          </a:prstGeom>
        </p:spPr>
      </p:pic>
      <p:sp>
        <p:nvSpPr>
          <p:cNvPr id="23" name="Text 19"/>
          <p:cNvSpPr/>
          <p:nvPr/>
        </p:nvSpPr>
        <p:spPr>
          <a:xfrm>
            <a:off x="8915400" y="2624328"/>
            <a:ext cx="2606040" cy="457200"/>
          </a:xfrm>
          <a:prstGeom prst="rect">
            <a:avLst/>
          </a:prstGeom>
          <a:noFill/>
          <a:ln/>
        </p:spPr>
        <p:txBody>
          <a:bodyPr wrap="square" rtlCol="0" anchor="ctr"/>
          <a:lstStyle/>
          <a:p>
            <a:pPr marL="0" indent="0">
              <a:buNone/>
            </a:pPr>
            <a:r>
              <a:rPr lang="en-US" sz="2200" b="1" dirty="0">
                <a:solidFill>
                  <a:srgbClr val="1F2937"/>
                </a:solidFill>
                <a:latin typeface="Calibri" pitchFamily="34" charset="0"/>
                <a:ea typeface="Calibri" pitchFamily="34" charset="-122"/>
                <a:cs typeface="Calibri" pitchFamily="34" charset="-120"/>
              </a:rPr>
              <a:t>2.37M</a:t>
            </a:r>
            <a:endParaRPr lang="en-US" sz="2200" dirty="0"/>
          </a:p>
        </p:txBody>
      </p:sp>
      <p:sp>
        <p:nvSpPr>
          <p:cNvPr id="24" name="Text 20"/>
          <p:cNvSpPr/>
          <p:nvPr/>
        </p:nvSpPr>
        <p:spPr>
          <a:xfrm>
            <a:off x="8915400" y="3063240"/>
            <a:ext cx="2606040" cy="274320"/>
          </a:xfrm>
          <a:prstGeom prst="rect">
            <a:avLst/>
          </a:prstGeom>
          <a:noFill/>
          <a:ln/>
        </p:spPr>
        <p:txBody>
          <a:bodyPr wrap="square" rtlCol="0" anchor="ctr"/>
          <a:lstStyle/>
          <a:p>
            <a:pPr marL="0" indent="0">
              <a:buNone/>
            </a:pPr>
            <a:r>
              <a:rPr lang="en-US" sz="1050" dirty="0">
                <a:solidFill>
                  <a:srgbClr val="8A93A3"/>
                </a:solidFill>
                <a:latin typeface="Calibri" pitchFamily="34" charset="0"/>
                <a:ea typeface="Calibri" pitchFamily="34" charset="-122"/>
                <a:cs typeface="Calibri" pitchFamily="34" charset="-120"/>
              </a:rPr>
              <a:t>Total Revenue</a:t>
            </a:r>
            <a:endParaRPr lang="en-US" sz="1050" dirty="0"/>
          </a:p>
        </p:txBody>
      </p:sp>
      <p:sp>
        <p:nvSpPr>
          <p:cNvPr id="25" name="Shape 21"/>
          <p:cNvSpPr/>
          <p:nvPr/>
        </p:nvSpPr>
        <p:spPr>
          <a:xfrm>
            <a:off x="7955280" y="3694176"/>
            <a:ext cx="3703320" cy="960120"/>
          </a:xfrm>
          <a:prstGeom prst="roundRect">
            <a:avLst>
              <a:gd name="adj" fmla="val 857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6" name="Shape 22"/>
          <p:cNvSpPr/>
          <p:nvPr/>
        </p:nvSpPr>
        <p:spPr>
          <a:xfrm>
            <a:off x="8156448" y="3886200"/>
            <a:ext cx="566928" cy="566928"/>
          </a:xfrm>
          <a:prstGeom prst="ellipse">
            <a:avLst/>
          </a:prstGeom>
          <a:solidFill>
            <a:srgbClr val="2E6DA4"/>
          </a:solidFill>
          <a:ln/>
        </p:spPr>
        <p:txBody>
          <a:bodyPr/>
          <a:lstStyle/>
          <a:p>
            <a:endParaRPr lang="en-IN"/>
          </a:p>
        </p:txBody>
      </p:sp>
      <p:pic>
        <p:nvPicPr>
          <p:cNvPr id="27" name="Image 2" descr="preencoded.png"/>
          <p:cNvPicPr>
            <a:picLocks noChangeAspect="1"/>
          </p:cNvPicPr>
          <p:nvPr/>
        </p:nvPicPr>
        <p:blipFill>
          <a:blip r:embed="rId5"/>
          <a:stretch>
            <a:fillRect/>
          </a:stretch>
        </p:blipFill>
        <p:spPr>
          <a:xfrm>
            <a:off x="8303849" y="4033601"/>
            <a:ext cx="272125" cy="272125"/>
          </a:xfrm>
          <a:prstGeom prst="rect">
            <a:avLst/>
          </a:prstGeom>
        </p:spPr>
      </p:pic>
      <p:sp>
        <p:nvSpPr>
          <p:cNvPr id="28" name="Text 23"/>
          <p:cNvSpPr/>
          <p:nvPr/>
        </p:nvSpPr>
        <p:spPr>
          <a:xfrm>
            <a:off x="8915400" y="3785616"/>
            <a:ext cx="2606040" cy="457200"/>
          </a:xfrm>
          <a:prstGeom prst="rect">
            <a:avLst/>
          </a:prstGeom>
          <a:noFill/>
          <a:ln/>
        </p:spPr>
        <p:txBody>
          <a:bodyPr wrap="square" rtlCol="0" anchor="ctr"/>
          <a:lstStyle/>
          <a:p>
            <a:pPr marL="0" indent="0">
              <a:buNone/>
            </a:pPr>
            <a:r>
              <a:rPr lang="en-US" sz="2200" b="1" dirty="0">
                <a:solidFill>
                  <a:srgbClr val="1F2937"/>
                </a:solidFill>
                <a:latin typeface="Calibri" pitchFamily="34" charset="0"/>
                <a:ea typeface="Calibri" pitchFamily="34" charset="-122"/>
                <a:cs typeface="Calibri" pitchFamily="34" charset="-120"/>
              </a:rPr>
              <a:t>~3,000</a:t>
            </a:r>
            <a:endParaRPr lang="en-US" sz="2200" dirty="0"/>
          </a:p>
        </p:txBody>
      </p:sp>
      <p:sp>
        <p:nvSpPr>
          <p:cNvPr id="29" name="Text 24"/>
          <p:cNvSpPr/>
          <p:nvPr/>
        </p:nvSpPr>
        <p:spPr>
          <a:xfrm>
            <a:off x="8915400" y="4224528"/>
            <a:ext cx="2606040" cy="274320"/>
          </a:xfrm>
          <a:prstGeom prst="rect">
            <a:avLst/>
          </a:prstGeom>
          <a:noFill/>
          <a:ln/>
        </p:spPr>
        <p:txBody>
          <a:bodyPr wrap="square" rtlCol="0" anchor="ctr"/>
          <a:lstStyle/>
          <a:p>
            <a:pPr marL="0" indent="0">
              <a:buNone/>
            </a:pPr>
            <a:r>
              <a:rPr lang="en-US" sz="1050" dirty="0">
                <a:solidFill>
                  <a:srgbClr val="8A93A3"/>
                </a:solidFill>
                <a:latin typeface="Calibri" pitchFamily="34" charset="0"/>
                <a:ea typeface="Calibri" pitchFamily="34" charset="-122"/>
                <a:cs typeface="Calibri" pitchFamily="34" charset="-120"/>
              </a:rPr>
              <a:t>Units Sold</a:t>
            </a:r>
            <a:endParaRPr lang="en-US" sz="1050" dirty="0"/>
          </a:p>
        </p:txBody>
      </p:sp>
      <p:sp>
        <p:nvSpPr>
          <p:cNvPr id="30" name="Shape 25"/>
          <p:cNvSpPr/>
          <p:nvPr/>
        </p:nvSpPr>
        <p:spPr>
          <a:xfrm>
            <a:off x="7955280" y="4855464"/>
            <a:ext cx="3703320" cy="960120"/>
          </a:xfrm>
          <a:prstGeom prst="roundRect">
            <a:avLst>
              <a:gd name="adj" fmla="val 857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31" name="Shape 26"/>
          <p:cNvSpPr/>
          <p:nvPr/>
        </p:nvSpPr>
        <p:spPr>
          <a:xfrm>
            <a:off x="8156448" y="5047488"/>
            <a:ext cx="566928" cy="566928"/>
          </a:xfrm>
          <a:prstGeom prst="ellipse">
            <a:avLst/>
          </a:prstGeom>
          <a:solidFill>
            <a:srgbClr val="8E44AD"/>
          </a:solidFill>
          <a:ln/>
        </p:spPr>
        <p:txBody>
          <a:bodyPr/>
          <a:lstStyle/>
          <a:p>
            <a:endParaRPr lang="en-IN"/>
          </a:p>
        </p:txBody>
      </p:sp>
      <p:pic>
        <p:nvPicPr>
          <p:cNvPr id="32" name="Image 3" descr="preencoded.png"/>
          <p:cNvPicPr>
            <a:picLocks noChangeAspect="1"/>
          </p:cNvPicPr>
          <p:nvPr/>
        </p:nvPicPr>
        <p:blipFill>
          <a:blip r:embed="rId6"/>
          <a:stretch>
            <a:fillRect/>
          </a:stretch>
        </p:blipFill>
        <p:spPr>
          <a:xfrm>
            <a:off x="8303849" y="5194889"/>
            <a:ext cx="272125" cy="272125"/>
          </a:xfrm>
          <a:prstGeom prst="rect">
            <a:avLst/>
          </a:prstGeom>
        </p:spPr>
      </p:pic>
      <p:sp>
        <p:nvSpPr>
          <p:cNvPr id="33" name="Text 27"/>
          <p:cNvSpPr/>
          <p:nvPr/>
        </p:nvSpPr>
        <p:spPr>
          <a:xfrm>
            <a:off x="8915400" y="4946904"/>
            <a:ext cx="2606040" cy="457200"/>
          </a:xfrm>
          <a:prstGeom prst="rect">
            <a:avLst/>
          </a:prstGeom>
          <a:noFill/>
          <a:ln/>
        </p:spPr>
        <p:txBody>
          <a:bodyPr wrap="square" rtlCol="0" anchor="ctr"/>
          <a:lstStyle/>
          <a:p>
            <a:pPr marL="0" indent="0">
              <a:buNone/>
            </a:pPr>
            <a:r>
              <a:rPr lang="en-US" sz="2200" b="1" dirty="0">
                <a:solidFill>
                  <a:srgbClr val="1F2937"/>
                </a:solidFill>
                <a:latin typeface="Calibri" pitchFamily="34" charset="0"/>
                <a:ea typeface="Calibri" pitchFamily="34" charset="-122"/>
                <a:cs typeface="Calibri" pitchFamily="34" charset="-120"/>
              </a:rPr>
              <a:t>8</a:t>
            </a:r>
            <a:endParaRPr lang="en-US" sz="2200" dirty="0"/>
          </a:p>
        </p:txBody>
      </p:sp>
      <p:sp>
        <p:nvSpPr>
          <p:cNvPr id="34" name="Text 28"/>
          <p:cNvSpPr/>
          <p:nvPr/>
        </p:nvSpPr>
        <p:spPr>
          <a:xfrm>
            <a:off x="8915400" y="5385816"/>
            <a:ext cx="2606040" cy="274320"/>
          </a:xfrm>
          <a:prstGeom prst="rect">
            <a:avLst/>
          </a:prstGeom>
          <a:noFill/>
          <a:ln/>
        </p:spPr>
        <p:txBody>
          <a:bodyPr wrap="square" rtlCol="0" anchor="ctr"/>
          <a:lstStyle/>
          <a:p>
            <a:pPr marL="0" indent="0">
              <a:buNone/>
            </a:pPr>
            <a:r>
              <a:rPr lang="en-US" sz="1050" dirty="0">
                <a:solidFill>
                  <a:srgbClr val="8A93A3"/>
                </a:solidFill>
                <a:latin typeface="Calibri" pitchFamily="34" charset="0"/>
                <a:ea typeface="Calibri" pitchFamily="34" charset="-122"/>
                <a:cs typeface="Calibri" pitchFamily="34" charset="-120"/>
              </a:rPr>
              <a:t>Product Categories</a:t>
            </a:r>
            <a:endParaRPr lang="en-US" sz="1050" dirty="0"/>
          </a:p>
        </p:txBody>
      </p:sp>
      <p:sp>
        <p:nvSpPr>
          <p:cNvPr id="35" name="Text 29"/>
          <p:cNvSpPr/>
          <p:nvPr/>
        </p:nvSpPr>
        <p:spPr>
          <a:xfrm>
            <a:off x="502920" y="6547104"/>
            <a:ext cx="6400800" cy="256032"/>
          </a:xfrm>
          <a:prstGeom prst="rect">
            <a:avLst/>
          </a:prstGeom>
          <a:noFill/>
          <a:ln/>
        </p:spPr>
        <p:txBody>
          <a:bodyPr wrap="square" rtlCol="0" anchor="ctr"/>
          <a:lstStyle/>
          <a:p>
            <a:pPr marL="0" indent="0">
              <a:buNone/>
            </a:pPr>
            <a:r>
              <a:rPr lang="en-US" sz="800" kern="0" spc="100" dirty="0">
                <a:solidFill>
                  <a:srgbClr val="8A93A3"/>
                </a:solidFill>
                <a:latin typeface="Calibri" pitchFamily="34" charset="0"/>
                <a:ea typeface="Calibri" pitchFamily="34" charset="-122"/>
                <a:cs typeface="Calibri" pitchFamily="34" charset="-120"/>
              </a:rPr>
              <a:t>CUSTOMER DATA ANALYSIS  |  SQL &amp; POWER BI</a:t>
            </a:r>
            <a:endParaRPr lang="en-US" sz="800" dirty="0"/>
          </a:p>
        </p:txBody>
      </p:sp>
      <p:sp>
        <p:nvSpPr>
          <p:cNvPr id="36" name="Text 30"/>
          <p:cNvSpPr/>
          <p:nvPr/>
        </p:nvSpPr>
        <p:spPr>
          <a:xfrm>
            <a:off x="11064240" y="6547104"/>
            <a:ext cx="640080" cy="256032"/>
          </a:xfrm>
          <a:prstGeom prst="rect">
            <a:avLst/>
          </a:prstGeom>
          <a:noFill/>
          <a:ln/>
        </p:spPr>
        <p:txBody>
          <a:bodyPr wrap="square" rtlCol="0" anchor="ctr"/>
          <a:lstStyle/>
          <a:p>
            <a:pPr marL="0" indent="0" algn="r">
              <a:buNone/>
            </a:pPr>
            <a:r>
              <a:rPr lang="en-US" sz="800" dirty="0">
                <a:solidFill>
                  <a:srgbClr val="8A93A3"/>
                </a:solidFill>
                <a:latin typeface="Calibri" pitchFamily="34" charset="0"/>
                <a:ea typeface="Calibri" pitchFamily="34" charset="-122"/>
                <a:cs typeface="Calibri" pitchFamily="34" charset="-120"/>
              </a:rPr>
              <a:t>02 / 15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56032"/>
          </a:xfrm>
          <a:prstGeom prst="rect">
            <a:avLst/>
          </a:prstGeom>
          <a:noFill/>
          <a:ln/>
        </p:spPr>
        <p:txBody>
          <a:bodyPr wrap="square"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SECTION 02</a:t>
            </a:r>
            <a:endParaRPr lang="en-US" sz="1100" dirty="0"/>
          </a:p>
        </p:txBody>
      </p:sp>
      <p:sp>
        <p:nvSpPr>
          <p:cNvPr id="3" name="Text 1"/>
          <p:cNvSpPr/>
          <p:nvPr/>
        </p:nvSpPr>
        <p:spPr>
          <a:xfrm>
            <a:off x="502920" y="621792"/>
            <a:ext cx="10972800" cy="566928"/>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Project Overview</a:t>
            </a:r>
            <a:endParaRPr lang="en-US" sz="2800" dirty="0"/>
          </a:p>
        </p:txBody>
      </p:sp>
      <p:sp>
        <p:nvSpPr>
          <p:cNvPr id="4" name="Text 2"/>
          <p:cNvSpPr/>
          <p:nvPr/>
        </p:nvSpPr>
        <p:spPr>
          <a:xfrm>
            <a:off x="502920" y="1371600"/>
            <a:ext cx="11155680" cy="685800"/>
          </a:xfrm>
          <a:prstGeom prst="rect">
            <a:avLst/>
          </a:prstGeom>
          <a:noFill/>
          <a:ln/>
        </p:spPr>
        <p:txBody>
          <a:bodyPr wrap="square" rtlCol="0" anchor="ctr"/>
          <a:lstStyle/>
          <a:p>
            <a:pPr>
              <a:lnSpc>
                <a:spcPct val="130000"/>
              </a:lnSpc>
            </a:pPr>
            <a:r>
              <a:rPr lang="en-IN" sz="1400" dirty="0">
                <a:solidFill>
                  <a:schemeClr val="tx1">
                    <a:lumMod val="65000"/>
                    <a:lumOff val="35000"/>
                  </a:schemeClr>
                </a:solidFill>
              </a:rPr>
              <a:t>This project transformed raw customer retail transaction data into actionable business intelligence through three stages: database preparation, SQL analysis, and interactive Power BI dashboard development.</a:t>
            </a:r>
            <a:endParaRPr lang="en-US" sz="1250" dirty="0">
              <a:solidFill>
                <a:schemeClr val="tx1">
                  <a:lumMod val="65000"/>
                  <a:lumOff val="35000"/>
                </a:schemeClr>
              </a:solidFill>
            </a:endParaRPr>
          </a:p>
        </p:txBody>
      </p:sp>
      <p:sp>
        <p:nvSpPr>
          <p:cNvPr id="5" name="Shape 3"/>
          <p:cNvSpPr/>
          <p:nvPr/>
        </p:nvSpPr>
        <p:spPr>
          <a:xfrm>
            <a:off x="502920" y="2331720"/>
            <a:ext cx="3611880" cy="2880360"/>
          </a:xfrm>
          <a:prstGeom prst="roundRect">
            <a:avLst>
              <a:gd name="adj" fmla="val 2857"/>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6" name="Text 4"/>
          <p:cNvSpPr/>
          <p:nvPr/>
        </p:nvSpPr>
        <p:spPr>
          <a:xfrm>
            <a:off x="758952" y="2487168"/>
            <a:ext cx="1371600" cy="457200"/>
          </a:xfrm>
          <a:prstGeom prst="rect">
            <a:avLst/>
          </a:prstGeom>
          <a:noFill/>
          <a:ln/>
        </p:spPr>
        <p:txBody>
          <a:bodyPr wrap="square" rtlCol="0" anchor="ctr"/>
          <a:lstStyle/>
          <a:p>
            <a:pPr marL="0" indent="0">
              <a:buNone/>
            </a:pPr>
            <a:r>
              <a:rPr lang="en-US" sz="2600" b="1" dirty="0">
                <a:solidFill>
                  <a:srgbClr val="DDE1E8"/>
                </a:solidFill>
                <a:latin typeface="Calibri" pitchFamily="34" charset="0"/>
                <a:ea typeface="Calibri" pitchFamily="34" charset="-122"/>
                <a:cs typeface="Calibri" pitchFamily="34" charset="-120"/>
              </a:rPr>
              <a:t>01</a:t>
            </a:r>
            <a:endParaRPr lang="en-US" sz="2600" dirty="0"/>
          </a:p>
        </p:txBody>
      </p:sp>
      <p:sp>
        <p:nvSpPr>
          <p:cNvPr id="7" name="Shape 5"/>
          <p:cNvSpPr/>
          <p:nvPr/>
        </p:nvSpPr>
        <p:spPr>
          <a:xfrm>
            <a:off x="3218688" y="2487168"/>
            <a:ext cx="640080" cy="640080"/>
          </a:xfrm>
          <a:prstGeom prst="ellipse">
            <a:avLst/>
          </a:prstGeom>
          <a:solidFill>
            <a:srgbClr val="1F4E79"/>
          </a:solidFill>
          <a:ln/>
        </p:spPr>
        <p:txBody>
          <a:bodyPr/>
          <a:lstStyle/>
          <a:p>
            <a:endParaRPr lang="en-IN"/>
          </a:p>
        </p:txBody>
      </p:sp>
      <p:pic>
        <p:nvPicPr>
          <p:cNvPr id="8" name="Image 0" descr="preencoded.png"/>
          <p:cNvPicPr>
            <a:picLocks noChangeAspect="1"/>
          </p:cNvPicPr>
          <p:nvPr/>
        </p:nvPicPr>
        <p:blipFill>
          <a:blip r:embed="rId3"/>
          <a:stretch>
            <a:fillRect/>
          </a:stretch>
        </p:blipFill>
        <p:spPr>
          <a:xfrm>
            <a:off x="3385109" y="2653589"/>
            <a:ext cx="307238" cy="307238"/>
          </a:xfrm>
          <a:prstGeom prst="rect">
            <a:avLst/>
          </a:prstGeom>
        </p:spPr>
      </p:pic>
      <p:sp>
        <p:nvSpPr>
          <p:cNvPr id="9" name="Text 6"/>
          <p:cNvSpPr/>
          <p:nvPr/>
        </p:nvSpPr>
        <p:spPr>
          <a:xfrm>
            <a:off x="758952" y="3063240"/>
            <a:ext cx="3099816" cy="365760"/>
          </a:xfrm>
          <a:prstGeom prst="rect">
            <a:avLst/>
          </a:prstGeom>
          <a:noFill/>
          <a:ln/>
        </p:spPr>
        <p:txBody>
          <a:bodyPr wrap="square"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Database Preparation</a:t>
            </a:r>
          </a:p>
        </p:txBody>
      </p:sp>
      <p:sp>
        <p:nvSpPr>
          <p:cNvPr id="10" name="Text 7"/>
          <p:cNvSpPr/>
          <p:nvPr/>
        </p:nvSpPr>
        <p:spPr>
          <a:xfrm>
            <a:off x="758952" y="3456432"/>
            <a:ext cx="3099816" cy="1463040"/>
          </a:xfrm>
          <a:prstGeom prst="rect">
            <a:avLst/>
          </a:prstGeom>
          <a:noFill/>
          <a:ln/>
        </p:spPr>
        <p:txBody>
          <a:bodyPr wrap="square" rtlCol="0" anchor="ctr"/>
          <a:lstStyle/>
          <a:p>
            <a:pPr>
              <a:lnSpc>
                <a:spcPct val="130000"/>
              </a:lnSpc>
            </a:pPr>
            <a:r>
              <a:rPr lang="en-IN" sz="1200" dirty="0">
                <a:solidFill>
                  <a:schemeClr val="tx1">
                    <a:lumMod val="65000"/>
                    <a:lumOff val="35000"/>
                  </a:schemeClr>
                </a:solidFill>
              </a:rPr>
              <a:t>Imported, structured, and validated customer transaction data within a relational database for analysis.</a:t>
            </a:r>
            <a:endParaRPr lang="en-US" sz="1150" dirty="0">
              <a:solidFill>
                <a:schemeClr val="tx1">
                  <a:lumMod val="65000"/>
                  <a:lumOff val="35000"/>
                </a:schemeClr>
              </a:solidFill>
            </a:endParaRPr>
          </a:p>
        </p:txBody>
      </p:sp>
      <p:sp>
        <p:nvSpPr>
          <p:cNvPr id="11" name="Shape 8"/>
          <p:cNvSpPr/>
          <p:nvPr/>
        </p:nvSpPr>
        <p:spPr>
          <a:xfrm>
            <a:off x="4343400" y="2331720"/>
            <a:ext cx="3611880" cy="2880360"/>
          </a:xfrm>
          <a:prstGeom prst="roundRect">
            <a:avLst>
              <a:gd name="adj" fmla="val 2857"/>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2" name="Text 9"/>
          <p:cNvSpPr/>
          <p:nvPr/>
        </p:nvSpPr>
        <p:spPr>
          <a:xfrm>
            <a:off x="4599432" y="2487168"/>
            <a:ext cx="1371600" cy="457200"/>
          </a:xfrm>
          <a:prstGeom prst="rect">
            <a:avLst/>
          </a:prstGeom>
          <a:noFill/>
          <a:ln/>
        </p:spPr>
        <p:txBody>
          <a:bodyPr wrap="square" rtlCol="0" anchor="ctr"/>
          <a:lstStyle/>
          <a:p>
            <a:pPr marL="0" indent="0">
              <a:buNone/>
            </a:pPr>
            <a:r>
              <a:rPr lang="en-US" sz="2600" b="1" dirty="0">
                <a:solidFill>
                  <a:srgbClr val="DDE1E8"/>
                </a:solidFill>
                <a:latin typeface="Calibri" pitchFamily="34" charset="0"/>
                <a:ea typeface="Calibri" pitchFamily="34" charset="-122"/>
                <a:cs typeface="Calibri" pitchFamily="34" charset="-120"/>
              </a:rPr>
              <a:t>02</a:t>
            </a:r>
            <a:endParaRPr lang="en-US" sz="2600" dirty="0"/>
          </a:p>
        </p:txBody>
      </p:sp>
      <p:sp>
        <p:nvSpPr>
          <p:cNvPr id="13" name="Shape 10"/>
          <p:cNvSpPr/>
          <p:nvPr/>
        </p:nvSpPr>
        <p:spPr>
          <a:xfrm>
            <a:off x="7059168" y="2487168"/>
            <a:ext cx="640080" cy="640080"/>
          </a:xfrm>
          <a:prstGeom prst="ellipse">
            <a:avLst/>
          </a:prstGeom>
          <a:solidFill>
            <a:srgbClr val="2E6DA4"/>
          </a:solidFill>
          <a:ln/>
        </p:spPr>
        <p:txBody>
          <a:bodyPr/>
          <a:lstStyle/>
          <a:p>
            <a:endParaRPr lang="en-IN"/>
          </a:p>
        </p:txBody>
      </p:sp>
      <p:pic>
        <p:nvPicPr>
          <p:cNvPr id="14" name="Image 1" descr="preencoded.png"/>
          <p:cNvPicPr>
            <a:picLocks noChangeAspect="1"/>
          </p:cNvPicPr>
          <p:nvPr/>
        </p:nvPicPr>
        <p:blipFill>
          <a:blip r:embed="rId4"/>
          <a:stretch>
            <a:fillRect/>
          </a:stretch>
        </p:blipFill>
        <p:spPr>
          <a:xfrm>
            <a:off x="7225589" y="2653589"/>
            <a:ext cx="307238" cy="307238"/>
          </a:xfrm>
          <a:prstGeom prst="rect">
            <a:avLst/>
          </a:prstGeom>
        </p:spPr>
      </p:pic>
      <p:sp>
        <p:nvSpPr>
          <p:cNvPr id="15" name="Text 11"/>
          <p:cNvSpPr/>
          <p:nvPr/>
        </p:nvSpPr>
        <p:spPr>
          <a:xfrm>
            <a:off x="4599432" y="3063240"/>
            <a:ext cx="3099816" cy="365760"/>
          </a:xfrm>
          <a:prstGeom prst="rect">
            <a:avLst/>
          </a:prstGeom>
          <a:noFill/>
          <a:ln/>
        </p:spPr>
        <p:txBody>
          <a:bodyPr wrap="square"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SQL Analysis</a:t>
            </a:r>
            <a:endParaRPr lang="en-US" sz="1600" dirty="0"/>
          </a:p>
        </p:txBody>
      </p:sp>
      <p:sp>
        <p:nvSpPr>
          <p:cNvPr id="16" name="Text 12"/>
          <p:cNvSpPr/>
          <p:nvPr/>
        </p:nvSpPr>
        <p:spPr>
          <a:xfrm>
            <a:off x="4599432" y="3456432"/>
            <a:ext cx="3099816" cy="1463040"/>
          </a:xfrm>
          <a:prstGeom prst="rect">
            <a:avLst/>
          </a:prstGeom>
          <a:noFill/>
          <a:ln/>
        </p:spPr>
        <p:txBody>
          <a:bodyPr wrap="square" rtlCol="0" anchor="ctr"/>
          <a:lstStyle/>
          <a:p>
            <a:pPr>
              <a:lnSpc>
                <a:spcPct val="130000"/>
              </a:lnSpc>
            </a:pPr>
            <a:r>
              <a:rPr lang="en-IN" sz="1200" dirty="0">
                <a:solidFill>
                  <a:schemeClr val="tx1">
                    <a:lumMod val="65000"/>
                    <a:lumOff val="35000"/>
                  </a:schemeClr>
                </a:solidFill>
              </a:rPr>
              <a:t>Performed data cleaning, validation, and SQL analysis to answer 11 key business questions and generate actionable insights.</a:t>
            </a:r>
            <a:endParaRPr lang="en-US" sz="1150" dirty="0">
              <a:solidFill>
                <a:schemeClr val="tx1">
                  <a:lumMod val="65000"/>
                  <a:lumOff val="35000"/>
                </a:schemeClr>
              </a:solidFill>
            </a:endParaRPr>
          </a:p>
        </p:txBody>
      </p:sp>
      <p:sp>
        <p:nvSpPr>
          <p:cNvPr id="17" name="Shape 13"/>
          <p:cNvSpPr/>
          <p:nvPr/>
        </p:nvSpPr>
        <p:spPr>
          <a:xfrm>
            <a:off x="8183880" y="2331720"/>
            <a:ext cx="3611880" cy="2880360"/>
          </a:xfrm>
          <a:prstGeom prst="roundRect">
            <a:avLst>
              <a:gd name="adj" fmla="val 2857"/>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8" name="Text 14"/>
          <p:cNvSpPr/>
          <p:nvPr/>
        </p:nvSpPr>
        <p:spPr>
          <a:xfrm>
            <a:off x="8439912" y="2487168"/>
            <a:ext cx="1371600" cy="457200"/>
          </a:xfrm>
          <a:prstGeom prst="rect">
            <a:avLst/>
          </a:prstGeom>
          <a:noFill/>
          <a:ln/>
        </p:spPr>
        <p:txBody>
          <a:bodyPr wrap="square" rtlCol="0" anchor="ctr"/>
          <a:lstStyle/>
          <a:p>
            <a:pPr marL="0" indent="0">
              <a:buNone/>
            </a:pPr>
            <a:r>
              <a:rPr lang="en-US" sz="2600" b="1" dirty="0">
                <a:solidFill>
                  <a:srgbClr val="DDE1E8"/>
                </a:solidFill>
                <a:latin typeface="Calibri" pitchFamily="34" charset="0"/>
                <a:ea typeface="Calibri" pitchFamily="34" charset="-122"/>
                <a:cs typeface="Calibri" pitchFamily="34" charset="-120"/>
              </a:rPr>
              <a:t>03</a:t>
            </a:r>
            <a:endParaRPr lang="en-US" sz="2600" dirty="0"/>
          </a:p>
        </p:txBody>
      </p:sp>
      <p:sp>
        <p:nvSpPr>
          <p:cNvPr id="19" name="Shape 15"/>
          <p:cNvSpPr/>
          <p:nvPr/>
        </p:nvSpPr>
        <p:spPr>
          <a:xfrm>
            <a:off x="10899648" y="2487168"/>
            <a:ext cx="640080" cy="640080"/>
          </a:xfrm>
          <a:prstGeom prst="ellipse">
            <a:avLst/>
          </a:prstGeom>
          <a:solidFill>
            <a:srgbClr val="6A1B9A"/>
          </a:solidFill>
          <a:ln/>
        </p:spPr>
        <p:txBody>
          <a:bodyPr/>
          <a:lstStyle/>
          <a:p>
            <a:endParaRPr lang="en-IN"/>
          </a:p>
        </p:txBody>
      </p:sp>
      <p:pic>
        <p:nvPicPr>
          <p:cNvPr id="20" name="Image 2" descr="preencoded.png"/>
          <p:cNvPicPr>
            <a:picLocks noChangeAspect="1"/>
          </p:cNvPicPr>
          <p:nvPr/>
        </p:nvPicPr>
        <p:blipFill>
          <a:blip r:embed="rId5"/>
          <a:stretch>
            <a:fillRect/>
          </a:stretch>
        </p:blipFill>
        <p:spPr>
          <a:xfrm>
            <a:off x="11066069" y="2653589"/>
            <a:ext cx="307238" cy="307238"/>
          </a:xfrm>
          <a:prstGeom prst="rect">
            <a:avLst/>
          </a:prstGeom>
        </p:spPr>
      </p:pic>
      <p:sp>
        <p:nvSpPr>
          <p:cNvPr id="21" name="Text 16"/>
          <p:cNvSpPr/>
          <p:nvPr/>
        </p:nvSpPr>
        <p:spPr>
          <a:xfrm>
            <a:off x="8439912" y="3063240"/>
            <a:ext cx="3099816" cy="365760"/>
          </a:xfrm>
          <a:prstGeom prst="rect">
            <a:avLst/>
          </a:prstGeom>
          <a:noFill/>
          <a:ln/>
        </p:spPr>
        <p:txBody>
          <a:bodyPr wrap="square"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Power BI Delivery</a:t>
            </a:r>
            <a:endParaRPr lang="en-US" sz="1600" dirty="0"/>
          </a:p>
        </p:txBody>
      </p:sp>
      <p:sp>
        <p:nvSpPr>
          <p:cNvPr id="22" name="Text 17"/>
          <p:cNvSpPr/>
          <p:nvPr/>
        </p:nvSpPr>
        <p:spPr>
          <a:xfrm>
            <a:off x="8439912" y="3456432"/>
            <a:ext cx="3099816" cy="1463040"/>
          </a:xfrm>
          <a:prstGeom prst="rect">
            <a:avLst/>
          </a:prstGeom>
          <a:noFill/>
          <a:ln/>
        </p:spPr>
        <p:txBody>
          <a:bodyPr wrap="square" rtlCol="0" anchor="ctr"/>
          <a:lstStyle/>
          <a:p>
            <a:pPr>
              <a:lnSpc>
                <a:spcPct val="130000"/>
              </a:lnSpc>
            </a:pPr>
            <a:r>
              <a:rPr lang="en-IN" sz="1200" dirty="0">
                <a:solidFill>
                  <a:schemeClr val="tx1">
                    <a:lumMod val="65000"/>
                    <a:lumOff val="35000"/>
                  </a:schemeClr>
                </a:solidFill>
              </a:rPr>
              <a:t>Built two interactive Power BI dashboards using Power Query and DAX to visualize business performance and customer insights.</a:t>
            </a:r>
            <a:endParaRPr lang="en-US" sz="1150" dirty="0">
              <a:solidFill>
                <a:schemeClr val="tx1">
                  <a:lumMod val="65000"/>
                  <a:lumOff val="35000"/>
                </a:schemeClr>
              </a:solidFill>
            </a:endParaRPr>
          </a:p>
        </p:txBody>
      </p:sp>
      <p:sp>
        <p:nvSpPr>
          <p:cNvPr id="23" name="Shape 18"/>
          <p:cNvSpPr/>
          <p:nvPr/>
        </p:nvSpPr>
        <p:spPr>
          <a:xfrm>
            <a:off x="502920" y="5440680"/>
            <a:ext cx="5440680" cy="960120"/>
          </a:xfrm>
          <a:prstGeom prst="roundRect">
            <a:avLst>
              <a:gd name="adj" fmla="val 8571"/>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4" name="Shape 19"/>
          <p:cNvSpPr/>
          <p:nvPr/>
        </p:nvSpPr>
        <p:spPr>
          <a:xfrm>
            <a:off x="713232" y="5632704"/>
            <a:ext cx="566928" cy="566928"/>
          </a:xfrm>
          <a:prstGeom prst="ellipse">
            <a:avLst/>
          </a:prstGeom>
          <a:solidFill>
            <a:srgbClr val="C9A227"/>
          </a:solidFill>
          <a:ln/>
        </p:spPr>
        <p:txBody>
          <a:bodyPr/>
          <a:lstStyle/>
          <a:p>
            <a:endParaRPr lang="en-IN"/>
          </a:p>
        </p:txBody>
      </p:sp>
      <p:pic>
        <p:nvPicPr>
          <p:cNvPr id="25" name="Image 3" descr="preencoded.png"/>
          <p:cNvPicPr>
            <a:picLocks noChangeAspect="1"/>
          </p:cNvPicPr>
          <p:nvPr/>
        </p:nvPicPr>
        <p:blipFill>
          <a:blip r:embed="rId6"/>
          <a:stretch>
            <a:fillRect/>
          </a:stretch>
        </p:blipFill>
        <p:spPr>
          <a:xfrm>
            <a:off x="860633" y="5780105"/>
            <a:ext cx="272125" cy="272125"/>
          </a:xfrm>
          <a:prstGeom prst="rect">
            <a:avLst/>
          </a:prstGeom>
        </p:spPr>
      </p:pic>
      <p:sp>
        <p:nvSpPr>
          <p:cNvPr id="26" name="Text 20"/>
          <p:cNvSpPr/>
          <p:nvPr/>
        </p:nvSpPr>
        <p:spPr>
          <a:xfrm>
            <a:off x="1417320" y="5559552"/>
            <a:ext cx="4389120" cy="292608"/>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Executive Overview Dashboard</a:t>
            </a:r>
            <a:endParaRPr lang="en-US" sz="1250" dirty="0"/>
          </a:p>
        </p:txBody>
      </p:sp>
      <p:sp>
        <p:nvSpPr>
          <p:cNvPr id="27" name="Text 21"/>
          <p:cNvSpPr/>
          <p:nvPr/>
        </p:nvSpPr>
        <p:spPr>
          <a:xfrm>
            <a:off x="1417320" y="5852160"/>
            <a:ext cx="4389120" cy="457200"/>
          </a:xfrm>
          <a:prstGeom prst="rect">
            <a:avLst/>
          </a:prstGeom>
          <a:noFill/>
          <a:ln/>
        </p:spPr>
        <p:txBody>
          <a:bodyPr wrap="square" rtlCol="0" anchor="ctr"/>
          <a:lstStyle/>
          <a:p>
            <a:pPr marL="0" indent="0">
              <a:buNone/>
            </a:pPr>
            <a:r>
              <a:rPr lang="en-US" sz="1050" dirty="0">
                <a:solidFill>
                  <a:srgbClr val="8A93A3"/>
                </a:solidFill>
                <a:latin typeface="Calibri" pitchFamily="34" charset="0"/>
                <a:ea typeface="Calibri" pitchFamily="34" charset="-122"/>
                <a:cs typeface="Calibri" pitchFamily="34" charset="-120"/>
              </a:rPr>
              <a:t>High-level performance summary for senior stakeholders</a:t>
            </a:r>
            <a:endParaRPr lang="en-US" sz="1050" dirty="0"/>
          </a:p>
        </p:txBody>
      </p:sp>
      <p:sp>
        <p:nvSpPr>
          <p:cNvPr id="28" name="Shape 22"/>
          <p:cNvSpPr/>
          <p:nvPr/>
        </p:nvSpPr>
        <p:spPr>
          <a:xfrm>
            <a:off x="6217920" y="5440680"/>
            <a:ext cx="5440680" cy="960120"/>
          </a:xfrm>
          <a:prstGeom prst="roundRect">
            <a:avLst>
              <a:gd name="adj" fmla="val 8571"/>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9" name="Shape 23"/>
          <p:cNvSpPr/>
          <p:nvPr/>
        </p:nvSpPr>
        <p:spPr>
          <a:xfrm>
            <a:off x="6428232" y="5632704"/>
            <a:ext cx="566928" cy="566928"/>
          </a:xfrm>
          <a:prstGeom prst="ellipse">
            <a:avLst/>
          </a:prstGeom>
          <a:solidFill>
            <a:srgbClr val="6A1B9A"/>
          </a:solidFill>
          <a:ln/>
        </p:spPr>
        <p:txBody>
          <a:bodyPr/>
          <a:lstStyle/>
          <a:p>
            <a:endParaRPr lang="en-IN"/>
          </a:p>
        </p:txBody>
      </p:sp>
      <p:pic>
        <p:nvPicPr>
          <p:cNvPr id="30" name="Image 4" descr="preencoded.png"/>
          <p:cNvPicPr>
            <a:picLocks noChangeAspect="1"/>
          </p:cNvPicPr>
          <p:nvPr/>
        </p:nvPicPr>
        <p:blipFill>
          <a:blip r:embed="rId7"/>
          <a:stretch>
            <a:fillRect/>
          </a:stretch>
        </p:blipFill>
        <p:spPr>
          <a:xfrm>
            <a:off x="6575633" y="5780105"/>
            <a:ext cx="272125" cy="272125"/>
          </a:xfrm>
          <a:prstGeom prst="rect">
            <a:avLst/>
          </a:prstGeom>
        </p:spPr>
      </p:pic>
      <p:sp>
        <p:nvSpPr>
          <p:cNvPr id="31" name="Text 24"/>
          <p:cNvSpPr/>
          <p:nvPr/>
        </p:nvSpPr>
        <p:spPr>
          <a:xfrm>
            <a:off x="7315200" y="5559552"/>
            <a:ext cx="4206240" cy="292608"/>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Business Insights Dashboard</a:t>
            </a:r>
            <a:endParaRPr lang="en-US" sz="1250" dirty="0"/>
          </a:p>
        </p:txBody>
      </p:sp>
      <p:sp>
        <p:nvSpPr>
          <p:cNvPr id="32" name="Text 25"/>
          <p:cNvSpPr/>
          <p:nvPr/>
        </p:nvSpPr>
        <p:spPr>
          <a:xfrm>
            <a:off x="7315200" y="5852160"/>
            <a:ext cx="4206240" cy="457200"/>
          </a:xfrm>
          <a:prstGeom prst="rect">
            <a:avLst/>
          </a:prstGeom>
          <a:noFill/>
          <a:ln/>
        </p:spPr>
        <p:txBody>
          <a:bodyPr wrap="square" rtlCol="0" anchor="ctr"/>
          <a:lstStyle/>
          <a:p>
            <a:pPr marL="0" indent="0">
              <a:buNone/>
            </a:pPr>
            <a:r>
              <a:rPr lang="en-US" sz="1050" dirty="0">
                <a:solidFill>
                  <a:srgbClr val="8A93A3"/>
                </a:solidFill>
                <a:latin typeface="Calibri" pitchFamily="34" charset="0"/>
                <a:ea typeface="Calibri" pitchFamily="34" charset="-122"/>
                <a:cs typeface="Calibri" pitchFamily="34" charset="-120"/>
              </a:rPr>
              <a:t>Deep-dive exploration for analysts and category managers</a:t>
            </a:r>
            <a:endParaRPr lang="en-US" sz="1050" dirty="0"/>
          </a:p>
        </p:txBody>
      </p:sp>
      <p:sp>
        <p:nvSpPr>
          <p:cNvPr id="33" name="Text 26"/>
          <p:cNvSpPr/>
          <p:nvPr/>
        </p:nvSpPr>
        <p:spPr>
          <a:xfrm>
            <a:off x="502920" y="6547104"/>
            <a:ext cx="6400800" cy="256032"/>
          </a:xfrm>
          <a:prstGeom prst="rect">
            <a:avLst/>
          </a:prstGeom>
          <a:noFill/>
          <a:ln/>
        </p:spPr>
        <p:txBody>
          <a:bodyPr wrap="square" rtlCol="0" anchor="ctr"/>
          <a:lstStyle/>
          <a:p>
            <a:pPr marL="0" indent="0">
              <a:buNone/>
            </a:pPr>
            <a:r>
              <a:rPr lang="en-US" sz="800" kern="0" spc="100" dirty="0">
                <a:solidFill>
                  <a:srgbClr val="8A93A3"/>
                </a:solidFill>
                <a:latin typeface="Calibri" pitchFamily="34" charset="0"/>
                <a:ea typeface="Calibri" pitchFamily="34" charset="-122"/>
                <a:cs typeface="Calibri" pitchFamily="34" charset="-120"/>
              </a:rPr>
              <a:t>CUSTOMER DATA ANALYSIS  |  SQL &amp; POWER BI</a:t>
            </a:r>
            <a:endParaRPr lang="en-US" sz="800" dirty="0"/>
          </a:p>
        </p:txBody>
      </p:sp>
      <p:sp>
        <p:nvSpPr>
          <p:cNvPr id="34" name="Text 27"/>
          <p:cNvSpPr/>
          <p:nvPr/>
        </p:nvSpPr>
        <p:spPr>
          <a:xfrm>
            <a:off x="11064240" y="6547104"/>
            <a:ext cx="640080" cy="256032"/>
          </a:xfrm>
          <a:prstGeom prst="rect">
            <a:avLst/>
          </a:prstGeom>
          <a:noFill/>
          <a:ln/>
        </p:spPr>
        <p:txBody>
          <a:bodyPr wrap="square" rtlCol="0" anchor="ctr"/>
          <a:lstStyle/>
          <a:p>
            <a:pPr marL="0" indent="0" algn="r">
              <a:buNone/>
            </a:pPr>
            <a:r>
              <a:rPr lang="en-US" sz="800" dirty="0">
                <a:solidFill>
                  <a:srgbClr val="8A93A3"/>
                </a:solidFill>
                <a:latin typeface="Calibri" pitchFamily="34" charset="0"/>
                <a:ea typeface="Calibri" pitchFamily="34" charset="-122"/>
                <a:cs typeface="Calibri" pitchFamily="34" charset="-120"/>
              </a:rPr>
              <a:t>03 / 15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56032"/>
          </a:xfrm>
          <a:prstGeom prst="rect">
            <a:avLst/>
          </a:prstGeom>
          <a:noFill/>
          <a:ln/>
        </p:spPr>
        <p:txBody>
          <a:bodyPr wrap="square"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SECTION 03</a:t>
            </a:r>
            <a:endParaRPr lang="en-US" sz="1100" dirty="0"/>
          </a:p>
        </p:txBody>
      </p:sp>
      <p:sp>
        <p:nvSpPr>
          <p:cNvPr id="3" name="Text 1"/>
          <p:cNvSpPr/>
          <p:nvPr/>
        </p:nvSpPr>
        <p:spPr>
          <a:xfrm>
            <a:off x="502920" y="621792"/>
            <a:ext cx="10972800" cy="566928"/>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Business Objectives</a:t>
            </a:r>
            <a:endParaRPr lang="en-US" sz="2800" dirty="0"/>
          </a:p>
        </p:txBody>
      </p:sp>
      <p:sp>
        <p:nvSpPr>
          <p:cNvPr id="4" name="Text 2"/>
          <p:cNvSpPr/>
          <p:nvPr/>
        </p:nvSpPr>
        <p:spPr>
          <a:xfrm>
            <a:off x="502920" y="1371600"/>
            <a:ext cx="10972800" cy="365760"/>
          </a:xfrm>
          <a:prstGeom prst="rect">
            <a:avLst/>
          </a:prstGeom>
          <a:noFill/>
          <a:ln/>
        </p:spPr>
        <p:txBody>
          <a:bodyPr wrap="square" rtlCol="0" anchor="ctr"/>
          <a:lstStyle/>
          <a:p>
            <a:r>
              <a:rPr lang="en-IN" sz="1400" dirty="0">
                <a:solidFill>
                  <a:schemeClr val="tx1">
                    <a:lumMod val="65000"/>
                    <a:lumOff val="35000"/>
                  </a:schemeClr>
                </a:solidFill>
              </a:rPr>
              <a:t>The analysis was designed around seven key business objectives, each addressing an important business decision.</a:t>
            </a:r>
            <a:endParaRPr lang="en-US" sz="1250" dirty="0">
              <a:solidFill>
                <a:schemeClr val="tx1">
                  <a:lumMod val="65000"/>
                  <a:lumOff val="35000"/>
                </a:schemeClr>
              </a:solidFill>
            </a:endParaRPr>
          </a:p>
        </p:txBody>
      </p:sp>
      <p:sp>
        <p:nvSpPr>
          <p:cNvPr id="5" name="Shape 3"/>
          <p:cNvSpPr/>
          <p:nvPr/>
        </p:nvSpPr>
        <p:spPr>
          <a:xfrm>
            <a:off x="502920" y="1965960"/>
            <a:ext cx="2697480" cy="2057400"/>
          </a:xfrm>
          <a:prstGeom prst="roundRect">
            <a:avLst>
              <a:gd name="adj" fmla="val 4000"/>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dirty="0"/>
          </a:p>
        </p:txBody>
      </p:sp>
      <p:sp>
        <p:nvSpPr>
          <p:cNvPr id="6" name="Shape 4"/>
          <p:cNvSpPr/>
          <p:nvPr/>
        </p:nvSpPr>
        <p:spPr>
          <a:xfrm>
            <a:off x="704088" y="2167128"/>
            <a:ext cx="530352" cy="530352"/>
          </a:xfrm>
          <a:prstGeom prst="ellipse">
            <a:avLst/>
          </a:prstGeom>
          <a:solidFill>
            <a:srgbClr val="1F4E79"/>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841980" y="2305020"/>
            <a:ext cx="254569" cy="254569"/>
          </a:xfrm>
          <a:prstGeom prst="rect">
            <a:avLst/>
          </a:prstGeom>
        </p:spPr>
      </p:pic>
      <p:sp>
        <p:nvSpPr>
          <p:cNvPr id="8" name="Text 5"/>
          <p:cNvSpPr/>
          <p:nvPr/>
        </p:nvSpPr>
        <p:spPr>
          <a:xfrm>
            <a:off x="704088" y="2807208"/>
            <a:ext cx="2295144" cy="310896"/>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Gender Analysis</a:t>
            </a:r>
            <a:endParaRPr lang="en-US" sz="1250" dirty="0"/>
          </a:p>
        </p:txBody>
      </p:sp>
      <p:sp>
        <p:nvSpPr>
          <p:cNvPr id="9" name="Text 6"/>
          <p:cNvSpPr/>
          <p:nvPr/>
        </p:nvSpPr>
        <p:spPr>
          <a:xfrm>
            <a:off x="704088" y="3136392"/>
            <a:ext cx="2295144" cy="777240"/>
          </a:xfrm>
          <a:prstGeom prst="rect">
            <a:avLst/>
          </a:prstGeom>
          <a:noFill/>
          <a:ln/>
        </p:spPr>
        <p:txBody>
          <a:bodyPr wrap="square" rtlCol="0" anchor="ctr"/>
          <a:lstStyle/>
          <a:p>
            <a:pPr>
              <a:lnSpc>
                <a:spcPct val="120000"/>
              </a:lnSpc>
            </a:pPr>
            <a:r>
              <a:rPr lang="en-IN" sz="1000" dirty="0">
                <a:solidFill>
                  <a:schemeClr val="tx1">
                    <a:lumMod val="65000"/>
                    <a:lumOff val="35000"/>
                  </a:schemeClr>
                </a:solidFill>
              </a:rPr>
              <a:t>Analyze customer transactions, quantity sold, and revenue contribution by gender.</a:t>
            </a:r>
            <a:endParaRPr lang="en-US" sz="1000" dirty="0">
              <a:solidFill>
                <a:schemeClr val="tx1">
                  <a:lumMod val="65000"/>
                  <a:lumOff val="35000"/>
                </a:schemeClr>
              </a:solidFill>
            </a:endParaRPr>
          </a:p>
        </p:txBody>
      </p:sp>
      <p:sp>
        <p:nvSpPr>
          <p:cNvPr id="10" name="Shape 7"/>
          <p:cNvSpPr/>
          <p:nvPr/>
        </p:nvSpPr>
        <p:spPr>
          <a:xfrm>
            <a:off x="3374136" y="1965960"/>
            <a:ext cx="2697480" cy="2057400"/>
          </a:xfrm>
          <a:prstGeom prst="roundRect">
            <a:avLst>
              <a:gd name="adj" fmla="val 4000"/>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1" name="Shape 8"/>
          <p:cNvSpPr/>
          <p:nvPr/>
        </p:nvSpPr>
        <p:spPr>
          <a:xfrm>
            <a:off x="3575304" y="2167128"/>
            <a:ext cx="530352" cy="530352"/>
          </a:xfrm>
          <a:prstGeom prst="ellipse">
            <a:avLst/>
          </a:prstGeom>
          <a:solidFill>
            <a:srgbClr val="6A1B9A"/>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3713196" y="2305020"/>
            <a:ext cx="254569" cy="254569"/>
          </a:xfrm>
          <a:prstGeom prst="rect">
            <a:avLst/>
          </a:prstGeom>
        </p:spPr>
      </p:pic>
      <p:sp>
        <p:nvSpPr>
          <p:cNvPr id="13" name="Text 9"/>
          <p:cNvSpPr/>
          <p:nvPr/>
        </p:nvSpPr>
        <p:spPr>
          <a:xfrm>
            <a:off x="3575304" y="2807208"/>
            <a:ext cx="2295144" cy="310896"/>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Age Segmentation</a:t>
            </a:r>
            <a:endParaRPr lang="en-US" sz="1250" dirty="0"/>
          </a:p>
        </p:txBody>
      </p:sp>
      <p:sp>
        <p:nvSpPr>
          <p:cNvPr id="14" name="Text 10"/>
          <p:cNvSpPr/>
          <p:nvPr/>
        </p:nvSpPr>
        <p:spPr>
          <a:xfrm>
            <a:off x="3575304" y="3136392"/>
            <a:ext cx="2295144" cy="777240"/>
          </a:xfrm>
          <a:prstGeom prst="rect">
            <a:avLst/>
          </a:prstGeom>
          <a:noFill/>
          <a:ln/>
        </p:spPr>
        <p:txBody>
          <a:bodyPr wrap="square" rtlCol="0" anchor="ctr"/>
          <a:lstStyle/>
          <a:p>
            <a:pPr>
              <a:lnSpc>
                <a:spcPct val="120000"/>
              </a:lnSpc>
            </a:pPr>
            <a:r>
              <a:rPr lang="en-IN" sz="1000" dirty="0">
                <a:solidFill>
                  <a:schemeClr val="tx1">
                    <a:lumMod val="65000"/>
                    <a:lumOff val="35000"/>
                  </a:schemeClr>
                </a:solidFill>
              </a:rPr>
              <a:t>Identify the highest-value customer age groups for targeted marketing and business growth</a:t>
            </a:r>
            <a:r>
              <a:rPr lang="en-IN" sz="1000" dirty="0"/>
              <a:t>.</a:t>
            </a:r>
            <a:endParaRPr lang="en-US" sz="1000" dirty="0"/>
          </a:p>
        </p:txBody>
      </p:sp>
      <p:sp>
        <p:nvSpPr>
          <p:cNvPr id="15" name="Shape 11"/>
          <p:cNvSpPr/>
          <p:nvPr/>
        </p:nvSpPr>
        <p:spPr>
          <a:xfrm>
            <a:off x="6245352" y="1965960"/>
            <a:ext cx="2697480" cy="2057400"/>
          </a:xfrm>
          <a:prstGeom prst="roundRect">
            <a:avLst>
              <a:gd name="adj" fmla="val 4000"/>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6" name="Shape 12"/>
          <p:cNvSpPr/>
          <p:nvPr/>
        </p:nvSpPr>
        <p:spPr>
          <a:xfrm>
            <a:off x="6446520" y="2167128"/>
            <a:ext cx="530352" cy="530352"/>
          </a:xfrm>
          <a:prstGeom prst="ellipse">
            <a:avLst/>
          </a:prstGeom>
          <a:solidFill>
            <a:srgbClr val="2E6DA4"/>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6584412" y="2305020"/>
            <a:ext cx="254569" cy="254569"/>
          </a:xfrm>
          <a:prstGeom prst="rect">
            <a:avLst/>
          </a:prstGeom>
        </p:spPr>
      </p:pic>
      <p:sp>
        <p:nvSpPr>
          <p:cNvPr id="18" name="Text 13"/>
          <p:cNvSpPr/>
          <p:nvPr/>
        </p:nvSpPr>
        <p:spPr>
          <a:xfrm>
            <a:off x="6446520" y="2807208"/>
            <a:ext cx="2295144" cy="310896"/>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Category Targeting</a:t>
            </a:r>
            <a:endParaRPr lang="en-US" sz="1250" dirty="0"/>
          </a:p>
        </p:txBody>
      </p:sp>
      <p:sp>
        <p:nvSpPr>
          <p:cNvPr id="19" name="Text 14"/>
          <p:cNvSpPr/>
          <p:nvPr/>
        </p:nvSpPr>
        <p:spPr>
          <a:xfrm>
            <a:off x="6446520" y="3136392"/>
            <a:ext cx="2295144" cy="777240"/>
          </a:xfrm>
          <a:prstGeom prst="rect">
            <a:avLst/>
          </a:prstGeom>
          <a:noFill/>
          <a:ln/>
        </p:spPr>
        <p:txBody>
          <a:bodyPr wrap="square" rtlCol="0" anchor="ctr"/>
          <a:lstStyle/>
          <a:p>
            <a:pPr>
              <a:lnSpc>
                <a:spcPct val="120000"/>
              </a:lnSpc>
            </a:pPr>
            <a:r>
              <a:rPr lang="en-IN" sz="1000" dirty="0">
                <a:solidFill>
                  <a:schemeClr val="tx1">
                    <a:lumMod val="65000"/>
                    <a:lumOff val="35000"/>
                  </a:schemeClr>
                </a:solidFill>
              </a:rPr>
              <a:t>Identify high-performing product categories across customer segments to improve promotions and inventory planning.</a:t>
            </a:r>
            <a:endParaRPr lang="en-US" sz="1000" dirty="0">
              <a:solidFill>
                <a:schemeClr val="tx1">
                  <a:lumMod val="65000"/>
                  <a:lumOff val="35000"/>
                </a:schemeClr>
              </a:solidFill>
            </a:endParaRPr>
          </a:p>
        </p:txBody>
      </p:sp>
      <p:sp>
        <p:nvSpPr>
          <p:cNvPr id="20" name="Shape 15"/>
          <p:cNvSpPr/>
          <p:nvPr/>
        </p:nvSpPr>
        <p:spPr>
          <a:xfrm>
            <a:off x="9116568" y="1965960"/>
            <a:ext cx="2697480" cy="2057400"/>
          </a:xfrm>
          <a:prstGeom prst="roundRect">
            <a:avLst>
              <a:gd name="adj" fmla="val 4000"/>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1" name="Shape 16"/>
          <p:cNvSpPr/>
          <p:nvPr/>
        </p:nvSpPr>
        <p:spPr>
          <a:xfrm>
            <a:off x="9317736" y="2167128"/>
            <a:ext cx="530352" cy="530352"/>
          </a:xfrm>
          <a:prstGeom prst="ellipse">
            <a:avLst/>
          </a:prstGeom>
          <a:solidFill>
            <a:srgbClr val="8E44AD"/>
          </a:solidFill>
          <a:ln/>
        </p:spPr>
        <p:txBody>
          <a:bodyPr/>
          <a:lstStyle/>
          <a:p>
            <a:endParaRPr lang="en-IN"/>
          </a:p>
        </p:txBody>
      </p:sp>
      <p:pic>
        <p:nvPicPr>
          <p:cNvPr id="22" name="Image 3" descr="preencoded.png"/>
          <p:cNvPicPr>
            <a:picLocks noChangeAspect="1"/>
          </p:cNvPicPr>
          <p:nvPr/>
        </p:nvPicPr>
        <p:blipFill>
          <a:blip r:embed="rId6"/>
          <a:stretch>
            <a:fillRect/>
          </a:stretch>
        </p:blipFill>
        <p:spPr>
          <a:xfrm>
            <a:off x="9455628" y="2305020"/>
            <a:ext cx="254569" cy="254569"/>
          </a:xfrm>
          <a:prstGeom prst="rect">
            <a:avLst/>
          </a:prstGeom>
        </p:spPr>
      </p:pic>
      <p:sp>
        <p:nvSpPr>
          <p:cNvPr id="23" name="Text 17"/>
          <p:cNvSpPr/>
          <p:nvPr/>
        </p:nvSpPr>
        <p:spPr>
          <a:xfrm>
            <a:off x="9317736" y="2807208"/>
            <a:ext cx="2295144" cy="310896"/>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Payment Strategy</a:t>
            </a:r>
            <a:endParaRPr lang="en-US" sz="1250" dirty="0"/>
          </a:p>
        </p:txBody>
      </p:sp>
      <p:sp>
        <p:nvSpPr>
          <p:cNvPr id="24" name="Text 18"/>
          <p:cNvSpPr/>
          <p:nvPr/>
        </p:nvSpPr>
        <p:spPr>
          <a:xfrm>
            <a:off x="9317736" y="3136392"/>
            <a:ext cx="2295144" cy="777240"/>
          </a:xfrm>
          <a:prstGeom prst="rect">
            <a:avLst/>
          </a:prstGeom>
          <a:noFill/>
          <a:ln/>
        </p:spPr>
        <p:txBody>
          <a:bodyPr wrap="square" rtlCol="0" anchor="ctr"/>
          <a:lstStyle/>
          <a:p>
            <a:pPr>
              <a:lnSpc>
                <a:spcPct val="120000"/>
              </a:lnSpc>
            </a:pPr>
            <a:r>
              <a:rPr lang="en-IN" sz="1000" dirty="0">
                <a:solidFill>
                  <a:schemeClr val="tx1">
                    <a:lumMod val="65000"/>
                    <a:lumOff val="35000"/>
                  </a:schemeClr>
                </a:solidFill>
              </a:rPr>
              <a:t>Analyze customer payment preferences to optimize payment options and improve the checkout experience.</a:t>
            </a:r>
            <a:endParaRPr lang="en-US" sz="1000" dirty="0">
              <a:solidFill>
                <a:schemeClr val="tx1">
                  <a:lumMod val="65000"/>
                  <a:lumOff val="35000"/>
                </a:schemeClr>
              </a:solidFill>
            </a:endParaRPr>
          </a:p>
        </p:txBody>
      </p:sp>
      <p:sp>
        <p:nvSpPr>
          <p:cNvPr id="25" name="Shape 19"/>
          <p:cNvSpPr/>
          <p:nvPr/>
        </p:nvSpPr>
        <p:spPr>
          <a:xfrm>
            <a:off x="502920" y="4251960"/>
            <a:ext cx="2697480" cy="2057400"/>
          </a:xfrm>
          <a:prstGeom prst="roundRect">
            <a:avLst>
              <a:gd name="adj" fmla="val 4000"/>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6" name="Shape 20"/>
          <p:cNvSpPr/>
          <p:nvPr/>
        </p:nvSpPr>
        <p:spPr>
          <a:xfrm>
            <a:off x="704088" y="4453128"/>
            <a:ext cx="530352" cy="530352"/>
          </a:xfrm>
          <a:prstGeom prst="ellipse">
            <a:avLst/>
          </a:prstGeom>
          <a:solidFill>
            <a:srgbClr val="1F4E79"/>
          </a:solidFill>
          <a:ln/>
        </p:spPr>
        <p:txBody>
          <a:bodyPr/>
          <a:lstStyle/>
          <a:p>
            <a:endParaRPr lang="en-IN"/>
          </a:p>
        </p:txBody>
      </p:sp>
      <p:pic>
        <p:nvPicPr>
          <p:cNvPr id="27" name="Image 4" descr="preencoded.png"/>
          <p:cNvPicPr>
            <a:picLocks noChangeAspect="1"/>
          </p:cNvPicPr>
          <p:nvPr/>
        </p:nvPicPr>
        <p:blipFill>
          <a:blip r:embed="rId7"/>
          <a:stretch>
            <a:fillRect/>
          </a:stretch>
        </p:blipFill>
        <p:spPr>
          <a:xfrm>
            <a:off x="841980" y="4591020"/>
            <a:ext cx="254569" cy="254569"/>
          </a:xfrm>
          <a:prstGeom prst="rect">
            <a:avLst/>
          </a:prstGeom>
        </p:spPr>
      </p:pic>
      <p:sp>
        <p:nvSpPr>
          <p:cNvPr id="28" name="Text 21"/>
          <p:cNvSpPr/>
          <p:nvPr/>
        </p:nvSpPr>
        <p:spPr>
          <a:xfrm>
            <a:off x="704088" y="5093208"/>
            <a:ext cx="2295144" cy="310896"/>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Location Analysis</a:t>
            </a:r>
            <a:endParaRPr lang="en-US" sz="1250" dirty="0"/>
          </a:p>
        </p:txBody>
      </p:sp>
      <p:sp>
        <p:nvSpPr>
          <p:cNvPr id="29" name="Text 22"/>
          <p:cNvSpPr/>
          <p:nvPr/>
        </p:nvSpPr>
        <p:spPr>
          <a:xfrm>
            <a:off x="704088" y="5422392"/>
            <a:ext cx="2295144" cy="777240"/>
          </a:xfrm>
          <a:prstGeom prst="rect">
            <a:avLst/>
          </a:prstGeom>
          <a:noFill/>
          <a:ln/>
        </p:spPr>
        <p:txBody>
          <a:bodyPr wrap="square" rtlCol="0" anchor="ctr"/>
          <a:lstStyle/>
          <a:p>
            <a:pPr>
              <a:lnSpc>
                <a:spcPct val="120000"/>
              </a:lnSpc>
            </a:pPr>
            <a:r>
              <a:rPr lang="en-IN" sz="1000" dirty="0">
                <a:solidFill>
                  <a:schemeClr val="tx1">
                    <a:lumMod val="65000"/>
                    <a:lumOff val="35000"/>
                  </a:schemeClr>
                </a:solidFill>
              </a:rPr>
              <a:t>Analyze customer transactions, revenue, and sales performance across shopping mall locations.</a:t>
            </a:r>
            <a:endParaRPr lang="en-US" sz="1000" dirty="0">
              <a:solidFill>
                <a:schemeClr val="tx1">
                  <a:lumMod val="65000"/>
                  <a:lumOff val="35000"/>
                </a:schemeClr>
              </a:solidFill>
            </a:endParaRPr>
          </a:p>
        </p:txBody>
      </p:sp>
      <p:sp>
        <p:nvSpPr>
          <p:cNvPr id="30" name="Shape 23"/>
          <p:cNvSpPr/>
          <p:nvPr/>
        </p:nvSpPr>
        <p:spPr>
          <a:xfrm>
            <a:off x="3374136" y="4251960"/>
            <a:ext cx="2697480" cy="2057400"/>
          </a:xfrm>
          <a:prstGeom prst="roundRect">
            <a:avLst>
              <a:gd name="adj" fmla="val 4000"/>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31" name="Shape 24"/>
          <p:cNvSpPr/>
          <p:nvPr/>
        </p:nvSpPr>
        <p:spPr>
          <a:xfrm>
            <a:off x="3575304" y="4453128"/>
            <a:ext cx="530352" cy="530352"/>
          </a:xfrm>
          <a:prstGeom prst="ellipse">
            <a:avLst/>
          </a:prstGeom>
          <a:solidFill>
            <a:srgbClr val="6A1B9A"/>
          </a:solidFill>
          <a:ln/>
        </p:spPr>
        <p:txBody>
          <a:bodyPr/>
          <a:lstStyle/>
          <a:p>
            <a:endParaRPr lang="en-IN"/>
          </a:p>
        </p:txBody>
      </p:sp>
      <p:pic>
        <p:nvPicPr>
          <p:cNvPr id="32" name="Image 5" descr="preencoded.png"/>
          <p:cNvPicPr>
            <a:picLocks noChangeAspect="1"/>
          </p:cNvPicPr>
          <p:nvPr/>
        </p:nvPicPr>
        <p:blipFill>
          <a:blip r:embed="rId8"/>
          <a:stretch>
            <a:fillRect/>
          </a:stretch>
        </p:blipFill>
        <p:spPr>
          <a:xfrm>
            <a:off x="3713196" y="4591020"/>
            <a:ext cx="254569" cy="254569"/>
          </a:xfrm>
          <a:prstGeom prst="rect">
            <a:avLst/>
          </a:prstGeom>
        </p:spPr>
      </p:pic>
      <p:sp>
        <p:nvSpPr>
          <p:cNvPr id="33" name="Text 25"/>
          <p:cNvSpPr/>
          <p:nvPr/>
        </p:nvSpPr>
        <p:spPr>
          <a:xfrm>
            <a:off x="3575304" y="5093208"/>
            <a:ext cx="2295144" cy="310896"/>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Core KPI Tracking</a:t>
            </a:r>
            <a:endParaRPr lang="en-US" sz="1250" dirty="0"/>
          </a:p>
        </p:txBody>
      </p:sp>
      <p:sp>
        <p:nvSpPr>
          <p:cNvPr id="34" name="Text 26"/>
          <p:cNvSpPr/>
          <p:nvPr/>
        </p:nvSpPr>
        <p:spPr>
          <a:xfrm>
            <a:off x="3575304" y="5422392"/>
            <a:ext cx="2295144" cy="777240"/>
          </a:xfrm>
          <a:prstGeom prst="rect">
            <a:avLst/>
          </a:prstGeom>
          <a:noFill/>
          <a:ln/>
        </p:spPr>
        <p:txBody>
          <a:bodyPr wrap="square" rtlCol="0" anchor="ctr"/>
          <a:lstStyle/>
          <a:p>
            <a:r>
              <a:rPr lang="en-IN" sz="1000" dirty="0">
                <a:solidFill>
                  <a:schemeClr val="tx1">
                    <a:lumMod val="65000"/>
                    <a:lumOff val="35000"/>
                  </a:schemeClr>
                </a:solidFill>
              </a:rPr>
              <a:t>Monitor key performance indicators including revenue, average order value, quantity sold, and unit price.</a:t>
            </a:r>
          </a:p>
        </p:txBody>
      </p:sp>
      <p:sp>
        <p:nvSpPr>
          <p:cNvPr id="35" name="Shape 27"/>
          <p:cNvSpPr/>
          <p:nvPr/>
        </p:nvSpPr>
        <p:spPr>
          <a:xfrm>
            <a:off x="6245352" y="4251960"/>
            <a:ext cx="2697480" cy="2057400"/>
          </a:xfrm>
          <a:prstGeom prst="roundRect">
            <a:avLst>
              <a:gd name="adj" fmla="val 4000"/>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36" name="Shape 28"/>
          <p:cNvSpPr/>
          <p:nvPr/>
        </p:nvSpPr>
        <p:spPr>
          <a:xfrm>
            <a:off x="6446520" y="4453128"/>
            <a:ext cx="530352" cy="530352"/>
          </a:xfrm>
          <a:prstGeom prst="ellipse">
            <a:avLst/>
          </a:prstGeom>
          <a:solidFill>
            <a:srgbClr val="2E6DA4"/>
          </a:solidFill>
          <a:ln/>
        </p:spPr>
        <p:txBody>
          <a:bodyPr/>
          <a:lstStyle/>
          <a:p>
            <a:endParaRPr lang="en-IN"/>
          </a:p>
        </p:txBody>
      </p:sp>
      <p:pic>
        <p:nvPicPr>
          <p:cNvPr id="37" name="Image 6" descr="preencoded.png"/>
          <p:cNvPicPr>
            <a:picLocks noChangeAspect="1"/>
          </p:cNvPicPr>
          <p:nvPr/>
        </p:nvPicPr>
        <p:blipFill>
          <a:blip r:embed="rId9"/>
          <a:stretch>
            <a:fillRect/>
          </a:stretch>
        </p:blipFill>
        <p:spPr>
          <a:xfrm>
            <a:off x="6584412" y="4591020"/>
            <a:ext cx="254569" cy="254569"/>
          </a:xfrm>
          <a:prstGeom prst="rect">
            <a:avLst/>
          </a:prstGeom>
        </p:spPr>
      </p:pic>
      <p:sp>
        <p:nvSpPr>
          <p:cNvPr id="38" name="Text 29"/>
          <p:cNvSpPr/>
          <p:nvPr/>
        </p:nvSpPr>
        <p:spPr>
          <a:xfrm>
            <a:off x="6446520" y="5093208"/>
            <a:ext cx="2295144" cy="310896"/>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Self-Service Delivery</a:t>
            </a:r>
            <a:endParaRPr lang="en-US" sz="1250" dirty="0"/>
          </a:p>
        </p:txBody>
      </p:sp>
      <p:sp>
        <p:nvSpPr>
          <p:cNvPr id="39" name="Text 30"/>
          <p:cNvSpPr/>
          <p:nvPr/>
        </p:nvSpPr>
        <p:spPr>
          <a:xfrm>
            <a:off x="6446520" y="5422392"/>
            <a:ext cx="2295144" cy="777240"/>
          </a:xfrm>
          <a:prstGeom prst="rect">
            <a:avLst/>
          </a:prstGeom>
          <a:noFill/>
          <a:ln/>
        </p:spPr>
        <p:txBody>
          <a:bodyPr wrap="square" rtlCol="0" anchor="ctr"/>
          <a:lstStyle/>
          <a:p>
            <a:pPr marL="0" indent="0">
              <a:lnSpc>
                <a:spcPct val="120000"/>
              </a:lnSpc>
              <a:buNone/>
            </a:pPr>
            <a:r>
              <a:rPr lang="en-US" sz="1000" dirty="0">
                <a:solidFill>
                  <a:srgbClr val="48505C"/>
                </a:solidFill>
                <a:latin typeface="Calibri" pitchFamily="34" charset="0"/>
                <a:ea typeface="Calibri" pitchFamily="34" charset="-122"/>
                <a:cs typeface="Calibri" pitchFamily="34" charset="-120"/>
              </a:rPr>
              <a:t>Interactive dashboards for non-technical stakeholders</a:t>
            </a:r>
            <a:endParaRPr lang="en-US" sz="1000" dirty="0"/>
          </a:p>
        </p:txBody>
      </p:sp>
      <p:sp>
        <p:nvSpPr>
          <p:cNvPr id="40" name="Text 31"/>
          <p:cNvSpPr/>
          <p:nvPr/>
        </p:nvSpPr>
        <p:spPr>
          <a:xfrm>
            <a:off x="502920" y="6547104"/>
            <a:ext cx="6400800" cy="256032"/>
          </a:xfrm>
          <a:prstGeom prst="rect">
            <a:avLst/>
          </a:prstGeom>
          <a:noFill/>
          <a:ln/>
        </p:spPr>
        <p:txBody>
          <a:bodyPr wrap="square" rtlCol="0" anchor="ctr"/>
          <a:lstStyle/>
          <a:p>
            <a:pPr marL="0" indent="0">
              <a:buNone/>
            </a:pPr>
            <a:r>
              <a:rPr lang="en-US" sz="800" kern="0" spc="100" dirty="0">
                <a:solidFill>
                  <a:srgbClr val="8A93A3"/>
                </a:solidFill>
                <a:latin typeface="Calibri" pitchFamily="34" charset="0"/>
                <a:ea typeface="Calibri" pitchFamily="34" charset="-122"/>
                <a:cs typeface="Calibri" pitchFamily="34" charset="-120"/>
              </a:rPr>
              <a:t>CUSTOMER DATA ANALYSIS  |  SQL &amp; POWER BI</a:t>
            </a:r>
            <a:endParaRPr lang="en-US" sz="800" dirty="0"/>
          </a:p>
        </p:txBody>
      </p:sp>
      <p:sp>
        <p:nvSpPr>
          <p:cNvPr id="41" name="Text 32"/>
          <p:cNvSpPr/>
          <p:nvPr/>
        </p:nvSpPr>
        <p:spPr>
          <a:xfrm>
            <a:off x="11064240" y="6547104"/>
            <a:ext cx="640080" cy="256032"/>
          </a:xfrm>
          <a:prstGeom prst="rect">
            <a:avLst/>
          </a:prstGeom>
          <a:noFill/>
          <a:ln/>
        </p:spPr>
        <p:txBody>
          <a:bodyPr wrap="square" rtlCol="0" anchor="ctr"/>
          <a:lstStyle/>
          <a:p>
            <a:pPr marL="0" indent="0" algn="r">
              <a:buNone/>
            </a:pPr>
            <a:r>
              <a:rPr lang="en-US" sz="800" dirty="0">
                <a:solidFill>
                  <a:srgbClr val="8A93A3"/>
                </a:solidFill>
                <a:latin typeface="Calibri" pitchFamily="34" charset="0"/>
                <a:ea typeface="Calibri" pitchFamily="34" charset="-122"/>
                <a:cs typeface="Calibri" pitchFamily="34" charset="-120"/>
              </a:rPr>
              <a:t>04 / 15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56032"/>
          </a:xfrm>
          <a:prstGeom prst="rect">
            <a:avLst/>
          </a:prstGeom>
          <a:noFill/>
          <a:ln/>
        </p:spPr>
        <p:txBody>
          <a:bodyPr wrap="square"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SECTION 04</a:t>
            </a:r>
            <a:endParaRPr lang="en-US" sz="1100" dirty="0"/>
          </a:p>
        </p:txBody>
      </p:sp>
      <p:sp>
        <p:nvSpPr>
          <p:cNvPr id="3" name="Text 1"/>
          <p:cNvSpPr/>
          <p:nvPr/>
        </p:nvSpPr>
        <p:spPr>
          <a:xfrm>
            <a:off x="502920" y="621792"/>
            <a:ext cx="10972800" cy="566928"/>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Dataset Overview</a:t>
            </a:r>
            <a:endParaRPr lang="en-US" sz="2800" dirty="0"/>
          </a:p>
        </p:txBody>
      </p:sp>
      <p:sp>
        <p:nvSpPr>
          <p:cNvPr id="4" name="Shape 2"/>
          <p:cNvSpPr/>
          <p:nvPr/>
        </p:nvSpPr>
        <p:spPr>
          <a:xfrm>
            <a:off x="502920" y="1417320"/>
            <a:ext cx="3749040" cy="5074920"/>
          </a:xfrm>
          <a:prstGeom prst="roundRect">
            <a:avLst>
              <a:gd name="adj" fmla="val 2195"/>
            </a:avLst>
          </a:prstGeom>
          <a:solidFill>
            <a:srgbClr val="1F4E79"/>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5" name="Shape 3"/>
          <p:cNvSpPr/>
          <p:nvPr/>
        </p:nvSpPr>
        <p:spPr>
          <a:xfrm>
            <a:off x="822960" y="1664208"/>
            <a:ext cx="658368" cy="658368"/>
          </a:xfrm>
          <a:prstGeom prst="ellipse">
            <a:avLst/>
          </a:prstGeom>
          <a:solidFill>
            <a:srgbClr val="FFFFFF"/>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994136" y="1835384"/>
            <a:ext cx="316017" cy="316017"/>
          </a:xfrm>
          <a:prstGeom prst="rect">
            <a:avLst/>
          </a:prstGeom>
        </p:spPr>
      </p:pic>
      <p:sp>
        <p:nvSpPr>
          <p:cNvPr id="7" name="Text 4"/>
          <p:cNvSpPr/>
          <p:nvPr/>
        </p:nvSpPr>
        <p:spPr>
          <a:xfrm>
            <a:off x="822960" y="2450592"/>
            <a:ext cx="310896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Customer Data Analysis</a:t>
            </a:r>
            <a:endParaRPr lang="en-US" sz="1400" dirty="0"/>
          </a:p>
        </p:txBody>
      </p:sp>
      <p:sp>
        <p:nvSpPr>
          <p:cNvPr id="8" name="Text 5"/>
          <p:cNvSpPr/>
          <p:nvPr/>
        </p:nvSpPr>
        <p:spPr>
          <a:xfrm>
            <a:off x="822960" y="2743200"/>
            <a:ext cx="3108960" cy="274320"/>
          </a:xfrm>
          <a:prstGeom prst="rect">
            <a:avLst/>
          </a:prstGeom>
          <a:noFill/>
          <a:ln/>
        </p:spPr>
        <p:txBody>
          <a:bodyPr wrap="square" rtlCol="0" anchor="ctr"/>
          <a:lstStyle/>
          <a:p>
            <a:pPr marL="0" indent="0">
              <a:buNone/>
            </a:pPr>
            <a:r>
              <a:rPr lang="en-US" sz="1000" dirty="0">
                <a:solidFill>
                  <a:srgbClr val="CFE0F0"/>
                </a:solidFill>
                <a:latin typeface="Calibri" pitchFamily="34" charset="0"/>
                <a:ea typeface="Calibri" pitchFamily="34" charset="-122"/>
                <a:cs typeface="Calibri" pitchFamily="34" charset="-120"/>
              </a:rPr>
              <a:t>MySQL database  •  Single Table: Customer</a:t>
            </a:r>
            <a:endParaRPr lang="en-US" sz="1000" dirty="0"/>
          </a:p>
        </p:txBody>
      </p:sp>
      <p:sp>
        <p:nvSpPr>
          <p:cNvPr id="9" name="Text 6"/>
          <p:cNvSpPr/>
          <p:nvPr/>
        </p:nvSpPr>
        <p:spPr>
          <a:xfrm>
            <a:off x="822960" y="3200400"/>
            <a:ext cx="1188720" cy="457200"/>
          </a:xfrm>
          <a:prstGeom prst="rect">
            <a:avLst/>
          </a:prstGeom>
          <a:noFill/>
          <a:ln/>
        </p:spPr>
        <p:txBody>
          <a:bodyPr wrap="square" rtlCol="0" anchor="ctr"/>
          <a:lstStyle/>
          <a:p>
            <a:pPr marL="0" indent="0">
              <a:buNone/>
            </a:pPr>
            <a:r>
              <a:rPr lang="en-US" sz="2200" b="1" dirty="0">
                <a:solidFill>
                  <a:srgbClr val="C9A227"/>
                </a:solidFill>
                <a:latin typeface="Calibri" pitchFamily="34" charset="0"/>
                <a:ea typeface="Calibri" pitchFamily="34" charset="-122"/>
                <a:cs typeface="Calibri" pitchFamily="34" charset="-120"/>
              </a:rPr>
              <a:t>1,000</a:t>
            </a:r>
            <a:endParaRPr lang="en-US" sz="2200" dirty="0"/>
          </a:p>
        </p:txBody>
      </p:sp>
      <p:sp>
        <p:nvSpPr>
          <p:cNvPr id="10" name="Text 7"/>
          <p:cNvSpPr/>
          <p:nvPr/>
        </p:nvSpPr>
        <p:spPr>
          <a:xfrm>
            <a:off x="2057400" y="3273552"/>
            <a:ext cx="2011680" cy="4572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Transaction Records</a:t>
            </a:r>
            <a:endParaRPr lang="en-US" sz="1000" dirty="0"/>
          </a:p>
        </p:txBody>
      </p:sp>
      <p:sp>
        <p:nvSpPr>
          <p:cNvPr id="11" name="Text 8"/>
          <p:cNvSpPr/>
          <p:nvPr/>
        </p:nvSpPr>
        <p:spPr>
          <a:xfrm>
            <a:off x="822960" y="3767328"/>
            <a:ext cx="1188720" cy="457200"/>
          </a:xfrm>
          <a:prstGeom prst="rect">
            <a:avLst/>
          </a:prstGeom>
          <a:noFill/>
          <a:ln/>
        </p:spPr>
        <p:txBody>
          <a:bodyPr wrap="square" rtlCol="0" anchor="ctr"/>
          <a:lstStyle/>
          <a:p>
            <a:pPr marL="0" indent="0">
              <a:buNone/>
            </a:pPr>
            <a:r>
              <a:rPr lang="en-US" sz="2200" b="1" dirty="0">
                <a:solidFill>
                  <a:srgbClr val="C9A227"/>
                </a:solidFill>
                <a:latin typeface="Calibri" pitchFamily="34" charset="0"/>
                <a:ea typeface="Calibri" pitchFamily="34" charset="-122"/>
                <a:cs typeface="Calibri" pitchFamily="34" charset="-120"/>
              </a:rPr>
              <a:t>10</a:t>
            </a:r>
            <a:endParaRPr lang="en-US" sz="2200" dirty="0"/>
          </a:p>
        </p:txBody>
      </p:sp>
      <p:sp>
        <p:nvSpPr>
          <p:cNvPr id="12" name="Text 9"/>
          <p:cNvSpPr/>
          <p:nvPr/>
        </p:nvSpPr>
        <p:spPr>
          <a:xfrm>
            <a:off x="2057400" y="3840480"/>
            <a:ext cx="2011680" cy="4572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Source Columns</a:t>
            </a:r>
            <a:endParaRPr lang="en-US" sz="1000" dirty="0"/>
          </a:p>
        </p:txBody>
      </p:sp>
      <p:sp>
        <p:nvSpPr>
          <p:cNvPr id="13" name="Text 10"/>
          <p:cNvSpPr/>
          <p:nvPr/>
        </p:nvSpPr>
        <p:spPr>
          <a:xfrm>
            <a:off x="822960" y="4334256"/>
            <a:ext cx="1188720" cy="457200"/>
          </a:xfrm>
          <a:prstGeom prst="rect">
            <a:avLst/>
          </a:prstGeom>
          <a:noFill/>
          <a:ln/>
        </p:spPr>
        <p:txBody>
          <a:bodyPr wrap="square" rtlCol="0" anchor="ctr"/>
          <a:lstStyle/>
          <a:p>
            <a:pPr marL="0" indent="0">
              <a:buNone/>
            </a:pPr>
            <a:r>
              <a:rPr lang="en-US" sz="2200" b="1" dirty="0">
                <a:solidFill>
                  <a:srgbClr val="C9A227"/>
                </a:solidFill>
                <a:latin typeface="Calibri" pitchFamily="34" charset="0"/>
                <a:ea typeface="Calibri" pitchFamily="34" charset="-122"/>
                <a:cs typeface="Calibri" pitchFamily="34" charset="-120"/>
              </a:rPr>
              <a:t>2</a:t>
            </a:r>
            <a:endParaRPr lang="en-US" sz="2200" dirty="0"/>
          </a:p>
        </p:txBody>
      </p:sp>
      <p:sp>
        <p:nvSpPr>
          <p:cNvPr id="14" name="Text 11"/>
          <p:cNvSpPr/>
          <p:nvPr/>
        </p:nvSpPr>
        <p:spPr>
          <a:xfrm>
            <a:off x="2057400" y="4407408"/>
            <a:ext cx="2011680" cy="4572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Calculated Fields</a:t>
            </a:r>
            <a:endParaRPr lang="en-US" sz="1000" dirty="0"/>
          </a:p>
        </p:txBody>
      </p:sp>
      <p:sp>
        <p:nvSpPr>
          <p:cNvPr id="15" name="Text 12"/>
          <p:cNvSpPr/>
          <p:nvPr/>
        </p:nvSpPr>
        <p:spPr>
          <a:xfrm>
            <a:off x="822960" y="4901184"/>
            <a:ext cx="1188720" cy="457200"/>
          </a:xfrm>
          <a:prstGeom prst="rect">
            <a:avLst/>
          </a:prstGeom>
          <a:noFill/>
          <a:ln/>
        </p:spPr>
        <p:txBody>
          <a:bodyPr wrap="square" rtlCol="0" anchor="ctr"/>
          <a:lstStyle/>
          <a:p>
            <a:pPr marL="0" indent="0">
              <a:buNone/>
            </a:pPr>
            <a:r>
              <a:rPr lang="en-US" sz="2200" b="1" dirty="0">
                <a:solidFill>
                  <a:srgbClr val="C9A227"/>
                </a:solidFill>
                <a:latin typeface="Calibri" pitchFamily="34" charset="0"/>
                <a:ea typeface="Calibri" pitchFamily="34" charset="-122"/>
                <a:cs typeface="Calibri" pitchFamily="34" charset="-120"/>
              </a:rPr>
              <a:t>12</a:t>
            </a:r>
            <a:endParaRPr lang="en-US" sz="2200" dirty="0"/>
          </a:p>
        </p:txBody>
      </p:sp>
      <p:sp>
        <p:nvSpPr>
          <p:cNvPr id="16" name="Text 13"/>
          <p:cNvSpPr/>
          <p:nvPr/>
        </p:nvSpPr>
        <p:spPr>
          <a:xfrm>
            <a:off x="2057400" y="4974336"/>
            <a:ext cx="2011680" cy="45720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Total Analysis Fields</a:t>
            </a:r>
            <a:endParaRPr lang="en-US" sz="1000" dirty="0"/>
          </a:p>
        </p:txBody>
      </p:sp>
      <p:sp>
        <p:nvSpPr>
          <p:cNvPr id="17" name="Shape 14"/>
          <p:cNvSpPr/>
          <p:nvPr/>
        </p:nvSpPr>
        <p:spPr>
          <a:xfrm>
            <a:off x="822960" y="5532120"/>
            <a:ext cx="3108960" cy="0"/>
          </a:xfrm>
          <a:prstGeom prst="line">
            <a:avLst/>
          </a:prstGeom>
          <a:noFill/>
          <a:ln w="12700">
            <a:solidFill>
              <a:srgbClr val="3E6A93"/>
            </a:solidFill>
            <a:prstDash val="solid"/>
          </a:ln>
        </p:spPr>
        <p:txBody>
          <a:bodyPr/>
          <a:lstStyle/>
          <a:p>
            <a:endParaRPr lang="en-IN"/>
          </a:p>
        </p:txBody>
      </p:sp>
      <p:sp>
        <p:nvSpPr>
          <p:cNvPr id="18" name="Text 15"/>
          <p:cNvSpPr/>
          <p:nvPr/>
        </p:nvSpPr>
        <p:spPr>
          <a:xfrm>
            <a:off x="822960" y="5623560"/>
            <a:ext cx="3108960" cy="777240"/>
          </a:xfrm>
          <a:prstGeom prst="rect">
            <a:avLst/>
          </a:prstGeom>
          <a:noFill/>
          <a:ln/>
        </p:spPr>
        <p:txBody>
          <a:bodyPr wrap="square" rtlCol="0" anchor="ctr"/>
          <a:lstStyle/>
          <a:p>
            <a:pPr>
              <a:lnSpc>
                <a:spcPct val="120000"/>
              </a:lnSpc>
            </a:pPr>
            <a:r>
              <a:rPr lang="en-IN" sz="900" i="1" dirty="0">
                <a:solidFill>
                  <a:schemeClr val="bg1"/>
                </a:solidFill>
              </a:rPr>
              <a:t>Imported into MySQL, cleaned and validated using SQL, then prepared for visualization in Power BI.</a:t>
            </a:r>
            <a:endParaRPr lang="en-US" sz="900" i="1" dirty="0">
              <a:solidFill>
                <a:schemeClr val="bg1"/>
              </a:solidFill>
            </a:endParaRPr>
          </a:p>
        </p:txBody>
      </p:sp>
      <p:sp>
        <p:nvSpPr>
          <p:cNvPr id="19" name="Shape 16"/>
          <p:cNvSpPr/>
          <p:nvPr/>
        </p:nvSpPr>
        <p:spPr>
          <a:xfrm>
            <a:off x="4526280" y="1417320"/>
            <a:ext cx="3566160" cy="658368"/>
          </a:xfrm>
          <a:prstGeom prst="roundRect">
            <a:avLst>
              <a:gd name="adj" fmla="val 9722"/>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0" name="Text 17"/>
          <p:cNvSpPr/>
          <p:nvPr/>
        </p:nvSpPr>
        <p:spPr>
          <a:xfrm>
            <a:off x="4690872" y="1481328"/>
            <a:ext cx="3236976" cy="256032"/>
          </a:xfrm>
          <a:prstGeom prst="rect">
            <a:avLst/>
          </a:prstGeom>
          <a:noFill/>
          <a:ln/>
        </p:spPr>
        <p:txBody>
          <a:bodyPr wrap="square" rtlCol="0" anchor="ctr"/>
          <a:lstStyle/>
          <a:p>
            <a:pPr marL="0" indent="0">
              <a:buNone/>
            </a:pPr>
            <a:r>
              <a:rPr lang="en-US" sz="1150" b="1" dirty="0">
                <a:solidFill>
                  <a:srgbClr val="1F4E79"/>
                </a:solidFill>
                <a:latin typeface="Courier New" pitchFamily="34" charset="0"/>
                <a:ea typeface="Courier New" pitchFamily="34" charset="-122"/>
                <a:cs typeface="Courier New" pitchFamily="34" charset="-120"/>
              </a:rPr>
              <a:t>invoice_no</a:t>
            </a:r>
            <a:endParaRPr lang="en-US" sz="1150" dirty="0"/>
          </a:p>
        </p:txBody>
      </p:sp>
      <p:sp>
        <p:nvSpPr>
          <p:cNvPr id="21" name="Text 18"/>
          <p:cNvSpPr/>
          <p:nvPr/>
        </p:nvSpPr>
        <p:spPr>
          <a:xfrm>
            <a:off x="4690872" y="1737360"/>
            <a:ext cx="3236976" cy="274320"/>
          </a:xfrm>
          <a:prstGeom prst="rect">
            <a:avLst/>
          </a:prstGeom>
          <a:noFill/>
          <a:ln/>
        </p:spPr>
        <p:txBody>
          <a:bodyPr wrap="square" rtlCol="0" anchor="ctr"/>
          <a:lstStyle/>
          <a:p>
            <a:pPr marL="0" indent="0">
              <a:buNone/>
            </a:pPr>
            <a:r>
              <a:rPr lang="en-US" sz="950" dirty="0">
                <a:solidFill>
                  <a:srgbClr val="8A93A3"/>
                </a:solidFill>
                <a:latin typeface="Calibri" pitchFamily="34" charset="0"/>
                <a:ea typeface="Calibri" pitchFamily="34" charset="-122"/>
                <a:cs typeface="Calibri" pitchFamily="34" charset="-120"/>
              </a:rPr>
              <a:t>Unique transaction identifier</a:t>
            </a:r>
            <a:endParaRPr lang="en-US" sz="950" dirty="0"/>
          </a:p>
        </p:txBody>
      </p:sp>
      <p:sp>
        <p:nvSpPr>
          <p:cNvPr id="22" name="Shape 19"/>
          <p:cNvSpPr/>
          <p:nvPr/>
        </p:nvSpPr>
        <p:spPr>
          <a:xfrm>
            <a:off x="8220456" y="1417320"/>
            <a:ext cx="3566160" cy="658368"/>
          </a:xfrm>
          <a:prstGeom prst="roundRect">
            <a:avLst>
              <a:gd name="adj" fmla="val 9722"/>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3" name="Text 20"/>
          <p:cNvSpPr/>
          <p:nvPr/>
        </p:nvSpPr>
        <p:spPr>
          <a:xfrm>
            <a:off x="8385048" y="1481328"/>
            <a:ext cx="3236976" cy="256032"/>
          </a:xfrm>
          <a:prstGeom prst="rect">
            <a:avLst/>
          </a:prstGeom>
          <a:noFill/>
          <a:ln/>
        </p:spPr>
        <p:txBody>
          <a:bodyPr wrap="square" rtlCol="0" anchor="ctr"/>
          <a:lstStyle/>
          <a:p>
            <a:pPr marL="0" indent="0">
              <a:buNone/>
            </a:pPr>
            <a:r>
              <a:rPr lang="en-US" sz="1150" b="1" dirty="0">
                <a:solidFill>
                  <a:srgbClr val="1F4E79"/>
                </a:solidFill>
                <a:latin typeface="Courier New" pitchFamily="34" charset="0"/>
                <a:ea typeface="Courier New" pitchFamily="34" charset="-122"/>
                <a:cs typeface="Courier New" pitchFamily="34" charset="-120"/>
              </a:rPr>
              <a:t>customer_id</a:t>
            </a:r>
            <a:endParaRPr lang="en-US" sz="1150" dirty="0"/>
          </a:p>
        </p:txBody>
      </p:sp>
      <p:sp>
        <p:nvSpPr>
          <p:cNvPr id="24" name="Text 21"/>
          <p:cNvSpPr/>
          <p:nvPr/>
        </p:nvSpPr>
        <p:spPr>
          <a:xfrm>
            <a:off x="8385048" y="1737360"/>
            <a:ext cx="3236976" cy="274320"/>
          </a:xfrm>
          <a:prstGeom prst="rect">
            <a:avLst/>
          </a:prstGeom>
          <a:noFill/>
          <a:ln/>
        </p:spPr>
        <p:txBody>
          <a:bodyPr wrap="square" rtlCol="0" anchor="ctr"/>
          <a:lstStyle/>
          <a:p>
            <a:pPr marL="0" indent="0">
              <a:buNone/>
            </a:pPr>
            <a:r>
              <a:rPr lang="en-US" sz="950" dirty="0">
                <a:solidFill>
                  <a:srgbClr val="8A93A3"/>
                </a:solidFill>
                <a:latin typeface="Calibri" pitchFamily="34" charset="0"/>
                <a:ea typeface="Calibri" pitchFamily="34" charset="-122"/>
                <a:cs typeface="Calibri" pitchFamily="34" charset="-120"/>
              </a:rPr>
              <a:t>Unique customer identifier</a:t>
            </a:r>
            <a:endParaRPr lang="en-US" sz="950" dirty="0"/>
          </a:p>
        </p:txBody>
      </p:sp>
      <p:sp>
        <p:nvSpPr>
          <p:cNvPr id="25" name="Shape 22"/>
          <p:cNvSpPr/>
          <p:nvPr/>
        </p:nvSpPr>
        <p:spPr>
          <a:xfrm>
            <a:off x="4526280" y="2203704"/>
            <a:ext cx="3566160" cy="658368"/>
          </a:xfrm>
          <a:prstGeom prst="roundRect">
            <a:avLst>
              <a:gd name="adj" fmla="val 9722"/>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6" name="Text 23"/>
          <p:cNvSpPr/>
          <p:nvPr/>
        </p:nvSpPr>
        <p:spPr>
          <a:xfrm>
            <a:off x="4690872" y="2267712"/>
            <a:ext cx="3236976" cy="256032"/>
          </a:xfrm>
          <a:prstGeom prst="rect">
            <a:avLst/>
          </a:prstGeom>
          <a:noFill/>
          <a:ln/>
        </p:spPr>
        <p:txBody>
          <a:bodyPr wrap="square" rtlCol="0" anchor="ctr"/>
          <a:lstStyle/>
          <a:p>
            <a:pPr marL="0" indent="0">
              <a:buNone/>
            </a:pPr>
            <a:r>
              <a:rPr lang="en-US" sz="1150" b="1" dirty="0">
                <a:solidFill>
                  <a:srgbClr val="1F4E79"/>
                </a:solidFill>
                <a:latin typeface="Courier New" pitchFamily="34" charset="0"/>
                <a:ea typeface="Courier New" pitchFamily="34" charset="-122"/>
                <a:cs typeface="Courier New" pitchFamily="34" charset="-120"/>
              </a:rPr>
              <a:t>gender</a:t>
            </a:r>
            <a:endParaRPr lang="en-US" sz="1150" dirty="0"/>
          </a:p>
        </p:txBody>
      </p:sp>
      <p:sp>
        <p:nvSpPr>
          <p:cNvPr id="27" name="Text 24"/>
          <p:cNvSpPr/>
          <p:nvPr/>
        </p:nvSpPr>
        <p:spPr>
          <a:xfrm>
            <a:off x="4690872" y="2523744"/>
            <a:ext cx="3236976" cy="274320"/>
          </a:xfrm>
          <a:prstGeom prst="rect">
            <a:avLst/>
          </a:prstGeom>
          <a:noFill/>
          <a:ln/>
        </p:spPr>
        <p:txBody>
          <a:bodyPr wrap="square" rtlCol="0" anchor="ctr"/>
          <a:lstStyle/>
          <a:p>
            <a:pPr marL="0" indent="0">
              <a:buNone/>
            </a:pPr>
            <a:r>
              <a:rPr lang="en-US" sz="950" dirty="0">
                <a:solidFill>
                  <a:srgbClr val="8A93A3"/>
                </a:solidFill>
                <a:latin typeface="Calibri" pitchFamily="34" charset="0"/>
                <a:ea typeface="Calibri" pitchFamily="34" charset="-122"/>
                <a:cs typeface="Calibri" pitchFamily="34" charset="-120"/>
              </a:rPr>
              <a:t>Female / Male</a:t>
            </a:r>
            <a:endParaRPr lang="en-US" sz="950" dirty="0"/>
          </a:p>
        </p:txBody>
      </p:sp>
      <p:sp>
        <p:nvSpPr>
          <p:cNvPr id="28" name="Shape 25"/>
          <p:cNvSpPr/>
          <p:nvPr/>
        </p:nvSpPr>
        <p:spPr>
          <a:xfrm>
            <a:off x="8220456" y="2203704"/>
            <a:ext cx="3566160" cy="658368"/>
          </a:xfrm>
          <a:prstGeom prst="roundRect">
            <a:avLst>
              <a:gd name="adj" fmla="val 9722"/>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9" name="Text 26"/>
          <p:cNvSpPr/>
          <p:nvPr/>
        </p:nvSpPr>
        <p:spPr>
          <a:xfrm>
            <a:off x="8385048" y="2267712"/>
            <a:ext cx="3236976" cy="256032"/>
          </a:xfrm>
          <a:prstGeom prst="rect">
            <a:avLst/>
          </a:prstGeom>
          <a:noFill/>
          <a:ln/>
        </p:spPr>
        <p:txBody>
          <a:bodyPr wrap="square" rtlCol="0" anchor="ctr"/>
          <a:lstStyle/>
          <a:p>
            <a:pPr marL="0" indent="0">
              <a:buNone/>
            </a:pPr>
            <a:r>
              <a:rPr lang="en-US" sz="1150" b="1" dirty="0">
                <a:solidFill>
                  <a:srgbClr val="1F4E79"/>
                </a:solidFill>
                <a:latin typeface="Courier New" pitchFamily="34" charset="0"/>
                <a:ea typeface="Courier New" pitchFamily="34" charset="-122"/>
                <a:cs typeface="Courier New" pitchFamily="34" charset="-120"/>
              </a:rPr>
              <a:t>age</a:t>
            </a:r>
            <a:endParaRPr lang="en-US" sz="1150" dirty="0"/>
          </a:p>
        </p:txBody>
      </p:sp>
      <p:sp>
        <p:nvSpPr>
          <p:cNvPr id="30" name="Text 27"/>
          <p:cNvSpPr/>
          <p:nvPr/>
        </p:nvSpPr>
        <p:spPr>
          <a:xfrm>
            <a:off x="8385048" y="2523744"/>
            <a:ext cx="3236976" cy="274320"/>
          </a:xfrm>
          <a:prstGeom prst="rect">
            <a:avLst/>
          </a:prstGeom>
          <a:noFill/>
          <a:ln/>
        </p:spPr>
        <p:txBody>
          <a:bodyPr wrap="square" rtlCol="0" anchor="ctr"/>
          <a:lstStyle/>
          <a:p>
            <a:pPr marL="0" indent="0">
              <a:buNone/>
            </a:pPr>
            <a:r>
              <a:rPr lang="en-US" sz="950" dirty="0">
                <a:solidFill>
                  <a:srgbClr val="8A93A3"/>
                </a:solidFill>
                <a:latin typeface="Calibri" pitchFamily="34" charset="0"/>
                <a:ea typeface="Calibri" pitchFamily="34" charset="-122"/>
                <a:cs typeface="Calibri" pitchFamily="34" charset="-120"/>
              </a:rPr>
              <a:t>Customer age (years)</a:t>
            </a:r>
            <a:endParaRPr lang="en-US" sz="950" dirty="0"/>
          </a:p>
        </p:txBody>
      </p:sp>
      <p:sp>
        <p:nvSpPr>
          <p:cNvPr id="31" name="Shape 28"/>
          <p:cNvSpPr/>
          <p:nvPr/>
        </p:nvSpPr>
        <p:spPr>
          <a:xfrm>
            <a:off x="4526280" y="2990088"/>
            <a:ext cx="3566160" cy="658368"/>
          </a:xfrm>
          <a:prstGeom prst="roundRect">
            <a:avLst>
              <a:gd name="adj" fmla="val 9722"/>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32" name="Text 29"/>
          <p:cNvSpPr/>
          <p:nvPr/>
        </p:nvSpPr>
        <p:spPr>
          <a:xfrm>
            <a:off x="4690872" y="3054096"/>
            <a:ext cx="3236976" cy="256032"/>
          </a:xfrm>
          <a:prstGeom prst="rect">
            <a:avLst/>
          </a:prstGeom>
          <a:noFill/>
          <a:ln/>
        </p:spPr>
        <p:txBody>
          <a:bodyPr wrap="square" rtlCol="0" anchor="ctr"/>
          <a:lstStyle/>
          <a:p>
            <a:pPr marL="0" indent="0">
              <a:buNone/>
            </a:pPr>
            <a:r>
              <a:rPr lang="en-US" sz="1150" b="1" dirty="0">
                <a:solidFill>
                  <a:srgbClr val="1F4E79"/>
                </a:solidFill>
                <a:latin typeface="Courier New" pitchFamily="34" charset="0"/>
                <a:ea typeface="Courier New" pitchFamily="34" charset="-122"/>
                <a:cs typeface="Courier New" pitchFamily="34" charset="-120"/>
              </a:rPr>
              <a:t>category</a:t>
            </a:r>
            <a:endParaRPr lang="en-US" sz="1150" dirty="0"/>
          </a:p>
        </p:txBody>
      </p:sp>
      <p:sp>
        <p:nvSpPr>
          <p:cNvPr id="33" name="Text 30"/>
          <p:cNvSpPr/>
          <p:nvPr/>
        </p:nvSpPr>
        <p:spPr>
          <a:xfrm>
            <a:off x="4690872" y="3310128"/>
            <a:ext cx="3236976" cy="274320"/>
          </a:xfrm>
          <a:prstGeom prst="rect">
            <a:avLst/>
          </a:prstGeom>
          <a:noFill/>
          <a:ln/>
        </p:spPr>
        <p:txBody>
          <a:bodyPr wrap="square" rtlCol="0" anchor="ctr"/>
          <a:lstStyle/>
          <a:p>
            <a:pPr marL="0" indent="0">
              <a:buNone/>
            </a:pPr>
            <a:r>
              <a:rPr lang="en-US" sz="950" dirty="0">
                <a:solidFill>
                  <a:srgbClr val="8A93A3"/>
                </a:solidFill>
                <a:latin typeface="Calibri" pitchFamily="34" charset="0"/>
                <a:ea typeface="Calibri" pitchFamily="34" charset="-122"/>
                <a:cs typeface="Calibri" pitchFamily="34" charset="-120"/>
              </a:rPr>
              <a:t>Product category purchased</a:t>
            </a:r>
            <a:endParaRPr lang="en-US" sz="950" dirty="0"/>
          </a:p>
        </p:txBody>
      </p:sp>
      <p:sp>
        <p:nvSpPr>
          <p:cNvPr id="34" name="Shape 31"/>
          <p:cNvSpPr/>
          <p:nvPr/>
        </p:nvSpPr>
        <p:spPr>
          <a:xfrm>
            <a:off x="8220456" y="2990088"/>
            <a:ext cx="3566160" cy="658368"/>
          </a:xfrm>
          <a:prstGeom prst="roundRect">
            <a:avLst>
              <a:gd name="adj" fmla="val 9722"/>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35" name="Text 32"/>
          <p:cNvSpPr/>
          <p:nvPr/>
        </p:nvSpPr>
        <p:spPr>
          <a:xfrm>
            <a:off x="8385048" y="3054096"/>
            <a:ext cx="3236976" cy="256032"/>
          </a:xfrm>
          <a:prstGeom prst="rect">
            <a:avLst/>
          </a:prstGeom>
          <a:noFill/>
          <a:ln/>
        </p:spPr>
        <p:txBody>
          <a:bodyPr wrap="square" rtlCol="0" anchor="ctr"/>
          <a:lstStyle/>
          <a:p>
            <a:pPr marL="0" indent="0">
              <a:buNone/>
            </a:pPr>
            <a:r>
              <a:rPr lang="en-US" sz="1150" b="1" dirty="0">
                <a:solidFill>
                  <a:srgbClr val="1F4E79"/>
                </a:solidFill>
                <a:latin typeface="Courier New" pitchFamily="34" charset="0"/>
                <a:ea typeface="Courier New" pitchFamily="34" charset="-122"/>
                <a:cs typeface="Courier New" pitchFamily="34" charset="-120"/>
              </a:rPr>
              <a:t>quantity</a:t>
            </a:r>
            <a:endParaRPr lang="en-US" sz="1150" dirty="0"/>
          </a:p>
        </p:txBody>
      </p:sp>
      <p:sp>
        <p:nvSpPr>
          <p:cNvPr id="36" name="Text 33"/>
          <p:cNvSpPr/>
          <p:nvPr/>
        </p:nvSpPr>
        <p:spPr>
          <a:xfrm>
            <a:off x="8385048" y="3310128"/>
            <a:ext cx="3236976" cy="274320"/>
          </a:xfrm>
          <a:prstGeom prst="rect">
            <a:avLst/>
          </a:prstGeom>
          <a:noFill/>
          <a:ln/>
        </p:spPr>
        <p:txBody>
          <a:bodyPr wrap="square" rtlCol="0" anchor="ctr"/>
          <a:lstStyle/>
          <a:p>
            <a:pPr marL="0" indent="0">
              <a:buNone/>
            </a:pPr>
            <a:r>
              <a:rPr lang="en-US" sz="950" dirty="0">
                <a:solidFill>
                  <a:srgbClr val="8A93A3"/>
                </a:solidFill>
                <a:latin typeface="Calibri" pitchFamily="34" charset="0"/>
                <a:ea typeface="Calibri" pitchFamily="34" charset="-122"/>
                <a:cs typeface="Calibri" pitchFamily="34" charset="-120"/>
              </a:rPr>
              <a:t>Units purchased</a:t>
            </a:r>
            <a:endParaRPr lang="en-US" sz="950" dirty="0"/>
          </a:p>
        </p:txBody>
      </p:sp>
      <p:sp>
        <p:nvSpPr>
          <p:cNvPr id="37" name="Shape 34"/>
          <p:cNvSpPr/>
          <p:nvPr/>
        </p:nvSpPr>
        <p:spPr>
          <a:xfrm>
            <a:off x="4526280" y="3776472"/>
            <a:ext cx="3566160" cy="658368"/>
          </a:xfrm>
          <a:prstGeom prst="roundRect">
            <a:avLst>
              <a:gd name="adj" fmla="val 9722"/>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38" name="Text 35"/>
          <p:cNvSpPr/>
          <p:nvPr/>
        </p:nvSpPr>
        <p:spPr>
          <a:xfrm>
            <a:off x="4690872" y="3840480"/>
            <a:ext cx="3236976" cy="256032"/>
          </a:xfrm>
          <a:prstGeom prst="rect">
            <a:avLst/>
          </a:prstGeom>
          <a:noFill/>
          <a:ln/>
        </p:spPr>
        <p:txBody>
          <a:bodyPr wrap="square" rtlCol="0" anchor="ctr"/>
          <a:lstStyle/>
          <a:p>
            <a:pPr marL="0" indent="0">
              <a:buNone/>
            </a:pPr>
            <a:r>
              <a:rPr lang="en-US" sz="1150" b="1" dirty="0">
                <a:solidFill>
                  <a:srgbClr val="1F4E79"/>
                </a:solidFill>
                <a:latin typeface="Courier New" pitchFamily="34" charset="0"/>
                <a:ea typeface="Courier New" pitchFamily="34" charset="-122"/>
                <a:cs typeface="Courier New" pitchFamily="34" charset="-120"/>
              </a:rPr>
              <a:t>price</a:t>
            </a:r>
            <a:endParaRPr lang="en-US" sz="1150" dirty="0"/>
          </a:p>
        </p:txBody>
      </p:sp>
      <p:sp>
        <p:nvSpPr>
          <p:cNvPr id="39" name="Text 36"/>
          <p:cNvSpPr/>
          <p:nvPr/>
        </p:nvSpPr>
        <p:spPr>
          <a:xfrm>
            <a:off x="4690872" y="4096512"/>
            <a:ext cx="3236976" cy="274320"/>
          </a:xfrm>
          <a:prstGeom prst="rect">
            <a:avLst/>
          </a:prstGeom>
          <a:noFill/>
          <a:ln/>
        </p:spPr>
        <p:txBody>
          <a:bodyPr wrap="square" rtlCol="0" anchor="ctr"/>
          <a:lstStyle/>
          <a:p>
            <a:pPr marL="0" indent="0">
              <a:buNone/>
            </a:pPr>
            <a:r>
              <a:rPr lang="en-US" sz="950" dirty="0">
                <a:solidFill>
                  <a:srgbClr val="8A93A3"/>
                </a:solidFill>
                <a:latin typeface="Calibri" pitchFamily="34" charset="0"/>
                <a:ea typeface="Calibri" pitchFamily="34" charset="-122"/>
                <a:cs typeface="Calibri" pitchFamily="34" charset="-120"/>
              </a:rPr>
              <a:t>Unit price</a:t>
            </a:r>
            <a:endParaRPr lang="en-US" sz="950" dirty="0"/>
          </a:p>
        </p:txBody>
      </p:sp>
      <p:sp>
        <p:nvSpPr>
          <p:cNvPr id="40" name="Shape 37"/>
          <p:cNvSpPr/>
          <p:nvPr/>
        </p:nvSpPr>
        <p:spPr>
          <a:xfrm>
            <a:off x="8220456" y="3776472"/>
            <a:ext cx="3566160" cy="658368"/>
          </a:xfrm>
          <a:prstGeom prst="roundRect">
            <a:avLst>
              <a:gd name="adj" fmla="val 9722"/>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41" name="Text 38"/>
          <p:cNvSpPr/>
          <p:nvPr/>
        </p:nvSpPr>
        <p:spPr>
          <a:xfrm>
            <a:off x="8385048" y="3840480"/>
            <a:ext cx="3236976" cy="256032"/>
          </a:xfrm>
          <a:prstGeom prst="rect">
            <a:avLst/>
          </a:prstGeom>
          <a:noFill/>
          <a:ln/>
        </p:spPr>
        <p:txBody>
          <a:bodyPr wrap="square" rtlCol="0" anchor="ctr"/>
          <a:lstStyle/>
          <a:p>
            <a:pPr marL="0" indent="0">
              <a:buNone/>
            </a:pPr>
            <a:r>
              <a:rPr lang="en-US" sz="1150" b="1" dirty="0">
                <a:solidFill>
                  <a:srgbClr val="1F4E79"/>
                </a:solidFill>
                <a:latin typeface="Courier New" pitchFamily="34" charset="0"/>
                <a:ea typeface="Courier New" pitchFamily="34" charset="-122"/>
                <a:cs typeface="Courier New" pitchFamily="34" charset="-120"/>
              </a:rPr>
              <a:t>payment_method</a:t>
            </a:r>
            <a:endParaRPr lang="en-US" sz="1150" dirty="0"/>
          </a:p>
        </p:txBody>
      </p:sp>
      <p:sp>
        <p:nvSpPr>
          <p:cNvPr id="42" name="Text 39"/>
          <p:cNvSpPr/>
          <p:nvPr/>
        </p:nvSpPr>
        <p:spPr>
          <a:xfrm>
            <a:off x="8385048" y="4096512"/>
            <a:ext cx="3236976" cy="274320"/>
          </a:xfrm>
          <a:prstGeom prst="rect">
            <a:avLst/>
          </a:prstGeom>
          <a:noFill/>
          <a:ln/>
        </p:spPr>
        <p:txBody>
          <a:bodyPr wrap="square" rtlCol="0" anchor="ctr"/>
          <a:lstStyle/>
          <a:p>
            <a:pPr marL="0" indent="0">
              <a:buNone/>
            </a:pPr>
            <a:r>
              <a:rPr lang="en-US" sz="950" dirty="0">
                <a:solidFill>
                  <a:srgbClr val="8A93A3"/>
                </a:solidFill>
                <a:latin typeface="Calibri" pitchFamily="34" charset="0"/>
                <a:ea typeface="Calibri" pitchFamily="34" charset="-122"/>
                <a:cs typeface="Calibri" pitchFamily="34" charset="-120"/>
              </a:rPr>
              <a:t>Cash / Credit / Debit</a:t>
            </a:r>
            <a:endParaRPr lang="en-US" sz="950" dirty="0"/>
          </a:p>
        </p:txBody>
      </p:sp>
      <p:sp>
        <p:nvSpPr>
          <p:cNvPr id="43" name="Shape 40"/>
          <p:cNvSpPr/>
          <p:nvPr/>
        </p:nvSpPr>
        <p:spPr>
          <a:xfrm>
            <a:off x="4526280" y="4562856"/>
            <a:ext cx="3566160" cy="658368"/>
          </a:xfrm>
          <a:prstGeom prst="roundRect">
            <a:avLst>
              <a:gd name="adj" fmla="val 9722"/>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44" name="Text 41"/>
          <p:cNvSpPr/>
          <p:nvPr/>
        </p:nvSpPr>
        <p:spPr>
          <a:xfrm>
            <a:off x="4690872" y="4626864"/>
            <a:ext cx="3236976" cy="256032"/>
          </a:xfrm>
          <a:prstGeom prst="rect">
            <a:avLst/>
          </a:prstGeom>
          <a:noFill/>
          <a:ln/>
        </p:spPr>
        <p:txBody>
          <a:bodyPr wrap="square" rtlCol="0" anchor="ctr"/>
          <a:lstStyle/>
          <a:p>
            <a:pPr marL="0" indent="0">
              <a:buNone/>
            </a:pPr>
            <a:r>
              <a:rPr lang="en-US" sz="1150" b="1" dirty="0">
                <a:solidFill>
                  <a:srgbClr val="1F4E79"/>
                </a:solidFill>
                <a:latin typeface="Courier New" pitchFamily="34" charset="0"/>
                <a:ea typeface="Courier New" pitchFamily="34" charset="-122"/>
                <a:cs typeface="Courier New" pitchFamily="34" charset="-120"/>
              </a:rPr>
              <a:t>invoice_date</a:t>
            </a:r>
            <a:endParaRPr lang="en-US" sz="1150" dirty="0"/>
          </a:p>
        </p:txBody>
      </p:sp>
      <p:sp>
        <p:nvSpPr>
          <p:cNvPr id="45" name="Text 42"/>
          <p:cNvSpPr/>
          <p:nvPr/>
        </p:nvSpPr>
        <p:spPr>
          <a:xfrm>
            <a:off x="4690872" y="4882896"/>
            <a:ext cx="3236976" cy="274320"/>
          </a:xfrm>
          <a:prstGeom prst="rect">
            <a:avLst/>
          </a:prstGeom>
          <a:noFill/>
          <a:ln/>
        </p:spPr>
        <p:txBody>
          <a:bodyPr wrap="square" rtlCol="0" anchor="ctr"/>
          <a:lstStyle/>
          <a:p>
            <a:pPr marL="0" indent="0">
              <a:buNone/>
            </a:pPr>
            <a:r>
              <a:rPr lang="en-US" sz="950" dirty="0">
                <a:solidFill>
                  <a:srgbClr val="8A93A3"/>
                </a:solidFill>
                <a:latin typeface="Calibri" pitchFamily="34" charset="0"/>
                <a:ea typeface="Calibri" pitchFamily="34" charset="-122"/>
                <a:cs typeface="Calibri" pitchFamily="34" charset="-120"/>
              </a:rPr>
              <a:t>Transaction date</a:t>
            </a:r>
            <a:endParaRPr lang="en-US" sz="950" dirty="0"/>
          </a:p>
        </p:txBody>
      </p:sp>
      <p:sp>
        <p:nvSpPr>
          <p:cNvPr id="46" name="Shape 43"/>
          <p:cNvSpPr/>
          <p:nvPr/>
        </p:nvSpPr>
        <p:spPr>
          <a:xfrm>
            <a:off x="8220456" y="4562856"/>
            <a:ext cx="3566160" cy="658368"/>
          </a:xfrm>
          <a:prstGeom prst="roundRect">
            <a:avLst>
              <a:gd name="adj" fmla="val 9722"/>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47" name="Text 44"/>
          <p:cNvSpPr/>
          <p:nvPr/>
        </p:nvSpPr>
        <p:spPr>
          <a:xfrm>
            <a:off x="8385048" y="4626864"/>
            <a:ext cx="3236976" cy="256032"/>
          </a:xfrm>
          <a:prstGeom prst="rect">
            <a:avLst/>
          </a:prstGeom>
          <a:noFill/>
          <a:ln/>
        </p:spPr>
        <p:txBody>
          <a:bodyPr wrap="square" rtlCol="0" anchor="ctr"/>
          <a:lstStyle/>
          <a:p>
            <a:pPr marL="0" indent="0">
              <a:buNone/>
            </a:pPr>
            <a:r>
              <a:rPr lang="en-US" sz="1150" b="1" dirty="0">
                <a:solidFill>
                  <a:srgbClr val="1F4E79"/>
                </a:solidFill>
                <a:latin typeface="Courier New" pitchFamily="34" charset="0"/>
                <a:ea typeface="Courier New" pitchFamily="34" charset="-122"/>
                <a:cs typeface="Courier New" pitchFamily="34" charset="-120"/>
              </a:rPr>
              <a:t>shopping_mall</a:t>
            </a:r>
            <a:endParaRPr lang="en-US" sz="1150" dirty="0"/>
          </a:p>
        </p:txBody>
      </p:sp>
      <p:sp>
        <p:nvSpPr>
          <p:cNvPr id="48" name="Text 45"/>
          <p:cNvSpPr/>
          <p:nvPr/>
        </p:nvSpPr>
        <p:spPr>
          <a:xfrm>
            <a:off x="8385048" y="4882896"/>
            <a:ext cx="3236976" cy="274320"/>
          </a:xfrm>
          <a:prstGeom prst="rect">
            <a:avLst/>
          </a:prstGeom>
          <a:noFill/>
          <a:ln/>
        </p:spPr>
        <p:txBody>
          <a:bodyPr wrap="square" rtlCol="0" anchor="ctr"/>
          <a:lstStyle/>
          <a:p>
            <a:pPr marL="0" indent="0">
              <a:buNone/>
            </a:pPr>
            <a:r>
              <a:rPr lang="en-US" sz="950" dirty="0">
                <a:solidFill>
                  <a:srgbClr val="8A93A3"/>
                </a:solidFill>
                <a:latin typeface="Calibri" pitchFamily="34" charset="0"/>
                <a:ea typeface="Calibri" pitchFamily="34" charset="-122"/>
                <a:cs typeface="Calibri" pitchFamily="34" charset="-120"/>
              </a:rPr>
              <a:t>Shopping mall location</a:t>
            </a:r>
            <a:endParaRPr lang="en-US" sz="950" dirty="0"/>
          </a:p>
        </p:txBody>
      </p:sp>
      <p:sp>
        <p:nvSpPr>
          <p:cNvPr id="49" name="Shape 46"/>
          <p:cNvSpPr/>
          <p:nvPr/>
        </p:nvSpPr>
        <p:spPr>
          <a:xfrm>
            <a:off x="4526280" y="5349240"/>
            <a:ext cx="3566160" cy="658368"/>
          </a:xfrm>
          <a:prstGeom prst="roundRect">
            <a:avLst>
              <a:gd name="adj" fmla="val 9722"/>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50" name="Text 47"/>
          <p:cNvSpPr/>
          <p:nvPr/>
        </p:nvSpPr>
        <p:spPr>
          <a:xfrm>
            <a:off x="4690872" y="5413248"/>
            <a:ext cx="3236976" cy="256032"/>
          </a:xfrm>
          <a:prstGeom prst="rect">
            <a:avLst/>
          </a:prstGeom>
          <a:noFill/>
          <a:ln/>
        </p:spPr>
        <p:txBody>
          <a:bodyPr wrap="square" rtlCol="0" anchor="ctr"/>
          <a:lstStyle/>
          <a:p>
            <a:pPr marL="0" indent="0">
              <a:buNone/>
            </a:pPr>
            <a:r>
              <a:rPr lang="en-US" sz="1150" b="1" dirty="0">
                <a:solidFill>
                  <a:srgbClr val="1F4E79"/>
                </a:solidFill>
                <a:latin typeface="Courier New" pitchFamily="34" charset="0"/>
                <a:ea typeface="Courier New" pitchFamily="34" charset="-122"/>
                <a:cs typeface="Courier New" pitchFamily="34" charset="-120"/>
              </a:rPr>
              <a:t>revenue*</a:t>
            </a:r>
            <a:endParaRPr lang="en-US" sz="1150" dirty="0"/>
          </a:p>
        </p:txBody>
      </p:sp>
      <p:sp>
        <p:nvSpPr>
          <p:cNvPr id="51" name="Text 48"/>
          <p:cNvSpPr/>
          <p:nvPr/>
        </p:nvSpPr>
        <p:spPr>
          <a:xfrm>
            <a:off x="4690872" y="5669280"/>
            <a:ext cx="3236976" cy="274320"/>
          </a:xfrm>
          <a:prstGeom prst="rect">
            <a:avLst/>
          </a:prstGeom>
          <a:noFill/>
          <a:ln/>
        </p:spPr>
        <p:txBody>
          <a:bodyPr wrap="square" rtlCol="0" anchor="ctr"/>
          <a:lstStyle/>
          <a:p>
            <a:pPr marL="0" indent="0">
              <a:buNone/>
            </a:pPr>
            <a:r>
              <a:rPr lang="en-US" sz="950" dirty="0">
                <a:solidFill>
                  <a:srgbClr val="8A93A3"/>
                </a:solidFill>
                <a:latin typeface="Calibri" pitchFamily="34" charset="0"/>
                <a:ea typeface="Calibri" pitchFamily="34" charset="-122"/>
                <a:cs typeface="Calibri" pitchFamily="34" charset="-120"/>
              </a:rPr>
              <a:t>Derived as Quantity × Price</a:t>
            </a:r>
            <a:endParaRPr lang="en-US" sz="950" dirty="0"/>
          </a:p>
        </p:txBody>
      </p:sp>
      <p:sp>
        <p:nvSpPr>
          <p:cNvPr id="52" name="Shape 49"/>
          <p:cNvSpPr/>
          <p:nvPr/>
        </p:nvSpPr>
        <p:spPr>
          <a:xfrm>
            <a:off x="8220456" y="5349240"/>
            <a:ext cx="3566160" cy="658368"/>
          </a:xfrm>
          <a:prstGeom prst="roundRect">
            <a:avLst>
              <a:gd name="adj" fmla="val 9722"/>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53" name="Text 50"/>
          <p:cNvSpPr/>
          <p:nvPr/>
        </p:nvSpPr>
        <p:spPr>
          <a:xfrm>
            <a:off x="8385048" y="5413248"/>
            <a:ext cx="3236976" cy="256032"/>
          </a:xfrm>
          <a:prstGeom prst="rect">
            <a:avLst/>
          </a:prstGeom>
          <a:noFill/>
          <a:ln/>
        </p:spPr>
        <p:txBody>
          <a:bodyPr wrap="square" rtlCol="0" anchor="ctr"/>
          <a:lstStyle/>
          <a:p>
            <a:pPr marL="0" indent="0">
              <a:buNone/>
            </a:pPr>
            <a:r>
              <a:rPr lang="en-US" sz="1150" b="1" dirty="0">
                <a:solidFill>
                  <a:srgbClr val="1F4E79"/>
                </a:solidFill>
                <a:latin typeface="Courier New" pitchFamily="34" charset="0"/>
                <a:ea typeface="Courier New" pitchFamily="34" charset="-122"/>
                <a:cs typeface="Courier New" pitchFamily="34" charset="-120"/>
              </a:rPr>
              <a:t>age_group*</a:t>
            </a:r>
            <a:endParaRPr lang="en-US" sz="1150" dirty="0"/>
          </a:p>
        </p:txBody>
      </p:sp>
      <p:sp>
        <p:nvSpPr>
          <p:cNvPr id="54" name="Text 51"/>
          <p:cNvSpPr/>
          <p:nvPr/>
        </p:nvSpPr>
        <p:spPr>
          <a:xfrm>
            <a:off x="8385048" y="5669280"/>
            <a:ext cx="3236976" cy="274320"/>
          </a:xfrm>
          <a:prstGeom prst="rect">
            <a:avLst/>
          </a:prstGeom>
          <a:noFill/>
          <a:ln/>
        </p:spPr>
        <p:txBody>
          <a:bodyPr wrap="square" rtlCol="0" anchor="ctr"/>
          <a:lstStyle/>
          <a:p>
            <a:pPr marL="0" indent="0">
              <a:buNone/>
            </a:pPr>
            <a:r>
              <a:rPr lang="en-US" sz="950" dirty="0">
                <a:solidFill>
                  <a:srgbClr val="8A93A3"/>
                </a:solidFill>
                <a:latin typeface="Calibri" pitchFamily="34" charset="0"/>
                <a:ea typeface="Calibri" pitchFamily="34" charset="-122"/>
                <a:cs typeface="Calibri" pitchFamily="34" charset="-120"/>
              </a:rPr>
              <a:t>Teen, 20 - 30, 30 – 40, 40 – 50, 50+</a:t>
            </a:r>
            <a:endParaRPr lang="en-US" sz="950" dirty="0"/>
          </a:p>
        </p:txBody>
      </p:sp>
      <p:sp>
        <p:nvSpPr>
          <p:cNvPr id="55" name="Text 52"/>
          <p:cNvSpPr/>
          <p:nvPr/>
        </p:nvSpPr>
        <p:spPr>
          <a:xfrm>
            <a:off x="4526280" y="6355080"/>
            <a:ext cx="4572000" cy="274320"/>
          </a:xfrm>
          <a:prstGeom prst="rect">
            <a:avLst/>
          </a:prstGeom>
          <a:noFill/>
          <a:ln/>
        </p:spPr>
        <p:txBody>
          <a:bodyPr wrap="square" rtlCol="0" anchor="ctr"/>
          <a:lstStyle/>
          <a:p>
            <a:pPr marL="0" indent="0">
              <a:buNone/>
            </a:pPr>
            <a:r>
              <a:rPr lang="en-US" sz="900" b="1" i="1" dirty="0">
                <a:solidFill>
                  <a:srgbClr val="8A93A3"/>
                </a:solidFill>
                <a:latin typeface="Calibri" pitchFamily="34" charset="0"/>
                <a:ea typeface="Calibri" pitchFamily="34" charset="-122"/>
                <a:cs typeface="Calibri" pitchFamily="34" charset="-120"/>
              </a:rPr>
              <a:t>* engineered in SQL during data preparation</a:t>
            </a:r>
            <a:endParaRPr lang="en-US" sz="900" b="1" dirty="0"/>
          </a:p>
        </p:txBody>
      </p:sp>
      <p:sp>
        <p:nvSpPr>
          <p:cNvPr id="56" name="Text 53"/>
          <p:cNvSpPr/>
          <p:nvPr/>
        </p:nvSpPr>
        <p:spPr>
          <a:xfrm>
            <a:off x="502920" y="6547104"/>
            <a:ext cx="6400800" cy="256032"/>
          </a:xfrm>
          <a:prstGeom prst="rect">
            <a:avLst/>
          </a:prstGeom>
          <a:noFill/>
          <a:ln/>
        </p:spPr>
        <p:txBody>
          <a:bodyPr wrap="square" rtlCol="0" anchor="ctr"/>
          <a:lstStyle/>
          <a:p>
            <a:pPr marL="0" indent="0">
              <a:buNone/>
            </a:pPr>
            <a:r>
              <a:rPr lang="en-US" sz="800" kern="0" spc="100" dirty="0">
                <a:solidFill>
                  <a:srgbClr val="8A93A3"/>
                </a:solidFill>
                <a:latin typeface="Calibri" pitchFamily="34" charset="0"/>
                <a:ea typeface="Calibri" pitchFamily="34" charset="-122"/>
                <a:cs typeface="Calibri" pitchFamily="34" charset="-120"/>
              </a:rPr>
              <a:t>CUSTOMER DATA ANALYSIS  |  SQL &amp; POWER BI</a:t>
            </a:r>
            <a:endParaRPr lang="en-US" sz="800" dirty="0"/>
          </a:p>
        </p:txBody>
      </p:sp>
      <p:sp>
        <p:nvSpPr>
          <p:cNvPr id="57" name="Text 54"/>
          <p:cNvSpPr/>
          <p:nvPr/>
        </p:nvSpPr>
        <p:spPr>
          <a:xfrm>
            <a:off x="11064240" y="6547104"/>
            <a:ext cx="640080" cy="256032"/>
          </a:xfrm>
          <a:prstGeom prst="rect">
            <a:avLst/>
          </a:prstGeom>
          <a:noFill/>
          <a:ln/>
        </p:spPr>
        <p:txBody>
          <a:bodyPr wrap="square" rtlCol="0" anchor="ctr"/>
          <a:lstStyle/>
          <a:p>
            <a:pPr marL="0" indent="0" algn="r">
              <a:buNone/>
            </a:pPr>
            <a:r>
              <a:rPr lang="en-US" sz="800" dirty="0">
                <a:solidFill>
                  <a:srgbClr val="8A93A3"/>
                </a:solidFill>
                <a:latin typeface="Calibri" pitchFamily="34" charset="0"/>
                <a:ea typeface="Calibri" pitchFamily="34" charset="-122"/>
                <a:cs typeface="Calibri" pitchFamily="34" charset="-120"/>
              </a:rPr>
              <a:t>05 / 15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56032"/>
          </a:xfrm>
          <a:prstGeom prst="rect">
            <a:avLst/>
          </a:prstGeom>
          <a:noFill/>
          <a:ln/>
        </p:spPr>
        <p:txBody>
          <a:bodyPr wrap="square"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SECTION 05</a:t>
            </a:r>
            <a:endParaRPr lang="en-US" sz="1100" dirty="0"/>
          </a:p>
        </p:txBody>
      </p:sp>
      <p:sp>
        <p:nvSpPr>
          <p:cNvPr id="3" name="Text 1"/>
          <p:cNvSpPr/>
          <p:nvPr/>
        </p:nvSpPr>
        <p:spPr>
          <a:xfrm>
            <a:off x="502920" y="621792"/>
            <a:ext cx="10972800" cy="566928"/>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Data Analysis Workflow</a:t>
            </a:r>
            <a:endParaRPr lang="en-US" sz="2800" dirty="0"/>
          </a:p>
        </p:txBody>
      </p:sp>
      <p:sp>
        <p:nvSpPr>
          <p:cNvPr id="4" name="Text 2"/>
          <p:cNvSpPr/>
          <p:nvPr/>
        </p:nvSpPr>
        <p:spPr>
          <a:xfrm>
            <a:off x="502920" y="1371600"/>
            <a:ext cx="10972800" cy="320040"/>
          </a:xfrm>
          <a:prstGeom prst="rect">
            <a:avLst/>
          </a:prstGeom>
          <a:noFill/>
          <a:ln/>
        </p:spPr>
        <p:txBody>
          <a:bodyPr wrap="square" rtlCol="0" anchor="ctr"/>
          <a:lstStyle/>
          <a:p>
            <a:r>
              <a:rPr lang="en-IN" sz="1400" dirty="0">
                <a:solidFill>
                  <a:schemeClr val="tx1">
                    <a:lumMod val="75000"/>
                    <a:lumOff val="25000"/>
                  </a:schemeClr>
                </a:solidFill>
              </a:rPr>
              <a:t>A structured analytics workflow transforms raw CSV data into actionable business insights and interactive Power BI dashboards.</a:t>
            </a:r>
            <a:endParaRPr lang="en-US" sz="1250" dirty="0">
              <a:solidFill>
                <a:schemeClr val="tx1">
                  <a:lumMod val="75000"/>
                  <a:lumOff val="25000"/>
                </a:schemeClr>
              </a:solidFill>
            </a:endParaRPr>
          </a:p>
        </p:txBody>
      </p:sp>
      <p:sp>
        <p:nvSpPr>
          <p:cNvPr id="5" name="Shape 3"/>
          <p:cNvSpPr/>
          <p:nvPr/>
        </p:nvSpPr>
        <p:spPr>
          <a:xfrm>
            <a:off x="502920" y="2148840"/>
            <a:ext cx="1755648" cy="1417320"/>
          </a:xfrm>
          <a:prstGeom prst="roundRect">
            <a:avLst>
              <a:gd name="adj" fmla="val 516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6" name="Shape 4"/>
          <p:cNvSpPr/>
          <p:nvPr/>
        </p:nvSpPr>
        <p:spPr>
          <a:xfrm>
            <a:off x="1088136" y="2331720"/>
            <a:ext cx="585216" cy="585216"/>
          </a:xfrm>
          <a:prstGeom prst="ellipse">
            <a:avLst/>
          </a:prstGeom>
          <a:solidFill>
            <a:srgbClr val="1F4E79"/>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1240292" y="2483876"/>
            <a:ext cx="280904" cy="280904"/>
          </a:xfrm>
          <a:prstGeom prst="rect">
            <a:avLst/>
          </a:prstGeom>
        </p:spPr>
      </p:pic>
      <p:sp>
        <p:nvSpPr>
          <p:cNvPr id="8" name="Text 5"/>
          <p:cNvSpPr/>
          <p:nvPr/>
        </p:nvSpPr>
        <p:spPr>
          <a:xfrm>
            <a:off x="576072" y="3017520"/>
            <a:ext cx="1609344" cy="502920"/>
          </a:xfrm>
          <a:prstGeom prst="rect">
            <a:avLst/>
          </a:prstGeom>
          <a:noFill/>
          <a:ln/>
        </p:spPr>
        <p:txBody>
          <a:bodyPr wrap="square" rtlCol="0" anchor="ctr"/>
          <a:lstStyle/>
          <a:p>
            <a:pPr marL="0" indent="0" algn="ctr">
              <a:lnSpc>
                <a:spcPct val="105000"/>
              </a:lnSpc>
              <a:buNone/>
            </a:pPr>
            <a:r>
              <a:rPr lang="en-US" sz="950" b="1" dirty="0">
                <a:solidFill>
                  <a:srgbClr val="1F2937"/>
                </a:solidFill>
                <a:latin typeface="Calibri" pitchFamily="34" charset="0"/>
                <a:ea typeface="Calibri" pitchFamily="34" charset="-122"/>
                <a:cs typeface="Calibri" pitchFamily="34" charset="-120"/>
              </a:rPr>
              <a:t>CSV Dataset</a:t>
            </a:r>
            <a:endParaRPr lang="en-US" sz="950" dirty="0"/>
          </a:p>
        </p:txBody>
      </p:sp>
      <p:sp>
        <p:nvSpPr>
          <p:cNvPr id="9" name="Shape 6"/>
          <p:cNvSpPr/>
          <p:nvPr/>
        </p:nvSpPr>
        <p:spPr>
          <a:xfrm>
            <a:off x="1947672" y="2020824"/>
            <a:ext cx="292608" cy="292608"/>
          </a:xfrm>
          <a:prstGeom prst="ellipse">
            <a:avLst/>
          </a:prstGeom>
          <a:solidFill>
            <a:srgbClr val="FFFFFF"/>
          </a:solidFill>
          <a:ln w="19050">
            <a:solidFill>
              <a:srgbClr val="1F4E79"/>
            </a:solidFill>
            <a:prstDash val="solid"/>
          </a:ln>
        </p:spPr>
        <p:txBody>
          <a:bodyPr/>
          <a:lstStyle/>
          <a:p>
            <a:endParaRPr lang="en-IN"/>
          </a:p>
        </p:txBody>
      </p:sp>
      <p:sp>
        <p:nvSpPr>
          <p:cNvPr id="10" name="Text 7"/>
          <p:cNvSpPr/>
          <p:nvPr/>
        </p:nvSpPr>
        <p:spPr>
          <a:xfrm>
            <a:off x="1947672" y="2011680"/>
            <a:ext cx="292608" cy="292608"/>
          </a:xfrm>
          <a:prstGeom prst="rect">
            <a:avLst/>
          </a:prstGeom>
          <a:noFill/>
          <a:ln/>
        </p:spPr>
        <p:txBody>
          <a:bodyPr wrap="square" rtlCol="0" anchor="ctr"/>
          <a:lstStyle/>
          <a:p>
            <a:pPr marL="0" indent="0" algn="ctr">
              <a:buNone/>
            </a:pPr>
            <a:r>
              <a:rPr lang="en-US" sz="900" b="1" dirty="0">
                <a:solidFill>
                  <a:srgbClr val="1F4E79"/>
                </a:solidFill>
                <a:latin typeface="Calibri" pitchFamily="34" charset="0"/>
                <a:ea typeface="Calibri" pitchFamily="34" charset="-122"/>
                <a:cs typeface="Calibri" pitchFamily="34" charset="-120"/>
              </a:rPr>
              <a:t>1</a:t>
            </a:r>
            <a:endParaRPr lang="en-US" sz="900" dirty="0"/>
          </a:p>
        </p:txBody>
      </p:sp>
      <p:pic>
        <p:nvPicPr>
          <p:cNvPr id="11" name="Image 1" descr="preencoded.png"/>
          <p:cNvPicPr>
            <a:picLocks noChangeAspect="1"/>
          </p:cNvPicPr>
          <p:nvPr/>
        </p:nvPicPr>
        <p:blipFill>
          <a:blip r:embed="rId4"/>
          <a:stretch>
            <a:fillRect/>
          </a:stretch>
        </p:blipFill>
        <p:spPr>
          <a:xfrm>
            <a:off x="2263140" y="2775204"/>
            <a:ext cx="146304" cy="164592"/>
          </a:xfrm>
          <a:prstGeom prst="rect">
            <a:avLst/>
          </a:prstGeom>
        </p:spPr>
      </p:pic>
      <p:sp>
        <p:nvSpPr>
          <p:cNvPr id="12" name="Shape 8"/>
          <p:cNvSpPr/>
          <p:nvPr/>
        </p:nvSpPr>
        <p:spPr>
          <a:xfrm>
            <a:off x="2340864" y="2148840"/>
            <a:ext cx="1755648" cy="1417320"/>
          </a:xfrm>
          <a:prstGeom prst="roundRect">
            <a:avLst>
              <a:gd name="adj" fmla="val 516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3" name="Shape 9"/>
          <p:cNvSpPr/>
          <p:nvPr/>
        </p:nvSpPr>
        <p:spPr>
          <a:xfrm>
            <a:off x="2926080" y="2331720"/>
            <a:ext cx="585216" cy="585216"/>
          </a:xfrm>
          <a:prstGeom prst="ellipse">
            <a:avLst/>
          </a:prstGeom>
          <a:solidFill>
            <a:srgbClr val="1F4E79"/>
          </a:solidFill>
          <a:ln/>
        </p:spPr>
        <p:txBody>
          <a:bodyPr/>
          <a:lstStyle/>
          <a:p>
            <a:endParaRPr lang="en-IN"/>
          </a:p>
        </p:txBody>
      </p:sp>
      <p:pic>
        <p:nvPicPr>
          <p:cNvPr id="14" name="Image 2" descr="preencoded.png"/>
          <p:cNvPicPr>
            <a:picLocks noChangeAspect="1"/>
          </p:cNvPicPr>
          <p:nvPr/>
        </p:nvPicPr>
        <p:blipFill>
          <a:blip r:embed="rId5"/>
          <a:stretch>
            <a:fillRect/>
          </a:stretch>
        </p:blipFill>
        <p:spPr>
          <a:xfrm>
            <a:off x="3078236" y="2483876"/>
            <a:ext cx="280904" cy="280904"/>
          </a:xfrm>
          <a:prstGeom prst="rect">
            <a:avLst/>
          </a:prstGeom>
        </p:spPr>
      </p:pic>
      <p:sp>
        <p:nvSpPr>
          <p:cNvPr id="15" name="Text 10"/>
          <p:cNvSpPr/>
          <p:nvPr/>
        </p:nvSpPr>
        <p:spPr>
          <a:xfrm>
            <a:off x="2414016" y="3017520"/>
            <a:ext cx="1609344" cy="502920"/>
          </a:xfrm>
          <a:prstGeom prst="rect">
            <a:avLst/>
          </a:prstGeom>
          <a:noFill/>
          <a:ln/>
        </p:spPr>
        <p:txBody>
          <a:bodyPr wrap="square" rtlCol="0" anchor="ctr"/>
          <a:lstStyle/>
          <a:p>
            <a:pPr marL="0" indent="0" algn="ctr">
              <a:lnSpc>
                <a:spcPct val="105000"/>
              </a:lnSpc>
              <a:buNone/>
            </a:pPr>
            <a:r>
              <a:rPr lang="en-US" sz="950" b="1" dirty="0">
                <a:solidFill>
                  <a:srgbClr val="1F2937"/>
                </a:solidFill>
                <a:latin typeface="Calibri" pitchFamily="34" charset="0"/>
                <a:ea typeface="Calibri" pitchFamily="34" charset="-122"/>
                <a:cs typeface="Calibri" pitchFamily="34" charset="-120"/>
              </a:rPr>
              <a:t>Import to MySQL</a:t>
            </a:r>
            <a:endParaRPr lang="en-US" sz="950" dirty="0"/>
          </a:p>
        </p:txBody>
      </p:sp>
      <p:sp>
        <p:nvSpPr>
          <p:cNvPr id="16" name="Shape 11"/>
          <p:cNvSpPr/>
          <p:nvPr/>
        </p:nvSpPr>
        <p:spPr>
          <a:xfrm>
            <a:off x="3785616" y="2020824"/>
            <a:ext cx="292608" cy="292608"/>
          </a:xfrm>
          <a:prstGeom prst="ellipse">
            <a:avLst/>
          </a:prstGeom>
          <a:solidFill>
            <a:srgbClr val="FFFFFF"/>
          </a:solidFill>
          <a:ln w="19050">
            <a:solidFill>
              <a:srgbClr val="1F4E79"/>
            </a:solidFill>
            <a:prstDash val="solid"/>
          </a:ln>
        </p:spPr>
        <p:txBody>
          <a:bodyPr/>
          <a:lstStyle/>
          <a:p>
            <a:endParaRPr lang="en-IN"/>
          </a:p>
        </p:txBody>
      </p:sp>
      <p:sp>
        <p:nvSpPr>
          <p:cNvPr id="17" name="Text 12"/>
          <p:cNvSpPr/>
          <p:nvPr/>
        </p:nvSpPr>
        <p:spPr>
          <a:xfrm>
            <a:off x="3785616" y="2011680"/>
            <a:ext cx="292608" cy="292608"/>
          </a:xfrm>
          <a:prstGeom prst="rect">
            <a:avLst/>
          </a:prstGeom>
          <a:noFill/>
          <a:ln/>
        </p:spPr>
        <p:txBody>
          <a:bodyPr wrap="square" rtlCol="0" anchor="ctr"/>
          <a:lstStyle/>
          <a:p>
            <a:pPr marL="0" indent="0" algn="ctr">
              <a:buNone/>
            </a:pPr>
            <a:r>
              <a:rPr lang="en-US" sz="900" b="1" dirty="0">
                <a:solidFill>
                  <a:srgbClr val="1F4E79"/>
                </a:solidFill>
                <a:latin typeface="Calibri" pitchFamily="34" charset="0"/>
                <a:ea typeface="Calibri" pitchFamily="34" charset="-122"/>
                <a:cs typeface="Calibri" pitchFamily="34" charset="-120"/>
              </a:rPr>
              <a:t>2</a:t>
            </a:r>
            <a:endParaRPr lang="en-US" sz="900" dirty="0"/>
          </a:p>
        </p:txBody>
      </p:sp>
      <p:pic>
        <p:nvPicPr>
          <p:cNvPr id="18" name="Image 3" descr="preencoded.png"/>
          <p:cNvPicPr>
            <a:picLocks noChangeAspect="1"/>
          </p:cNvPicPr>
          <p:nvPr/>
        </p:nvPicPr>
        <p:blipFill>
          <a:blip r:embed="rId4"/>
          <a:stretch>
            <a:fillRect/>
          </a:stretch>
        </p:blipFill>
        <p:spPr>
          <a:xfrm>
            <a:off x="4101084" y="2775204"/>
            <a:ext cx="146304" cy="164592"/>
          </a:xfrm>
          <a:prstGeom prst="rect">
            <a:avLst/>
          </a:prstGeom>
        </p:spPr>
      </p:pic>
      <p:sp>
        <p:nvSpPr>
          <p:cNvPr id="19" name="Shape 13"/>
          <p:cNvSpPr/>
          <p:nvPr/>
        </p:nvSpPr>
        <p:spPr>
          <a:xfrm>
            <a:off x="4178808" y="2148840"/>
            <a:ext cx="1755648" cy="1417320"/>
          </a:xfrm>
          <a:prstGeom prst="roundRect">
            <a:avLst>
              <a:gd name="adj" fmla="val 516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0" name="Shape 14"/>
          <p:cNvSpPr/>
          <p:nvPr/>
        </p:nvSpPr>
        <p:spPr>
          <a:xfrm>
            <a:off x="4764024" y="2331720"/>
            <a:ext cx="585216" cy="585216"/>
          </a:xfrm>
          <a:prstGeom prst="ellipse">
            <a:avLst/>
          </a:prstGeom>
          <a:solidFill>
            <a:srgbClr val="2E6DA4"/>
          </a:solidFill>
          <a:ln/>
        </p:spPr>
        <p:txBody>
          <a:bodyPr/>
          <a:lstStyle/>
          <a:p>
            <a:endParaRPr lang="en-IN"/>
          </a:p>
        </p:txBody>
      </p:sp>
      <p:pic>
        <p:nvPicPr>
          <p:cNvPr id="21" name="Image 4" descr="preencoded.png"/>
          <p:cNvPicPr>
            <a:picLocks noChangeAspect="1"/>
          </p:cNvPicPr>
          <p:nvPr/>
        </p:nvPicPr>
        <p:blipFill>
          <a:blip r:embed="rId6"/>
          <a:stretch>
            <a:fillRect/>
          </a:stretch>
        </p:blipFill>
        <p:spPr>
          <a:xfrm>
            <a:off x="4916180" y="2483876"/>
            <a:ext cx="280904" cy="280904"/>
          </a:xfrm>
          <a:prstGeom prst="rect">
            <a:avLst/>
          </a:prstGeom>
        </p:spPr>
      </p:pic>
      <p:sp>
        <p:nvSpPr>
          <p:cNvPr id="22" name="Text 15"/>
          <p:cNvSpPr/>
          <p:nvPr/>
        </p:nvSpPr>
        <p:spPr>
          <a:xfrm>
            <a:off x="4251960" y="3017520"/>
            <a:ext cx="1609344" cy="502920"/>
          </a:xfrm>
          <a:prstGeom prst="rect">
            <a:avLst/>
          </a:prstGeom>
          <a:noFill/>
          <a:ln/>
        </p:spPr>
        <p:txBody>
          <a:bodyPr wrap="square" rtlCol="0" anchor="ctr"/>
          <a:lstStyle/>
          <a:p>
            <a:pPr marL="0" indent="0" algn="ctr">
              <a:lnSpc>
                <a:spcPct val="105000"/>
              </a:lnSpc>
              <a:buNone/>
            </a:pPr>
            <a:r>
              <a:rPr lang="en-US" sz="950" b="1" dirty="0">
                <a:solidFill>
                  <a:srgbClr val="1F2937"/>
                </a:solidFill>
                <a:latin typeface="Calibri" pitchFamily="34" charset="0"/>
                <a:ea typeface="Calibri" pitchFamily="34" charset="-122"/>
                <a:cs typeface="Calibri" pitchFamily="34" charset="-120"/>
              </a:rPr>
              <a:t>Data Validation</a:t>
            </a:r>
            <a:endParaRPr lang="en-US" sz="950" dirty="0"/>
          </a:p>
        </p:txBody>
      </p:sp>
      <p:sp>
        <p:nvSpPr>
          <p:cNvPr id="23" name="Shape 16"/>
          <p:cNvSpPr/>
          <p:nvPr/>
        </p:nvSpPr>
        <p:spPr>
          <a:xfrm>
            <a:off x="5623560" y="2020824"/>
            <a:ext cx="292608" cy="292608"/>
          </a:xfrm>
          <a:prstGeom prst="ellipse">
            <a:avLst/>
          </a:prstGeom>
          <a:solidFill>
            <a:srgbClr val="FFFFFF"/>
          </a:solidFill>
          <a:ln w="19050">
            <a:solidFill>
              <a:srgbClr val="2E6DA4"/>
            </a:solidFill>
            <a:prstDash val="solid"/>
          </a:ln>
        </p:spPr>
        <p:txBody>
          <a:bodyPr/>
          <a:lstStyle/>
          <a:p>
            <a:endParaRPr lang="en-IN"/>
          </a:p>
        </p:txBody>
      </p:sp>
      <p:sp>
        <p:nvSpPr>
          <p:cNvPr id="24" name="Text 17"/>
          <p:cNvSpPr/>
          <p:nvPr/>
        </p:nvSpPr>
        <p:spPr>
          <a:xfrm>
            <a:off x="5623560" y="2011680"/>
            <a:ext cx="292608" cy="292608"/>
          </a:xfrm>
          <a:prstGeom prst="rect">
            <a:avLst/>
          </a:prstGeom>
          <a:noFill/>
          <a:ln/>
        </p:spPr>
        <p:txBody>
          <a:bodyPr wrap="square" rtlCol="0" anchor="ctr"/>
          <a:lstStyle/>
          <a:p>
            <a:pPr marL="0" indent="0" algn="ctr">
              <a:buNone/>
            </a:pPr>
            <a:r>
              <a:rPr lang="en-US" sz="900" b="1" dirty="0">
                <a:solidFill>
                  <a:srgbClr val="2E6DA4"/>
                </a:solidFill>
                <a:latin typeface="Calibri" pitchFamily="34" charset="0"/>
                <a:ea typeface="Calibri" pitchFamily="34" charset="-122"/>
                <a:cs typeface="Calibri" pitchFamily="34" charset="-120"/>
              </a:rPr>
              <a:t>3</a:t>
            </a:r>
            <a:endParaRPr lang="en-US" sz="900" dirty="0"/>
          </a:p>
        </p:txBody>
      </p:sp>
      <p:pic>
        <p:nvPicPr>
          <p:cNvPr id="25" name="Image 5" descr="preencoded.png"/>
          <p:cNvPicPr>
            <a:picLocks noChangeAspect="1"/>
          </p:cNvPicPr>
          <p:nvPr/>
        </p:nvPicPr>
        <p:blipFill>
          <a:blip r:embed="rId4"/>
          <a:stretch>
            <a:fillRect/>
          </a:stretch>
        </p:blipFill>
        <p:spPr>
          <a:xfrm>
            <a:off x="5939028" y="2775204"/>
            <a:ext cx="146304" cy="164592"/>
          </a:xfrm>
          <a:prstGeom prst="rect">
            <a:avLst/>
          </a:prstGeom>
        </p:spPr>
      </p:pic>
      <p:sp>
        <p:nvSpPr>
          <p:cNvPr id="26" name="Shape 18"/>
          <p:cNvSpPr/>
          <p:nvPr/>
        </p:nvSpPr>
        <p:spPr>
          <a:xfrm>
            <a:off x="6016752" y="2148840"/>
            <a:ext cx="1755648" cy="1417320"/>
          </a:xfrm>
          <a:prstGeom prst="roundRect">
            <a:avLst>
              <a:gd name="adj" fmla="val 516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7" name="Shape 19"/>
          <p:cNvSpPr/>
          <p:nvPr/>
        </p:nvSpPr>
        <p:spPr>
          <a:xfrm>
            <a:off x="6601968" y="2331720"/>
            <a:ext cx="585216" cy="585216"/>
          </a:xfrm>
          <a:prstGeom prst="ellipse">
            <a:avLst/>
          </a:prstGeom>
          <a:solidFill>
            <a:srgbClr val="2E6DA4"/>
          </a:solidFill>
          <a:ln/>
        </p:spPr>
        <p:txBody>
          <a:bodyPr/>
          <a:lstStyle/>
          <a:p>
            <a:endParaRPr lang="en-IN"/>
          </a:p>
        </p:txBody>
      </p:sp>
      <p:pic>
        <p:nvPicPr>
          <p:cNvPr id="28" name="Image 6" descr="preencoded.png"/>
          <p:cNvPicPr>
            <a:picLocks noChangeAspect="1"/>
          </p:cNvPicPr>
          <p:nvPr/>
        </p:nvPicPr>
        <p:blipFill>
          <a:blip r:embed="rId7"/>
          <a:stretch>
            <a:fillRect/>
          </a:stretch>
        </p:blipFill>
        <p:spPr>
          <a:xfrm>
            <a:off x="6754124" y="2483876"/>
            <a:ext cx="280904" cy="280904"/>
          </a:xfrm>
          <a:prstGeom prst="rect">
            <a:avLst/>
          </a:prstGeom>
        </p:spPr>
      </p:pic>
      <p:sp>
        <p:nvSpPr>
          <p:cNvPr id="29" name="Text 20"/>
          <p:cNvSpPr/>
          <p:nvPr/>
        </p:nvSpPr>
        <p:spPr>
          <a:xfrm>
            <a:off x="6089904" y="3017520"/>
            <a:ext cx="1609344" cy="502920"/>
          </a:xfrm>
          <a:prstGeom prst="rect">
            <a:avLst/>
          </a:prstGeom>
          <a:noFill/>
          <a:ln/>
        </p:spPr>
        <p:txBody>
          <a:bodyPr wrap="square" rtlCol="0" anchor="ctr"/>
          <a:lstStyle/>
          <a:p>
            <a:pPr marL="0" indent="0" algn="ctr">
              <a:lnSpc>
                <a:spcPct val="105000"/>
              </a:lnSpc>
              <a:buNone/>
            </a:pPr>
            <a:r>
              <a:rPr lang="en-US" sz="950" b="1" dirty="0">
                <a:solidFill>
                  <a:srgbClr val="1F2937"/>
                </a:solidFill>
                <a:latin typeface="Calibri" pitchFamily="34" charset="0"/>
                <a:ea typeface="Calibri" pitchFamily="34" charset="-122"/>
                <a:cs typeface="Calibri" pitchFamily="34" charset="-120"/>
              </a:rPr>
              <a:t>Data Cleaning</a:t>
            </a:r>
            <a:endParaRPr lang="en-US" sz="950" dirty="0"/>
          </a:p>
        </p:txBody>
      </p:sp>
      <p:sp>
        <p:nvSpPr>
          <p:cNvPr id="30" name="Shape 21"/>
          <p:cNvSpPr/>
          <p:nvPr/>
        </p:nvSpPr>
        <p:spPr>
          <a:xfrm>
            <a:off x="7461504" y="2020824"/>
            <a:ext cx="292608" cy="292608"/>
          </a:xfrm>
          <a:prstGeom prst="ellipse">
            <a:avLst/>
          </a:prstGeom>
          <a:solidFill>
            <a:srgbClr val="FFFFFF"/>
          </a:solidFill>
          <a:ln w="19050">
            <a:solidFill>
              <a:srgbClr val="2E6DA4"/>
            </a:solidFill>
            <a:prstDash val="solid"/>
          </a:ln>
        </p:spPr>
        <p:txBody>
          <a:bodyPr/>
          <a:lstStyle/>
          <a:p>
            <a:endParaRPr lang="en-IN"/>
          </a:p>
        </p:txBody>
      </p:sp>
      <p:sp>
        <p:nvSpPr>
          <p:cNvPr id="31" name="Text 22"/>
          <p:cNvSpPr/>
          <p:nvPr/>
        </p:nvSpPr>
        <p:spPr>
          <a:xfrm>
            <a:off x="7461504" y="2011680"/>
            <a:ext cx="292608" cy="292608"/>
          </a:xfrm>
          <a:prstGeom prst="rect">
            <a:avLst/>
          </a:prstGeom>
          <a:noFill/>
          <a:ln/>
        </p:spPr>
        <p:txBody>
          <a:bodyPr wrap="square" rtlCol="0" anchor="ctr"/>
          <a:lstStyle/>
          <a:p>
            <a:pPr marL="0" indent="0" algn="ctr">
              <a:buNone/>
            </a:pPr>
            <a:r>
              <a:rPr lang="en-US" sz="900" b="1" dirty="0">
                <a:solidFill>
                  <a:srgbClr val="2E6DA4"/>
                </a:solidFill>
                <a:latin typeface="Calibri" pitchFamily="34" charset="0"/>
                <a:ea typeface="Calibri" pitchFamily="34" charset="-122"/>
                <a:cs typeface="Calibri" pitchFamily="34" charset="-120"/>
              </a:rPr>
              <a:t>4</a:t>
            </a:r>
            <a:endParaRPr lang="en-US" sz="900" dirty="0"/>
          </a:p>
        </p:txBody>
      </p:sp>
      <p:pic>
        <p:nvPicPr>
          <p:cNvPr id="32" name="Image 7" descr="preencoded.png"/>
          <p:cNvPicPr>
            <a:picLocks noChangeAspect="1"/>
          </p:cNvPicPr>
          <p:nvPr/>
        </p:nvPicPr>
        <p:blipFill>
          <a:blip r:embed="rId4"/>
          <a:stretch>
            <a:fillRect/>
          </a:stretch>
        </p:blipFill>
        <p:spPr>
          <a:xfrm>
            <a:off x="7776972" y="2775204"/>
            <a:ext cx="146304" cy="164592"/>
          </a:xfrm>
          <a:prstGeom prst="rect">
            <a:avLst/>
          </a:prstGeom>
        </p:spPr>
      </p:pic>
      <p:sp>
        <p:nvSpPr>
          <p:cNvPr id="33" name="Shape 23"/>
          <p:cNvSpPr/>
          <p:nvPr/>
        </p:nvSpPr>
        <p:spPr>
          <a:xfrm>
            <a:off x="7854696" y="2148840"/>
            <a:ext cx="1755648" cy="1417320"/>
          </a:xfrm>
          <a:prstGeom prst="roundRect">
            <a:avLst>
              <a:gd name="adj" fmla="val 516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34" name="Shape 24"/>
          <p:cNvSpPr/>
          <p:nvPr/>
        </p:nvSpPr>
        <p:spPr>
          <a:xfrm>
            <a:off x="8439912" y="2331720"/>
            <a:ext cx="585216" cy="585216"/>
          </a:xfrm>
          <a:prstGeom prst="ellipse">
            <a:avLst/>
          </a:prstGeom>
          <a:solidFill>
            <a:srgbClr val="8E44AD"/>
          </a:solidFill>
          <a:ln/>
        </p:spPr>
        <p:txBody>
          <a:bodyPr/>
          <a:lstStyle/>
          <a:p>
            <a:endParaRPr lang="en-IN"/>
          </a:p>
        </p:txBody>
      </p:sp>
      <p:pic>
        <p:nvPicPr>
          <p:cNvPr id="35" name="Image 8" descr="preencoded.png"/>
          <p:cNvPicPr>
            <a:picLocks noChangeAspect="1"/>
          </p:cNvPicPr>
          <p:nvPr/>
        </p:nvPicPr>
        <p:blipFill>
          <a:blip r:embed="rId8"/>
          <a:stretch>
            <a:fillRect/>
          </a:stretch>
        </p:blipFill>
        <p:spPr>
          <a:xfrm>
            <a:off x="8592068" y="2483876"/>
            <a:ext cx="280904" cy="280904"/>
          </a:xfrm>
          <a:prstGeom prst="rect">
            <a:avLst/>
          </a:prstGeom>
        </p:spPr>
      </p:pic>
      <p:sp>
        <p:nvSpPr>
          <p:cNvPr id="36" name="Text 25"/>
          <p:cNvSpPr/>
          <p:nvPr/>
        </p:nvSpPr>
        <p:spPr>
          <a:xfrm>
            <a:off x="7927848" y="3017520"/>
            <a:ext cx="1609344" cy="502920"/>
          </a:xfrm>
          <a:prstGeom prst="rect">
            <a:avLst/>
          </a:prstGeom>
          <a:noFill/>
          <a:ln/>
        </p:spPr>
        <p:txBody>
          <a:bodyPr wrap="square" rtlCol="0" anchor="ctr"/>
          <a:lstStyle/>
          <a:p>
            <a:pPr marL="0" indent="0" algn="ctr">
              <a:lnSpc>
                <a:spcPct val="105000"/>
              </a:lnSpc>
              <a:buNone/>
            </a:pPr>
            <a:r>
              <a:rPr lang="en-US" sz="950" b="1" dirty="0">
                <a:solidFill>
                  <a:srgbClr val="1F2937"/>
                </a:solidFill>
                <a:latin typeface="Calibri" pitchFamily="34" charset="0"/>
                <a:ea typeface="Calibri" pitchFamily="34" charset="-122"/>
                <a:cs typeface="Calibri" pitchFamily="34" charset="-120"/>
              </a:rPr>
              <a:t>Derived Fields</a:t>
            </a:r>
            <a:endParaRPr lang="en-US" sz="950" dirty="0"/>
          </a:p>
        </p:txBody>
      </p:sp>
      <p:sp>
        <p:nvSpPr>
          <p:cNvPr id="37" name="Shape 26"/>
          <p:cNvSpPr/>
          <p:nvPr/>
        </p:nvSpPr>
        <p:spPr>
          <a:xfrm>
            <a:off x="9299448" y="2020824"/>
            <a:ext cx="292608" cy="292608"/>
          </a:xfrm>
          <a:prstGeom prst="ellipse">
            <a:avLst/>
          </a:prstGeom>
          <a:solidFill>
            <a:srgbClr val="FFFFFF"/>
          </a:solidFill>
          <a:ln w="19050">
            <a:solidFill>
              <a:srgbClr val="8E44AD"/>
            </a:solidFill>
            <a:prstDash val="solid"/>
          </a:ln>
        </p:spPr>
        <p:txBody>
          <a:bodyPr/>
          <a:lstStyle/>
          <a:p>
            <a:endParaRPr lang="en-IN"/>
          </a:p>
        </p:txBody>
      </p:sp>
      <p:sp>
        <p:nvSpPr>
          <p:cNvPr id="38" name="Text 27"/>
          <p:cNvSpPr/>
          <p:nvPr/>
        </p:nvSpPr>
        <p:spPr>
          <a:xfrm>
            <a:off x="9299448" y="2011680"/>
            <a:ext cx="292608" cy="292608"/>
          </a:xfrm>
          <a:prstGeom prst="rect">
            <a:avLst/>
          </a:prstGeom>
          <a:noFill/>
          <a:ln/>
        </p:spPr>
        <p:txBody>
          <a:bodyPr wrap="square" rtlCol="0" anchor="ctr"/>
          <a:lstStyle/>
          <a:p>
            <a:pPr marL="0" indent="0" algn="ctr">
              <a:buNone/>
            </a:pPr>
            <a:r>
              <a:rPr lang="en-US" sz="900" b="1" dirty="0">
                <a:solidFill>
                  <a:srgbClr val="8E44AD"/>
                </a:solidFill>
                <a:latin typeface="Calibri" pitchFamily="34" charset="0"/>
                <a:ea typeface="Calibri" pitchFamily="34" charset="-122"/>
                <a:cs typeface="Calibri" pitchFamily="34" charset="-120"/>
              </a:rPr>
              <a:t>5</a:t>
            </a:r>
            <a:endParaRPr lang="en-US" sz="900" dirty="0"/>
          </a:p>
        </p:txBody>
      </p:sp>
      <p:pic>
        <p:nvPicPr>
          <p:cNvPr id="39" name="Image 9" descr="preencoded.png"/>
          <p:cNvPicPr>
            <a:picLocks noChangeAspect="1"/>
          </p:cNvPicPr>
          <p:nvPr/>
        </p:nvPicPr>
        <p:blipFill>
          <a:blip r:embed="rId4"/>
          <a:stretch>
            <a:fillRect/>
          </a:stretch>
        </p:blipFill>
        <p:spPr>
          <a:xfrm>
            <a:off x="9614916" y="2775204"/>
            <a:ext cx="146304" cy="164592"/>
          </a:xfrm>
          <a:prstGeom prst="rect">
            <a:avLst/>
          </a:prstGeom>
        </p:spPr>
      </p:pic>
      <p:sp>
        <p:nvSpPr>
          <p:cNvPr id="40" name="Shape 28"/>
          <p:cNvSpPr/>
          <p:nvPr/>
        </p:nvSpPr>
        <p:spPr>
          <a:xfrm>
            <a:off x="9692640" y="2148840"/>
            <a:ext cx="1755648" cy="1417320"/>
          </a:xfrm>
          <a:prstGeom prst="roundRect">
            <a:avLst>
              <a:gd name="adj" fmla="val 516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41" name="Shape 29"/>
          <p:cNvSpPr/>
          <p:nvPr/>
        </p:nvSpPr>
        <p:spPr>
          <a:xfrm>
            <a:off x="10277856" y="2331720"/>
            <a:ext cx="585216" cy="585216"/>
          </a:xfrm>
          <a:prstGeom prst="ellipse">
            <a:avLst/>
          </a:prstGeom>
          <a:solidFill>
            <a:srgbClr val="8E44AD"/>
          </a:solidFill>
          <a:ln/>
        </p:spPr>
        <p:txBody>
          <a:bodyPr/>
          <a:lstStyle/>
          <a:p>
            <a:endParaRPr lang="en-IN"/>
          </a:p>
        </p:txBody>
      </p:sp>
      <p:pic>
        <p:nvPicPr>
          <p:cNvPr id="42" name="Image 10" descr="preencoded.png"/>
          <p:cNvPicPr>
            <a:picLocks noChangeAspect="1"/>
          </p:cNvPicPr>
          <p:nvPr/>
        </p:nvPicPr>
        <p:blipFill>
          <a:blip r:embed="rId9"/>
          <a:stretch>
            <a:fillRect/>
          </a:stretch>
        </p:blipFill>
        <p:spPr>
          <a:xfrm>
            <a:off x="10430012" y="2483876"/>
            <a:ext cx="280904" cy="280904"/>
          </a:xfrm>
          <a:prstGeom prst="rect">
            <a:avLst/>
          </a:prstGeom>
        </p:spPr>
      </p:pic>
      <p:sp>
        <p:nvSpPr>
          <p:cNvPr id="43" name="Text 30"/>
          <p:cNvSpPr/>
          <p:nvPr/>
        </p:nvSpPr>
        <p:spPr>
          <a:xfrm>
            <a:off x="9765792" y="3017520"/>
            <a:ext cx="1609344" cy="502920"/>
          </a:xfrm>
          <a:prstGeom prst="rect">
            <a:avLst/>
          </a:prstGeom>
          <a:noFill/>
          <a:ln/>
        </p:spPr>
        <p:txBody>
          <a:bodyPr wrap="square" rtlCol="0" anchor="ctr"/>
          <a:lstStyle/>
          <a:p>
            <a:pPr marL="0" indent="0" algn="ctr">
              <a:lnSpc>
                <a:spcPct val="105000"/>
              </a:lnSpc>
              <a:buNone/>
            </a:pPr>
            <a:r>
              <a:rPr lang="en-US" sz="950" b="1" dirty="0">
                <a:solidFill>
                  <a:srgbClr val="1F2937"/>
                </a:solidFill>
                <a:latin typeface="Calibri" pitchFamily="34" charset="0"/>
                <a:ea typeface="Calibri" pitchFamily="34" charset="-122"/>
                <a:cs typeface="Calibri" pitchFamily="34" charset="-120"/>
              </a:rPr>
              <a:t>Business Analysis with SQL</a:t>
            </a:r>
            <a:endParaRPr lang="en-US" sz="950" dirty="0"/>
          </a:p>
        </p:txBody>
      </p:sp>
      <p:sp>
        <p:nvSpPr>
          <p:cNvPr id="44" name="Shape 31"/>
          <p:cNvSpPr/>
          <p:nvPr/>
        </p:nvSpPr>
        <p:spPr>
          <a:xfrm>
            <a:off x="11137392" y="2020824"/>
            <a:ext cx="292608" cy="292608"/>
          </a:xfrm>
          <a:prstGeom prst="ellipse">
            <a:avLst/>
          </a:prstGeom>
          <a:solidFill>
            <a:srgbClr val="FFFFFF"/>
          </a:solidFill>
          <a:ln w="19050">
            <a:solidFill>
              <a:srgbClr val="8E44AD"/>
            </a:solidFill>
            <a:prstDash val="solid"/>
          </a:ln>
        </p:spPr>
        <p:txBody>
          <a:bodyPr/>
          <a:lstStyle/>
          <a:p>
            <a:endParaRPr lang="en-IN"/>
          </a:p>
        </p:txBody>
      </p:sp>
      <p:sp>
        <p:nvSpPr>
          <p:cNvPr id="45" name="Text 32"/>
          <p:cNvSpPr/>
          <p:nvPr/>
        </p:nvSpPr>
        <p:spPr>
          <a:xfrm>
            <a:off x="11137392" y="2011680"/>
            <a:ext cx="292608" cy="292608"/>
          </a:xfrm>
          <a:prstGeom prst="rect">
            <a:avLst/>
          </a:prstGeom>
          <a:noFill/>
          <a:ln/>
        </p:spPr>
        <p:txBody>
          <a:bodyPr wrap="square" rtlCol="0" anchor="ctr"/>
          <a:lstStyle/>
          <a:p>
            <a:pPr marL="0" indent="0" algn="ctr">
              <a:buNone/>
            </a:pPr>
            <a:r>
              <a:rPr lang="en-US" sz="900" b="1" dirty="0">
                <a:solidFill>
                  <a:srgbClr val="8E44AD"/>
                </a:solidFill>
                <a:latin typeface="Calibri" pitchFamily="34" charset="0"/>
                <a:ea typeface="Calibri" pitchFamily="34" charset="-122"/>
                <a:cs typeface="Calibri" pitchFamily="34" charset="-120"/>
              </a:rPr>
              <a:t>6</a:t>
            </a:r>
            <a:endParaRPr lang="en-US" sz="900" dirty="0"/>
          </a:p>
        </p:txBody>
      </p:sp>
      <p:sp>
        <p:nvSpPr>
          <p:cNvPr id="46" name="Shape 33"/>
          <p:cNvSpPr/>
          <p:nvPr/>
        </p:nvSpPr>
        <p:spPr>
          <a:xfrm>
            <a:off x="502920" y="3977640"/>
            <a:ext cx="1755648" cy="1417320"/>
          </a:xfrm>
          <a:prstGeom prst="roundRect">
            <a:avLst>
              <a:gd name="adj" fmla="val 516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47" name="Shape 34"/>
          <p:cNvSpPr/>
          <p:nvPr/>
        </p:nvSpPr>
        <p:spPr>
          <a:xfrm>
            <a:off x="1088136" y="4160520"/>
            <a:ext cx="585216" cy="585216"/>
          </a:xfrm>
          <a:prstGeom prst="ellipse">
            <a:avLst/>
          </a:prstGeom>
          <a:solidFill>
            <a:srgbClr val="6A1B9A"/>
          </a:solidFill>
          <a:ln/>
        </p:spPr>
        <p:txBody>
          <a:bodyPr/>
          <a:lstStyle/>
          <a:p>
            <a:endParaRPr lang="en-IN"/>
          </a:p>
        </p:txBody>
      </p:sp>
      <p:pic>
        <p:nvPicPr>
          <p:cNvPr id="48" name="Image 11" descr="preencoded.png"/>
          <p:cNvPicPr>
            <a:picLocks noChangeAspect="1"/>
          </p:cNvPicPr>
          <p:nvPr/>
        </p:nvPicPr>
        <p:blipFill>
          <a:blip r:embed="rId10"/>
          <a:stretch>
            <a:fillRect/>
          </a:stretch>
        </p:blipFill>
        <p:spPr>
          <a:xfrm>
            <a:off x="1240292" y="4312676"/>
            <a:ext cx="280904" cy="280904"/>
          </a:xfrm>
          <a:prstGeom prst="rect">
            <a:avLst/>
          </a:prstGeom>
        </p:spPr>
      </p:pic>
      <p:sp>
        <p:nvSpPr>
          <p:cNvPr id="49" name="Text 35"/>
          <p:cNvSpPr/>
          <p:nvPr/>
        </p:nvSpPr>
        <p:spPr>
          <a:xfrm>
            <a:off x="576072" y="4846320"/>
            <a:ext cx="1609344" cy="502920"/>
          </a:xfrm>
          <a:prstGeom prst="rect">
            <a:avLst/>
          </a:prstGeom>
          <a:noFill/>
          <a:ln/>
        </p:spPr>
        <p:txBody>
          <a:bodyPr wrap="square" rtlCol="0" anchor="ctr"/>
          <a:lstStyle/>
          <a:p>
            <a:pPr marL="0" indent="0" algn="ctr">
              <a:lnSpc>
                <a:spcPct val="105000"/>
              </a:lnSpc>
              <a:buNone/>
            </a:pPr>
            <a:r>
              <a:rPr lang="en-US" sz="950" b="1" dirty="0">
                <a:solidFill>
                  <a:srgbClr val="1F2937"/>
                </a:solidFill>
                <a:latin typeface="Calibri" pitchFamily="34" charset="0"/>
                <a:ea typeface="Calibri" pitchFamily="34" charset="-122"/>
                <a:cs typeface="Calibri" pitchFamily="34" charset="-120"/>
              </a:rPr>
              <a:t>Power Query</a:t>
            </a:r>
            <a:endParaRPr lang="en-US" sz="950" dirty="0"/>
          </a:p>
        </p:txBody>
      </p:sp>
      <p:sp>
        <p:nvSpPr>
          <p:cNvPr id="50" name="Shape 36"/>
          <p:cNvSpPr/>
          <p:nvPr/>
        </p:nvSpPr>
        <p:spPr>
          <a:xfrm>
            <a:off x="1947672" y="3849624"/>
            <a:ext cx="292608" cy="292608"/>
          </a:xfrm>
          <a:prstGeom prst="ellipse">
            <a:avLst/>
          </a:prstGeom>
          <a:solidFill>
            <a:srgbClr val="FFFFFF"/>
          </a:solidFill>
          <a:ln w="19050">
            <a:solidFill>
              <a:srgbClr val="6A1B9A"/>
            </a:solidFill>
            <a:prstDash val="solid"/>
          </a:ln>
        </p:spPr>
        <p:txBody>
          <a:bodyPr/>
          <a:lstStyle/>
          <a:p>
            <a:endParaRPr lang="en-IN"/>
          </a:p>
        </p:txBody>
      </p:sp>
      <p:sp>
        <p:nvSpPr>
          <p:cNvPr id="51" name="Text 37"/>
          <p:cNvSpPr/>
          <p:nvPr/>
        </p:nvSpPr>
        <p:spPr>
          <a:xfrm>
            <a:off x="1947672" y="3840480"/>
            <a:ext cx="292608" cy="292608"/>
          </a:xfrm>
          <a:prstGeom prst="rect">
            <a:avLst/>
          </a:prstGeom>
          <a:noFill/>
          <a:ln/>
        </p:spPr>
        <p:txBody>
          <a:bodyPr wrap="square" rtlCol="0" anchor="ctr"/>
          <a:lstStyle/>
          <a:p>
            <a:pPr marL="0" indent="0" algn="ctr">
              <a:buNone/>
            </a:pPr>
            <a:r>
              <a:rPr lang="en-US" sz="900" b="1" dirty="0">
                <a:solidFill>
                  <a:srgbClr val="6A1B9A"/>
                </a:solidFill>
                <a:latin typeface="Calibri" pitchFamily="34" charset="0"/>
                <a:ea typeface="Calibri" pitchFamily="34" charset="-122"/>
                <a:cs typeface="Calibri" pitchFamily="34" charset="-120"/>
              </a:rPr>
              <a:t>7</a:t>
            </a:r>
            <a:endParaRPr lang="en-US" sz="900" dirty="0"/>
          </a:p>
        </p:txBody>
      </p:sp>
      <p:pic>
        <p:nvPicPr>
          <p:cNvPr id="52" name="Image 12" descr="preencoded.png"/>
          <p:cNvPicPr>
            <a:picLocks noChangeAspect="1"/>
          </p:cNvPicPr>
          <p:nvPr/>
        </p:nvPicPr>
        <p:blipFill>
          <a:blip r:embed="rId4"/>
          <a:stretch>
            <a:fillRect/>
          </a:stretch>
        </p:blipFill>
        <p:spPr>
          <a:xfrm>
            <a:off x="2263140" y="4604004"/>
            <a:ext cx="146304" cy="164592"/>
          </a:xfrm>
          <a:prstGeom prst="rect">
            <a:avLst/>
          </a:prstGeom>
        </p:spPr>
      </p:pic>
      <p:sp>
        <p:nvSpPr>
          <p:cNvPr id="53" name="Shape 38"/>
          <p:cNvSpPr/>
          <p:nvPr/>
        </p:nvSpPr>
        <p:spPr>
          <a:xfrm>
            <a:off x="2340864" y="3977640"/>
            <a:ext cx="1755648" cy="1417320"/>
          </a:xfrm>
          <a:prstGeom prst="roundRect">
            <a:avLst>
              <a:gd name="adj" fmla="val 516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54" name="Shape 39"/>
          <p:cNvSpPr/>
          <p:nvPr/>
        </p:nvSpPr>
        <p:spPr>
          <a:xfrm>
            <a:off x="2926080" y="4160520"/>
            <a:ext cx="585216" cy="585216"/>
          </a:xfrm>
          <a:prstGeom prst="ellipse">
            <a:avLst/>
          </a:prstGeom>
          <a:solidFill>
            <a:srgbClr val="6A1B9A"/>
          </a:solidFill>
          <a:ln/>
        </p:spPr>
        <p:txBody>
          <a:bodyPr/>
          <a:lstStyle/>
          <a:p>
            <a:endParaRPr lang="en-IN"/>
          </a:p>
        </p:txBody>
      </p:sp>
      <p:pic>
        <p:nvPicPr>
          <p:cNvPr id="55" name="Image 13" descr="preencoded.png"/>
          <p:cNvPicPr>
            <a:picLocks noChangeAspect="1"/>
          </p:cNvPicPr>
          <p:nvPr/>
        </p:nvPicPr>
        <p:blipFill>
          <a:blip r:embed="rId11"/>
          <a:stretch>
            <a:fillRect/>
          </a:stretch>
        </p:blipFill>
        <p:spPr>
          <a:xfrm>
            <a:off x="3078236" y="4312676"/>
            <a:ext cx="280904" cy="280904"/>
          </a:xfrm>
          <a:prstGeom prst="rect">
            <a:avLst/>
          </a:prstGeom>
        </p:spPr>
      </p:pic>
      <p:sp>
        <p:nvSpPr>
          <p:cNvPr id="56" name="Text 40"/>
          <p:cNvSpPr/>
          <p:nvPr/>
        </p:nvSpPr>
        <p:spPr>
          <a:xfrm>
            <a:off x="2414016" y="4846320"/>
            <a:ext cx="1609344" cy="502920"/>
          </a:xfrm>
          <a:prstGeom prst="rect">
            <a:avLst/>
          </a:prstGeom>
          <a:noFill/>
          <a:ln/>
        </p:spPr>
        <p:txBody>
          <a:bodyPr wrap="square" rtlCol="0" anchor="ctr"/>
          <a:lstStyle/>
          <a:p>
            <a:pPr marL="0" indent="0" algn="ctr">
              <a:lnSpc>
                <a:spcPct val="105000"/>
              </a:lnSpc>
              <a:buNone/>
            </a:pPr>
            <a:r>
              <a:rPr lang="en-US" sz="950" b="1" dirty="0">
                <a:solidFill>
                  <a:srgbClr val="1F2937"/>
                </a:solidFill>
                <a:latin typeface="Calibri" pitchFamily="34" charset="0"/>
                <a:ea typeface="Calibri" pitchFamily="34" charset="-122"/>
                <a:cs typeface="Calibri" pitchFamily="34" charset="-120"/>
              </a:rPr>
              <a:t>Power BI Data Model</a:t>
            </a:r>
            <a:endParaRPr lang="en-US" sz="950" dirty="0"/>
          </a:p>
        </p:txBody>
      </p:sp>
      <p:sp>
        <p:nvSpPr>
          <p:cNvPr id="57" name="Shape 41"/>
          <p:cNvSpPr/>
          <p:nvPr/>
        </p:nvSpPr>
        <p:spPr>
          <a:xfrm>
            <a:off x="3785616" y="3849624"/>
            <a:ext cx="292608" cy="292608"/>
          </a:xfrm>
          <a:prstGeom prst="ellipse">
            <a:avLst/>
          </a:prstGeom>
          <a:solidFill>
            <a:srgbClr val="FFFFFF"/>
          </a:solidFill>
          <a:ln w="19050">
            <a:solidFill>
              <a:srgbClr val="6A1B9A"/>
            </a:solidFill>
            <a:prstDash val="solid"/>
          </a:ln>
        </p:spPr>
        <p:txBody>
          <a:bodyPr/>
          <a:lstStyle/>
          <a:p>
            <a:endParaRPr lang="en-IN"/>
          </a:p>
        </p:txBody>
      </p:sp>
      <p:sp>
        <p:nvSpPr>
          <p:cNvPr id="58" name="Text 42"/>
          <p:cNvSpPr/>
          <p:nvPr/>
        </p:nvSpPr>
        <p:spPr>
          <a:xfrm>
            <a:off x="3785616" y="3840480"/>
            <a:ext cx="292608" cy="292608"/>
          </a:xfrm>
          <a:prstGeom prst="rect">
            <a:avLst/>
          </a:prstGeom>
          <a:noFill/>
          <a:ln/>
        </p:spPr>
        <p:txBody>
          <a:bodyPr wrap="square" rtlCol="0" anchor="ctr"/>
          <a:lstStyle/>
          <a:p>
            <a:pPr marL="0" indent="0" algn="ctr">
              <a:buNone/>
            </a:pPr>
            <a:r>
              <a:rPr lang="en-US" sz="900" b="1" dirty="0">
                <a:solidFill>
                  <a:srgbClr val="6A1B9A"/>
                </a:solidFill>
                <a:latin typeface="Calibri" pitchFamily="34" charset="0"/>
                <a:ea typeface="Calibri" pitchFamily="34" charset="-122"/>
                <a:cs typeface="Calibri" pitchFamily="34" charset="-120"/>
              </a:rPr>
              <a:t>8</a:t>
            </a:r>
            <a:endParaRPr lang="en-US" sz="900" dirty="0"/>
          </a:p>
        </p:txBody>
      </p:sp>
      <p:pic>
        <p:nvPicPr>
          <p:cNvPr id="59" name="Image 14" descr="preencoded.png"/>
          <p:cNvPicPr>
            <a:picLocks noChangeAspect="1"/>
          </p:cNvPicPr>
          <p:nvPr/>
        </p:nvPicPr>
        <p:blipFill>
          <a:blip r:embed="rId4"/>
          <a:stretch>
            <a:fillRect/>
          </a:stretch>
        </p:blipFill>
        <p:spPr>
          <a:xfrm>
            <a:off x="4101084" y="4604004"/>
            <a:ext cx="146304" cy="164592"/>
          </a:xfrm>
          <a:prstGeom prst="rect">
            <a:avLst/>
          </a:prstGeom>
        </p:spPr>
      </p:pic>
      <p:sp>
        <p:nvSpPr>
          <p:cNvPr id="60" name="Shape 43"/>
          <p:cNvSpPr/>
          <p:nvPr/>
        </p:nvSpPr>
        <p:spPr>
          <a:xfrm>
            <a:off x="4178808" y="3977640"/>
            <a:ext cx="1755648" cy="1417320"/>
          </a:xfrm>
          <a:prstGeom prst="roundRect">
            <a:avLst>
              <a:gd name="adj" fmla="val 516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61" name="Shape 44"/>
          <p:cNvSpPr/>
          <p:nvPr/>
        </p:nvSpPr>
        <p:spPr>
          <a:xfrm>
            <a:off x="4764024" y="4160520"/>
            <a:ext cx="585216" cy="585216"/>
          </a:xfrm>
          <a:prstGeom prst="ellipse">
            <a:avLst/>
          </a:prstGeom>
          <a:solidFill>
            <a:srgbClr val="6A1B9A"/>
          </a:solidFill>
          <a:ln/>
        </p:spPr>
        <p:txBody>
          <a:bodyPr/>
          <a:lstStyle/>
          <a:p>
            <a:endParaRPr lang="en-IN"/>
          </a:p>
        </p:txBody>
      </p:sp>
      <p:pic>
        <p:nvPicPr>
          <p:cNvPr id="62" name="Image 15" descr="preencoded.png"/>
          <p:cNvPicPr>
            <a:picLocks noChangeAspect="1"/>
          </p:cNvPicPr>
          <p:nvPr/>
        </p:nvPicPr>
        <p:blipFill>
          <a:blip r:embed="rId12"/>
          <a:stretch>
            <a:fillRect/>
          </a:stretch>
        </p:blipFill>
        <p:spPr>
          <a:xfrm>
            <a:off x="4916180" y="4312676"/>
            <a:ext cx="280904" cy="280904"/>
          </a:xfrm>
          <a:prstGeom prst="rect">
            <a:avLst/>
          </a:prstGeom>
        </p:spPr>
      </p:pic>
      <p:sp>
        <p:nvSpPr>
          <p:cNvPr id="63" name="Text 45"/>
          <p:cNvSpPr/>
          <p:nvPr/>
        </p:nvSpPr>
        <p:spPr>
          <a:xfrm>
            <a:off x="4251960" y="4846320"/>
            <a:ext cx="1609344" cy="502920"/>
          </a:xfrm>
          <a:prstGeom prst="rect">
            <a:avLst/>
          </a:prstGeom>
          <a:noFill/>
          <a:ln/>
        </p:spPr>
        <p:txBody>
          <a:bodyPr wrap="square" rtlCol="0" anchor="ctr"/>
          <a:lstStyle/>
          <a:p>
            <a:pPr marL="0" indent="0" algn="ctr">
              <a:lnSpc>
                <a:spcPct val="105000"/>
              </a:lnSpc>
              <a:buNone/>
            </a:pPr>
            <a:r>
              <a:rPr lang="en-US" sz="950" b="1" dirty="0">
                <a:solidFill>
                  <a:srgbClr val="1F2937"/>
                </a:solidFill>
                <a:latin typeface="Calibri" pitchFamily="34" charset="0"/>
                <a:ea typeface="Calibri" pitchFamily="34" charset="-122"/>
                <a:cs typeface="Calibri" pitchFamily="34" charset="-120"/>
              </a:rPr>
              <a:t>DAX Measures</a:t>
            </a:r>
            <a:endParaRPr lang="en-US" sz="950" dirty="0"/>
          </a:p>
        </p:txBody>
      </p:sp>
      <p:sp>
        <p:nvSpPr>
          <p:cNvPr id="64" name="Shape 46"/>
          <p:cNvSpPr/>
          <p:nvPr/>
        </p:nvSpPr>
        <p:spPr>
          <a:xfrm>
            <a:off x="5623560" y="3849624"/>
            <a:ext cx="292608" cy="292608"/>
          </a:xfrm>
          <a:prstGeom prst="ellipse">
            <a:avLst/>
          </a:prstGeom>
          <a:solidFill>
            <a:srgbClr val="FFFFFF"/>
          </a:solidFill>
          <a:ln w="19050">
            <a:solidFill>
              <a:srgbClr val="6A1B9A"/>
            </a:solidFill>
            <a:prstDash val="solid"/>
          </a:ln>
        </p:spPr>
        <p:txBody>
          <a:bodyPr/>
          <a:lstStyle/>
          <a:p>
            <a:endParaRPr lang="en-IN"/>
          </a:p>
        </p:txBody>
      </p:sp>
      <p:sp>
        <p:nvSpPr>
          <p:cNvPr id="65" name="Text 47"/>
          <p:cNvSpPr/>
          <p:nvPr/>
        </p:nvSpPr>
        <p:spPr>
          <a:xfrm>
            <a:off x="5623560" y="3840480"/>
            <a:ext cx="292608" cy="292608"/>
          </a:xfrm>
          <a:prstGeom prst="rect">
            <a:avLst/>
          </a:prstGeom>
          <a:noFill/>
          <a:ln/>
        </p:spPr>
        <p:txBody>
          <a:bodyPr wrap="square" rtlCol="0" anchor="ctr"/>
          <a:lstStyle/>
          <a:p>
            <a:pPr marL="0" indent="0" algn="ctr">
              <a:buNone/>
            </a:pPr>
            <a:r>
              <a:rPr lang="en-US" sz="900" b="1" dirty="0">
                <a:solidFill>
                  <a:srgbClr val="6A1B9A"/>
                </a:solidFill>
                <a:latin typeface="Calibri" pitchFamily="34" charset="0"/>
                <a:ea typeface="Calibri" pitchFamily="34" charset="-122"/>
                <a:cs typeface="Calibri" pitchFamily="34" charset="-120"/>
              </a:rPr>
              <a:t>9</a:t>
            </a:r>
            <a:endParaRPr lang="en-US" sz="900" dirty="0"/>
          </a:p>
        </p:txBody>
      </p:sp>
      <p:pic>
        <p:nvPicPr>
          <p:cNvPr id="66" name="Image 16" descr="preencoded.png"/>
          <p:cNvPicPr>
            <a:picLocks noChangeAspect="1"/>
          </p:cNvPicPr>
          <p:nvPr/>
        </p:nvPicPr>
        <p:blipFill>
          <a:blip r:embed="rId4"/>
          <a:stretch>
            <a:fillRect/>
          </a:stretch>
        </p:blipFill>
        <p:spPr>
          <a:xfrm>
            <a:off x="5939028" y="4604004"/>
            <a:ext cx="146304" cy="164592"/>
          </a:xfrm>
          <a:prstGeom prst="rect">
            <a:avLst/>
          </a:prstGeom>
        </p:spPr>
      </p:pic>
      <p:sp>
        <p:nvSpPr>
          <p:cNvPr id="67" name="Shape 48"/>
          <p:cNvSpPr/>
          <p:nvPr/>
        </p:nvSpPr>
        <p:spPr>
          <a:xfrm>
            <a:off x="6016752" y="3977640"/>
            <a:ext cx="1755648" cy="1417320"/>
          </a:xfrm>
          <a:prstGeom prst="roundRect">
            <a:avLst>
              <a:gd name="adj" fmla="val 516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68" name="Shape 49"/>
          <p:cNvSpPr/>
          <p:nvPr/>
        </p:nvSpPr>
        <p:spPr>
          <a:xfrm>
            <a:off x="6601968" y="4160520"/>
            <a:ext cx="585216" cy="585216"/>
          </a:xfrm>
          <a:prstGeom prst="ellipse">
            <a:avLst/>
          </a:prstGeom>
          <a:solidFill>
            <a:srgbClr val="C9A227"/>
          </a:solidFill>
          <a:ln/>
        </p:spPr>
        <p:txBody>
          <a:bodyPr/>
          <a:lstStyle/>
          <a:p>
            <a:endParaRPr lang="en-IN"/>
          </a:p>
        </p:txBody>
      </p:sp>
      <p:pic>
        <p:nvPicPr>
          <p:cNvPr id="69" name="Image 17" descr="preencoded.png"/>
          <p:cNvPicPr>
            <a:picLocks noChangeAspect="1"/>
          </p:cNvPicPr>
          <p:nvPr/>
        </p:nvPicPr>
        <p:blipFill>
          <a:blip r:embed="rId13"/>
          <a:stretch>
            <a:fillRect/>
          </a:stretch>
        </p:blipFill>
        <p:spPr>
          <a:xfrm>
            <a:off x="6754124" y="4312676"/>
            <a:ext cx="280904" cy="280904"/>
          </a:xfrm>
          <a:prstGeom prst="rect">
            <a:avLst/>
          </a:prstGeom>
        </p:spPr>
      </p:pic>
      <p:sp>
        <p:nvSpPr>
          <p:cNvPr id="70" name="Text 50"/>
          <p:cNvSpPr/>
          <p:nvPr/>
        </p:nvSpPr>
        <p:spPr>
          <a:xfrm>
            <a:off x="6089904" y="4846320"/>
            <a:ext cx="1609344" cy="502920"/>
          </a:xfrm>
          <a:prstGeom prst="rect">
            <a:avLst/>
          </a:prstGeom>
          <a:noFill/>
          <a:ln/>
        </p:spPr>
        <p:txBody>
          <a:bodyPr wrap="square" rtlCol="0" anchor="ctr"/>
          <a:lstStyle/>
          <a:p>
            <a:pPr marL="0" indent="0" algn="ctr">
              <a:lnSpc>
                <a:spcPct val="105000"/>
              </a:lnSpc>
              <a:buNone/>
            </a:pPr>
            <a:r>
              <a:rPr lang="en-US" sz="950" b="1" dirty="0">
                <a:solidFill>
                  <a:srgbClr val="1F2937"/>
                </a:solidFill>
                <a:latin typeface="Calibri" pitchFamily="34" charset="0"/>
                <a:ea typeface="Calibri" pitchFamily="34" charset="-122"/>
                <a:cs typeface="Calibri" pitchFamily="34" charset="-120"/>
              </a:rPr>
              <a:t>Executive Dashboard</a:t>
            </a:r>
            <a:endParaRPr lang="en-US" sz="950" dirty="0"/>
          </a:p>
        </p:txBody>
      </p:sp>
      <p:sp>
        <p:nvSpPr>
          <p:cNvPr id="71" name="Shape 51"/>
          <p:cNvSpPr/>
          <p:nvPr/>
        </p:nvSpPr>
        <p:spPr>
          <a:xfrm>
            <a:off x="7461504" y="3849624"/>
            <a:ext cx="292608" cy="292608"/>
          </a:xfrm>
          <a:prstGeom prst="ellipse">
            <a:avLst/>
          </a:prstGeom>
          <a:solidFill>
            <a:srgbClr val="FFFFFF"/>
          </a:solidFill>
          <a:ln w="19050">
            <a:solidFill>
              <a:srgbClr val="C9A227"/>
            </a:solidFill>
            <a:prstDash val="solid"/>
          </a:ln>
        </p:spPr>
        <p:txBody>
          <a:bodyPr/>
          <a:lstStyle/>
          <a:p>
            <a:endParaRPr lang="en-IN"/>
          </a:p>
        </p:txBody>
      </p:sp>
      <p:sp>
        <p:nvSpPr>
          <p:cNvPr id="72" name="Text 52"/>
          <p:cNvSpPr/>
          <p:nvPr/>
        </p:nvSpPr>
        <p:spPr>
          <a:xfrm>
            <a:off x="7461504" y="3840480"/>
            <a:ext cx="292608" cy="292608"/>
          </a:xfrm>
          <a:prstGeom prst="rect">
            <a:avLst/>
          </a:prstGeom>
          <a:noFill/>
          <a:ln/>
        </p:spPr>
        <p:txBody>
          <a:bodyPr wrap="square" rtlCol="0" anchor="ctr"/>
          <a:lstStyle/>
          <a:p>
            <a:pPr marL="0" indent="0" algn="ctr">
              <a:buNone/>
            </a:pPr>
            <a:r>
              <a:rPr lang="en-US" sz="900" b="1" dirty="0">
                <a:solidFill>
                  <a:srgbClr val="C9A227"/>
                </a:solidFill>
                <a:latin typeface="Calibri" pitchFamily="34" charset="0"/>
                <a:ea typeface="Calibri" pitchFamily="34" charset="-122"/>
                <a:cs typeface="Calibri" pitchFamily="34" charset="-120"/>
              </a:rPr>
              <a:t>10</a:t>
            </a:r>
            <a:endParaRPr lang="en-US" sz="900" dirty="0"/>
          </a:p>
        </p:txBody>
      </p:sp>
      <p:pic>
        <p:nvPicPr>
          <p:cNvPr id="73" name="Image 18" descr="preencoded.png"/>
          <p:cNvPicPr>
            <a:picLocks noChangeAspect="1"/>
          </p:cNvPicPr>
          <p:nvPr/>
        </p:nvPicPr>
        <p:blipFill>
          <a:blip r:embed="rId4"/>
          <a:stretch>
            <a:fillRect/>
          </a:stretch>
        </p:blipFill>
        <p:spPr>
          <a:xfrm>
            <a:off x="7776972" y="4604004"/>
            <a:ext cx="146304" cy="164592"/>
          </a:xfrm>
          <a:prstGeom prst="rect">
            <a:avLst/>
          </a:prstGeom>
        </p:spPr>
      </p:pic>
      <p:sp>
        <p:nvSpPr>
          <p:cNvPr id="74" name="Shape 53"/>
          <p:cNvSpPr/>
          <p:nvPr/>
        </p:nvSpPr>
        <p:spPr>
          <a:xfrm>
            <a:off x="7854696" y="3977640"/>
            <a:ext cx="1755648" cy="1417320"/>
          </a:xfrm>
          <a:prstGeom prst="roundRect">
            <a:avLst>
              <a:gd name="adj" fmla="val 516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75" name="Shape 54"/>
          <p:cNvSpPr/>
          <p:nvPr/>
        </p:nvSpPr>
        <p:spPr>
          <a:xfrm>
            <a:off x="8439912" y="4160520"/>
            <a:ext cx="585216" cy="585216"/>
          </a:xfrm>
          <a:prstGeom prst="ellipse">
            <a:avLst/>
          </a:prstGeom>
          <a:solidFill>
            <a:srgbClr val="C9A227"/>
          </a:solidFill>
          <a:ln/>
        </p:spPr>
        <p:txBody>
          <a:bodyPr/>
          <a:lstStyle/>
          <a:p>
            <a:endParaRPr lang="en-IN"/>
          </a:p>
        </p:txBody>
      </p:sp>
      <p:pic>
        <p:nvPicPr>
          <p:cNvPr id="76" name="Image 19" descr="preencoded.png"/>
          <p:cNvPicPr>
            <a:picLocks noChangeAspect="1"/>
          </p:cNvPicPr>
          <p:nvPr/>
        </p:nvPicPr>
        <p:blipFill>
          <a:blip r:embed="rId14"/>
          <a:stretch>
            <a:fillRect/>
          </a:stretch>
        </p:blipFill>
        <p:spPr>
          <a:xfrm>
            <a:off x="8592068" y="4312676"/>
            <a:ext cx="280904" cy="280904"/>
          </a:xfrm>
          <a:prstGeom prst="rect">
            <a:avLst/>
          </a:prstGeom>
        </p:spPr>
      </p:pic>
      <p:sp>
        <p:nvSpPr>
          <p:cNvPr id="77" name="Text 55"/>
          <p:cNvSpPr/>
          <p:nvPr/>
        </p:nvSpPr>
        <p:spPr>
          <a:xfrm>
            <a:off x="7927848" y="4846320"/>
            <a:ext cx="1609344" cy="502920"/>
          </a:xfrm>
          <a:prstGeom prst="rect">
            <a:avLst/>
          </a:prstGeom>
          <a:noFill/>
          <a:ln/>
        </p:spPr>
        <p:txBody>
          <a:bodyPr wrap="square" rtlCol="0" anchor="ctr"/>
          <a:lstStyle/>
          <a:p>
            <a:pPr marL="0" indent="0" algn="ctr">
              <a:lnSpc>
                <a:spcPct val="105000"/>
              </a:lnSpc>
              <a:buNone/>
            </a:pPr>
            <a:r>
              <a:rPr lang="en-US" sz="950" b="1" dirty="0">
                <a:solidFill>
                  <a:srgbClr val="1F2937"/>
                </a:solidFill>
                <a:latin typeface="Calibri" pitchFamily="34" charset="0"/>
                <a:ea typeface="Calibri" pitchFamily="34" charset="-122"/>
                <a:cs typeface="Calibri" pitchFamily="34" charset="-120"/>
              </a:rPr>
              <a:t>Insights Dashboard</a:t>
            </a:r>
            <a:endParaRPr lang="en-US" sz="950" dirty="0"/>
          </a:p>
        </p:txBody>
      </p:sp>
      <p:sp>
        <p:nvSpPr>
          <p:cNvPr id="78" name="Shape 56"/>
          <p:cNvSpPr/>
          <p:nvPr/>
        </p:nvSpPr>
        <p:spPr>
          <a:xfrm>
            <a:off x="9299448" y="3849624"/>
            <a:ext cx="292608" cy="292608"/>
          </a:xfrm>
          <a:prstGeom prst="ellipse">
            <a:avLst/>
          </a:prstGeom>
          <a:solidFill>
            <a:srgbClr val="FFFFFF"/>
          </a:solidFill>
          <a:ln w="19050">
            <a:solidFill>
              <a:srgbClr val="C9A227"/>
            </a:solidFill>
            <a:prstDash val="solid"/>
          </a:ln>
        </p:spPr>
        <p:txBody>
          <a:bodyPr/>
          <a:lstStyle/>
          <a:p>
            <a:endParaRPr lang="en-IN"/>
          </a:p>
        </p:txBody>
      </p:sp>
      <p:sp>
        <p:nvSpPr>
          <p:cNvPr id="79" name="Text 57"/>
          <p:cNvSpPr/>
          <p:nvPr/>
        </p:nvSpPr>
        <p:spPr>
          <a:xfrm>
            <a:off x="9299448" y="3840480"/>
            <a:ext cx="292608" cy="292608"/>
          </a:xfrm>
          <a:prstGeom prst="rect">
            <a:avLst/>
          </a:prstGeom>
          <a:noFill/>
          <a:ln/>
        </p:spPr>
        <p:txBody>
          <a:bodyPr wrap="square" rtlCol="0" anchor="ctr"/>
          <a:lstStyle/>
          <a:p>
            <a:pPr marL="0" indent="0" algn="ctr">
              <a:buNone/>
            </a:pPr>
            <a:r>
              <a:rPr lang="en-US" sz="900" b="1" dirty="0">
                <a:solidFill>
                  <a:srgbClr val="C9A227"/>
                </a:solidFill>
                <a:latin typeface="Calibri" pitchFamily="34" charset="0"/>
                <a:ea typeface="Calibri" pitchFamily="34" charset="-122"/>
                <a:cs typeface="Calibri" pitchFamily="34" charset="-120"/>
              </a:rPr>
              <a:t>11</a:t>
            </a:r>
            <a:endParaRPr lang="en-US" sz="900" dirty="0"/>
          </a:p>
        </p:txBody>
      </p:sp>
      <p:pic>
        <p:nvPicPr>
          <p:cNvPr id="80" name="Image 20" descr="preencoded.png"/>
          <p:cNvPicPr>
            <a:picLocks noChangeAspect="1"/>
          </p:cNvPicPr>
          <p:nvPr/>
        </p:nvPicPr>
        <p:blipFill>
          <a:blip r:embed="rId4"/>
          <a:stretch>
            <a:fillRect/>
          </a:stretch>
        </p:blipFill>
        <p:spPr>
          <a:xfrm>
            <a:off x="9614916" y="4604004"/>
            <a:ext cx="146304" cy="164592"/>
          </a:xfrm>
          <a:prstGeom prst="rect">
            <a:avLst/>
          </a:prstGeom>
        </p:spPr>
      </p:pic>
      <p:sp>
        <p:nvSpPr>
          <p:cNvPr id="81" name="Shape 58"/>
          <p:cNvSpPr/>
          <p:nvPr/>
        </p:nvSpPr>
        <p:spPr>
          <a:xfrm>
            <a:off x="9692640" y="3977640"/>
            <a:ext cx="1755648" cy="1417320"/>
          </a:xfrm>
          <a:prstGeom prst="roundRect">
            <a:avLst>
              <a:gd name="adj" fmla="val 5161"/>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82" name="Shape 59"/>
          <p:cNvSpPr/>
          <p:nvPr/>
        </p:nvSpPr>
        <p:spPr>
          <a:xfrm>
            <a:off x="10277856" y="4160520"/>
            <a:ext cx="585216" cy="585216"/>
          </a:xfrm>
          <a:prstGeom prst="ellipse">
            <a:avLst/>
          </a:prstGeom>
          <a:solidFill>
            <a:srgbClr val="C9A227"/>
          </a:solidFill>
          <a:ln/>
        </p:spPr>
        <p:txBody>
          <a:bodyPr/>
          <a:lstStyle/>
          <a:p>
            <a:endParaRPr lang="en-IN"/>
          </a:p>
        </p:txBody>
      </p:sp>
      <p:pic>
        <p:nvPicPr>
          <p:cNvPr id="83" name="Image 21" descr="preencoded.png"/>
          <p:cNvPicPr>
            <a:picLocks noChangeAspect="1"/>
          </p:cNvPicPr>
          <p:nvPr/>
        </p:nvPicPr>
        <p:blipFill>
          <a:blip r:embed="rId15"/>
          <a:stretch>
            <a:fillRect/>
          </a:stretch>
        </p:blipFill>
        <p:spPr>
          <a:xfrm>
            <a:off x="10430012" y="4312676"/>
            <a:ext cx="280904" cy="280904"/>
          </a:xfrm>
          <a:prstGeom prst="rect">
            <a:avLst/>
          </a:prstGeom>
        </p:spPr>
      </p:pic>
      <p:sp>
        <p:nvSpPr>
          <p:cNvPr id="84" name="Text 60"/>
          <p:cNvSpPr/>
          <p:nvPr/>
        </p:nvSpPr>
        <p:spPr>
          <a:xfrm>
            <a:off x="9765792" y="4846320"/>
            <a:ext cx="1609344" cy="502920"/>
          </a:xfrm>
          <a:prstGeom prst="rect">
            <a:avLst/>
          </a:prstGeom>
          <a:noFill/>
          <a:ln/>
        </p:spPr>
        <p:txBody>
          <a:bodyPr wrap="square" rtlCol="0" anchor="ctr"/>
          <a:lstStyle/>
          <a:p>
            <a:pPr marL="0" indent="0" algn="ctr">
              <a:lnSpc>
                <a:spcPct val="105000"/>
              </a:lnSpc>
              <a:buNone/>
            </a:pPr>
            <a:r>
              <a:rPr lang="en-US" sz="950" b="1" dirty="0">
                <a:solidFill>
                  <a:srgbClr val="1F2937"/>
                </a:solidFill>
                <a:latin typeface="Calibri" pitchFamily="34" charset="0"/>
                <a:ea typeface="Calibri" pitchFamily="34" charset="-122"/>
                <a:cs typeface="Calibri" pitchFamily="34" charset="-120"/>
              </a:rPr>
              <a:t>Recommendations</a:t>
            </a:r>
            <a:endParaRPr lang="en-US" sz="950" dirty="0"/>
          </a:p>
        </p:txBody>
      </p:sp>
      <p:sp>
        <p:nvSpPr>
          <p:cNvPr id="85" name="Shape 61"/>
          <p:cNvSpPr/>
          <p:nvPr/>
        </p:nvSpPr>
        <p:spPr>
          <a:xfrm>
            <a:off x="11137392" y="3849624"/>
            <a:ext cx="292608" cy="292608"/>
          </a:xfrm>
          <a:prstGeom prst="ellipse">
            <a:avLst/>
          </a:prstGeom>
          <a:solidFill>
            <a:srgbClr val="FFFFFF"/>
          </a:solidFill>
          <a:ln w="19050">
            <a:solidFill>
              <a:srgbClr val="C9A227"/>
            </a:solidFill>
            <a:prstDash val="solid"/>
          </a:ln>
        </p:spPr>
        <p:txBody>
          <a:bodyPr/>
          <a:lstStyle/>
          <a:p>
            <a:endParaRPr lang="en-IN"/>
          </a:p>
        </p:txBody>
      </p:sp>
      <p:sp>
        <p:nvSpPr>
          <p:cNvPr id="86" name="Text 62"/>
          <p:cNvSpPr/>
          <p:nvPr/>
        </p:nvSpPr>
        <p:spPr>
          <a:xfrm>
            <a:off x="11137392" y="3840480"/>
            <a:ext cx="292608" cy="292608"/>
          </a:xfrm>
          <a:prstGeom prst="rect">
            <a:avLst/>
          </a:prstGeom>
          <a:noFill/>
          <a:ln/>
        </p:spPr>
        <p:txBody>
          <a:bodyPr wrap="square" rtlCol="0" anchor="ctr"/>
          <a:lstStyle/>
          <a:p>
            <a:pPr marL="0" indent="0" algn="ctr">
              <a:buNone/>
            </a:pPr>
            <a:r>
              <a:rPr lang="en-US" sz="900" b="1" dirty="0">
                <a:solidFill>
                  <a:srgbClr val="C9A227"/>
                </a:solidFill>
                <a:latin typeface="Calibri" pitchFamily="34" charset="0"/>
                <a:ea typeface="Calibri" pitchFamily="34" charset="-122"/>
                <a:cs typeface="Calibri" pitchFamily="34" charset="-120"/>
              </a:rPr>
              <a:t>12</a:t>
            </a:r>
            <a:endParaRPr lang="en-US" sz="900" dirty="0"/>
          </a:p>
        </p:txBody>
      </p:sp>
      <p:pic>
        <p:nvPicPr>
          <p:cNvPr id="87" name="Image 22" descr="preencoded.png"/>
          <p:cNvPicPr>
            <a:picLocks noChangeAspect="1"/>
          </p:cNvPicPr>
          <p:nvPr/>
        </p:nvPicPr>
        <p:blipFill>
          <a:blip r:embed="rId16"/>
          <a:stretch>
            <a:fillRect/>
          </a:stretch>
        </p:blipFill>
        <p:spPr>
          <a:xfrm>
            <a:off x="10488168" y="3621024"/>
            <a:ext cx="164592" cy="146304"/>
          </a:xfrm>
          <a:prstGeom prst="rect">
            <a:avLst/>
          </a:prstGeom>
        </p:spPr>
      </p:pic>
      <p:sp>
        <p:nvSpPr>
          <p:cNvPr id="88" name="Text 63"/>
          <p:cNvSpPr/>
          <p:nvPr/>
        </p:nvSpPr>
        <p:spPr>
          <a:xfrm>
            <a:off x="502920" y="6547104"/>
            <a:ext cx="6400800" cy="256032"/>
          </a:xfrm>
          <a:prstGeom prst="rect">
            <a:avLst/>
          </a:prstGeom>
          <a:noFill/>
          <a:ln/>
        </p:spPr>
        <p:txBody>
          <a:bodyPr wrap="square" rtlCol="0" anchor="ctr"/>
          <a:lstStyle/>
          <a:p>
            <a:pPr marL="0" indent="0">
              <a:buNone/>
            </a:pPr>
            <a:r>
              <a:rPr lang="en-US" sz="800" kern="0" spc="100" dirty="0">
                <a:solidFill>
                  <a:srgbClr val="8A93A3"/>
                </a:solidFill>
                <a:latin typeface="Calibri" pitchFamily="34" charset="0"/>
                <a:ea typeface="Calibri" pitchFamily="34" charset="-122"/>
                <a:cs typeface="Calibri" pitchFamily="34" charset="-120"/>
              </a:rPr>
              <a:t>CUSTOMER DATA ANALYSIS  |  SQL &amp; POWER BI</a:t>
            </a:r>
            <a:endParaRPr lang="en-US" sz="800" dirty="0"/>
          </a:p>
        </p:txBody>
      </p:sp>
      <p:sp>
        <p:nvSpPr>
          <p:cNvPr id="89" name="Text 64"/>
          <p:cNvSpPr/>
          <p:nvPr/>
        </p:nvSpPr>
        <p:spPr>
          <a:xfrm>
            <a:off x="11064240" y="6547104"/>
            <a:ext cx="640080" cy="256032"/>
          </a:xfrm>
          <a:prstGeom prst="rect">
            <a:avLst/>
          </a:prstGeom>
          <a:noFill/>
          <a:ln/>
        </p:spPr>
        <p:txBody>
          <a:bodyPr wrap="square" rtlCol="0" anchor="ctr"/>
          <a:lstStyle/>
          <a:p>
            <a:pPr marL="0" indent="0" algn="r">
              <a:buNone/>
            </a:pPr>
            <a:r>
              <a:rPr lang="en-US" sz="800" dirty="0">
                <a:solidFill>
                  <a:srgbClr val="8A93A3"/>
                </a:solidFill>
                <a:latin typeface="Calibri" pitchFamily="34" charset="0"/>
                <a:ea typeface="Calibri" pitchFamily="34" charset="-122"/>
                <a:cs typeface="Calibri" pitchFamily="34" charset="-120"/>
              </a:rPr>
              <a:t>06 / 15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56032"/>
          </a:xfrm>
          <a:prstGeom prst="rect">
            <a:avLst/>
          </a:prstGeom>
          <a:noFill/>
          <a:ln/>
        </p:spPr>
        <p:txBody>
          <a:bodyPr wrap="square"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SECTION 06</a:t>
            </a:r>
            <a:endParaRPr lang="en-US" sz="1100" dirty="0"/>
          </a:p>
        </p:txBody>
      </p:sp>
      <p:sp>
        <p:nvSpPr>
          <p:cNvPr id="3" name="Text 1"/>
          <p:cNvSpPr/>
          <p:nvPr/>
        </p:nvSpPr>
        <p:spPr>
          <a:xfrm>
            <a:off x="502920" y="621792"/>
            <a:ext cx="10972800" cy="566928"/>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SQL Analysis Methodology</a:t>
            </a:r>
            <a:endParaRPr lang="en-US" sz="2800" dirty="0"/>
          </a:p>
        </p:txBody>
      </p:sp>
      <p:sp>
        <p:nvSpPr>
          <p:cNvPr id="4" name="Shape 2"/>
          <p:cNvSpPr/>
          <p:nvPr/>
        </p:nvSpPr>
        <p:spPr>
          <a:xfrm>
            <a:off x="502920" y="1508760"/>
            <a:ext cx="2697480" cy="2148840"/>
          </a:xfrm>
          <a:prstGeom prst="roundRect">
            <a:avLst>
              <a:gd name="adj" fmla="val 3830"/>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5" name="Shape 3"/>
          <p:cNvSpPr/>
          <p:nvPr/>
        </p:nvSpPr>
        <p:spPr>
          <a:xfrm>
            <a:off x="704088" y="1709928"/>
            <a:ext cx="512064" cy="512064"/>
          </a:xfrm>
          <a:prstGeom prst="ellipse">
            <a:avLst/>
          </a:prstGeom>
          <a:solidFill>
            <a:srgbClr val="1F4E79"/>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837225" y="1843065"/>
            <a:ext cx="245791" cy="245791"/>
          </a:xfrm>
          <a:prstGeom prst="rect">
            <a:avLst/>
          </a:prstGeom>
        </p:spPr>
      </p:pic>
      <p:sp>
        <p:nvSpPr>
          <p:cNvPr id="7" name="Text 4"/>
          <p:cNvSpPr/>
          <p:nvPr/>
        </p:nvSpPr>
        <p:spPr>
          <a:xfrm>
            <a:off x="2514600" y="1673352"/>
            <a:ext cx="548640" cy="365760"/>
          </a:xfrm>
          <a:prstGeom prst="rect">
            <a:avLst/>
          </a:prstGeom>
          <a:noFill/>
          <a:ln/>
        </p:spPr>
        <p:txBody>
          <a:bodyPr wrap="square" rtlCol="0" anchor="ctr"/>
          <a:lstStyle/>
          <a:p>
            <a:pPr marL="0" indent="0" algn="r">
              <a:buNone/>
            </a:pPr>
            <a:r>
              <a:rPr lang="en-US" sz="1600" b="1" dirty="0">
                <a:solidFill>
                  <a:srgbClr val="DDE1E8"/>
                </a:solidFill>
                <a:latin typeface="Calibri" pitchFamily="34" charset="0"/>
                <a:ea typeface="Calibri" pitchFamily="34" charset="-122"/>
                <a:cs typeface="Calibri" pitchFamily="34" charset="-120"/>
              </a:rPr>
              <a:t>01</a:t>
            </a:r>
            <a:endParaRPr lang="en-US" sz="1600" dirty="0"/>
          </a:p>
        </p:txBody>
      </p:sp>
      <p:sp>
        <p:nvSpPr>
          <p:cNvPr id="8" name="Text 5"/>
          <p:cNvSpPr/>
          <p:nvPr/>
        </p:nvSpPr>
        <p:spPr>
          <a:xfrm>
            <a:off x="704088" y="2350008"/>
            <a:ext cx="2295144" cy="384048"/>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Primary Analytical Tool</a:t>
            </a:r>
            <a:endParaRPr lang="en-US" sz="1200" dirty="0"/>
          </a:p>
        </p:txBody>
      </p:sp>
      <p:sp>
        <p:nvSpPr>
          <p:cNvPr id="9" name="Text 6"/>
          <p:cNvSpPr/>
          <p:nvPr/>
        </p:nvSpPr>
        <p:spPr>
          <a:xfrm>
            <a:off x="704088" y="2715768"/>
            <a:ext cx="2295144" cy="822960"/>
          </a:xfrm>
          <a:prstGeom prst="rect">
            <a:avLst/>
          </a:prstGeom>
          <a:noFill/>
          <a:ln/>
        </p:spPr>
        <p:txBody>
          <a:bodyPr wrap="square" rtlCol="0" anchor="ctr"/>
          <a:lstStyle/>
          <a:p>
            <a:pPr>
              <a:lnSpc>
                <a:spcPct val="122000"/>
              </a:lnSpc>
            </a:pPr>
            <a:r>
              <a:rPr lang="en-IN" sz="1000" dirty="0">
                <a:solidFill>
                  <a:schemeClr val="tx1">
                    <a:lumMod val="65000"/>
                    <a:lumOff val="35000"/>
                  </a:schemeClr>
                </a:solidFill>
              </a:rPr>
              <a:t>SQL served as the primary analytical tool for data exploration, transformation, and business analysis.</a:t>
            </a:r>
            <a:endParaRPr lang="en-US" sz="980" dirty="0">
              <a:solidFill>
                <a:schemeClr val="tx1">
                  <a:lumMod val="65000"/>
                  <a:lumOff val="35000"/>
                </a:schemeClr>
              </a:solidFill>
            </a:endParaRPr>
          </a:p>
        </p:txBody>
      </p:sp>
      <p:sp>
        <p:nvSpPr>
          <p:cNvPr id="10" name="Shape 7"/>
          <p:cNvSpPr/>
          <p:nvPr/>
        </p:nvSpPr>
        <p:spPr>
          <a:xfrm>
            <a:off x="3374136" y="1508760"/>
            <a:ext cx="2697480" cy="2148840"/>
          </a:xfrm>
          <a:prstGeom prst="roundRect">
            <a:avLst>
              <a:gd name="adj" fmla="val 3830"/>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1" name="Shape 8"/>
          <p:cNvSpPr/>
          <p:nvPr/>
        </p:nvSpPr>
        <p:spPr>
          <a:xfrm>
            <a:off x="3575304" y="1709928"/>
            <a:ext cx="512064" cy="512064"/>
          </a:xfrm>
          <a:prstGeom prst="ellipse">
            <a:avLst/>
          </a:prstGeom>
          <a:solidFill>
            <a:srgbClr val="2E6DA4"/>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3708441" y="1843065"/>
            <a:ext cx="245791" cy="245791"/>
          </a:xfrm>
          <a:prstGeom prst="rect">
            <a:avLst/>
          </a:prstGeom>
        </p:spPr>
      </p:pic>
      <p:sp>
        <p:nvSpPr>
          <p:cNvPr id="13" name="Text 9"/>
          <p:cNvSpPr/>
          <p:nvPr/>
        </p:nvSpPr>
        <p:spPr>
          <a:xfrm>
            <a:off x="5385816" y="1673352"/>
            <a:ext cx="548640" cy="365760"/>
          </a:xfrm>
          <a:prstGeom prst="rect">
            <a:avLst/>
          </a:prstGeom>
          <a:noFill/>
          <a:ln/>
        </p:spPr>
        <p:txBody>
          <a:bodyPr wrap="square" rtlCol="0" anchor="ctr"/>
          <a:lstStyle/>
          <a:p>
            <a:pPr marL="0" indent="0" algn="r">
              <a:buNone/>
            </a:pPr>
            <a:r>
              <a:rPr lang="en-US" sz="1600" b="1" dirty="0">
                <a:solidFill>
                  <a:srgbClr val="DDE1E8"/>
                </a:solidFill>
                <a:latin typeface="Calibri" pitchFamily="34" charset="0"/>
                <a:ea typeface="Calibri" pitchFamily="34" charset="-122"/>
                <a:cs typeface="Calibri" pitchFamily="34" charset="-120"/>
              </a:rPr>
              <a:t>02</a:t>
            </a:r>
            <a:endParaRPr lang="en-US" sz="1600" dirty="0"/>
          </a:p>
        </p:txBody>
      </p:sp>
      <p:sp>
        <p:nvSpPr>
          <p:cNvPr id="14" name="Text 10"/>
          <p:cNvSpPr/>
          <p:nvPr/>
        </p:nvSpPr>
        <p:spPr>
          <a:xfrm>
            <a:off x="3575304" y="2350008"/>
            <a:ext cx="2295144" cy="384048"/>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Data Validation</a:t>
            </a:r>
            <a:endParaRPr lang="en-US" sz="1200" dirty="0"/>
          </a:p>
        </p:txBody>
      </p:sp>
      <p:sp>
        <p:nvSpPr>
          <p:cNvPr id="15" name="Text 11"/>
          <p:cNvSpPr/>
          <p:nvPr/>
        </p:nvSpPr>
        <p:spPr>
          <a:xfrm>
            <a:off x="3575304" y="2715768"/>
            <a:ext cx="2295144" cy="822960"/>
          </a:xfrm>
          <a:prstGeom prst="rect">
            <a:avLst/>
          </a:prstGeom>
          <a:noFill/>
          <a:ln/>
        </p:spPr>
        <p:txBody>
          <a:bodyPr wrap="square" rtlCol="0" anchor="ctr"/>
          <a:lstStyle/>
          <a:p>
            <a:r>
              <a:rPr lang="en-IN" sz="1000" dirty="0">
                <a:solidFill>
                  <a:schemeClr val="tx1">
                    <a:lumMod val="65000"/>
                    <a:lumOff val="35000"/>
                  </a:schemeClr>
                </a:solidFill>
              </a:rPr>
              <a:t>SQL queries validated data quality by checking for missing values, duplicate records, and data consistency.</a:t>
            </a:r>
          </a:p>
        </p:txBody>
      </p:sp>
      <p:sp>
        <p:nvSpPr>
          <p:cNvPr id="16" name="Shape 12"/>
          <p:cNvSpPr/>
          <p:nvPr/>
        </p:nvSpPr>
        <p:spPr>
          <a:xfrm>
            <a:off x="6245352" y="1508760"/>
            <a:ext cx="2697480" cy="2148840"/>
          </a:xfrm>
          <a:prstGeom prst="roundRect">
            <a:avLst>
              <a:gd name="adj" fmla="val 3830"/>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7" name="Shape 13"/>
          <p:cNvSpPr/>
          <p:nvPr/>
        </p:nvSpPr>
        <p:spPr>
          <a:xfrm>
            <a:off x="6446520" y="1709928"/>
            <a:ext cx="512064" cy="512064"/>
          </a:xfrm>
          <a:prstGeom prst="ellipse">
            <a:avLst/>
          </a:prstGeom>
          <a:solidFill>
            <a:srgbClr val="2E6DA4"/>
          </a:solidFill>
          <a:ln/>
        </p:spPr>
        <p:txBody>
          <a:bodyPr/>
          <a:lstStyle/>
          <a:p>
            <a:endParaRPr lang="en-IN"/>
          </a:p>
        </p:txBody>
      </p:sp>
      <p:pic>
        <p:nvPicPr>
          <p:cNvPr id="18" name="Image 2" descr="preencoded.png"/>
          <p:cNvPicPr>
            <a:picLocks noChangeAspect="1"/>
          </p:cNvPicPr>
          <p:nvPr/>
        </p:nvPicPr>
        <p:blipFill>
          <a:blip r:embed="rId5"/>
          <a:stretch>
            <a:fillRect/>
          </a:stretch>
        </p:blipFill>
        <p:spPr>
          <a:xfrm>
            <a:off x="6579657" y="1843065"/>
            <a:ext cx="245791" cy="245791"/>
          </a:xfrm>
          <a:prstGeom prst="rect">
            <a:avLst/>
          </a:prstGeom>
        </p:spPr>
      </p:pic>
      <p:sp>
        <p:nvSpPr>
          <p:cNvPr id="19" name="Text 14"/>
          <p:cNvSpPr/>
          <p:nvPr/>
        </p:nvSpPr>
        <p:spPr>
          <a:xfrm>
            <a:off x="8257032" y="1673352"/>
            <a:ext cx="548640" cy="365760"/>
          </a:xfrm>
          <a:prstGeom prst="rect">
            <a:avLst/>
          </a:prstGeom>
          <a:noFill/>
          <a:ln/>
        </p:spPr>
        <p:txBody>
          <a:bodyPr wrap="square" rtlCol="0" anchor="ctr"/>
          <a:lstStyle/>
          <a:p>
            <a:pPr marL="0" indent="0" algn="r">
              <a:buNone/>
            </a:pPr>
            <a:r>
              <a:rPr lang="en-US" sz="1600" b="1" dirty="0">
                <a:solidFill>
                  <a:srgbClr val="DDE1E8"/>
                </a:solidFill>
                <a:latin typeface="Calibri" pitchFamily="34" charset="0"/>
                <a:ea typeface="Calibri" pitchFamily="34" charset="-122"/>
                <a:cs typeface="Calibri" pitchFamily="34" charset="-120"/>
              </a:rPr>
              <a:t>03</a:t>
            </a:r>
            <a:endParaRPr lang="en-US" sz="1600" dirty="0"/>
          </a:p>
        </p:txBody>
      </p:sp>
      <p:sp>
        <p:nvSpPr>
          <p:cNvPr id="20" name="Text 15"/>
          <p:cNvSpPr/>
          <p:nvPr/>
        </p:nvSpPr>
        <p:spPr>
          <a:xfrm>
            <a:off x="6446520" y="2350008"/>
            <a:ext cx="2295144" cy="384048"/>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Aggregate Functions</a:t>
            </a:r>
            <a:endParaRPr lang="en-US" sz="1200" dirty="0"/>
          </a:p>
        </p:txBody>
      </p:sp>
      <p:sp>
        <p:nvSpPr>
          <p:cNvPr id="21" name="Text 16"/>
          <p:cNvSpPr/>
          <p:nvPr/>
        </p:nvSpPr>
        <p:spPr>
          <a:xfrm>
            <a:off x="6446520" y="2715768"/>
            <a:ext cx="2295144" cy="822960"/>
          </a:xfrm>
          <a:prstGeom prst="rect">
            <a:avLst/>
          </a:prstGeom>
          <a:noFill/>
          <a:ln/>
        </p:spPr>
        <p:txBody>
          <a:bodyPr wrap="square" rtlCol="0" anchor="ctr"/>
          <a:lstStyle/>
          <a:p>
            <a:pPr>
              <a:lnSpc>
                <a:spcPct val="122000"/>
              </a:lnSpc>
            </a:pPr>
            <a:r>
              <a:rPr lang="en-IN" sz="1000" dirty="0">
                <a:solidFill>
                  <a:schemeClr val="tx1">
                    <a:lumMod val="65000"/>
                    <a:lumOff val="35000"/>
                  </a:schemeClr>
                </a:solidFill>
              </a:rPr>
              <a:t>COUNT(), SUM(), AVG(), and ROUND() were used to calculate key business metrics and summarize transaction data.</a:t>
            </a:r>
            <a:endParaRPr lang="en-US" sz="980" dirty="0">
              <a:solidFill>
                <a:schemeClr val="tx1">
                  <a:lumMod val="65000"/>
                  <a:lumOff val="35000"/>
                </a:schemeClr>
              </a:solidFill>
            </a:endParaRPr>
          </a:p>
        </p:txBody>
      </p:sp>
      <p:sp>
        <p:nvSpPr>
          <p:cNvPr id="22" name="Shape 17"/>
          <p:cNvSpPr/>
          <p:nvPr/>
        </p:nvSpPr>
        <p:spPr>
          <a:xfrm>
            <a:off x="9116568" y="1508760"/>
            <a:ext cx="2697480" cy="2148840"/>
          </a:xfrm>
          <a:prstGeom prst="roundRect">
            <a:avLst>
              <a:gd name="adj" fmla="val 3830"/>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3" name="Shape 18"/>
          <p:cNvSpPr/>
          <p:nvPr/>
        </p:nvSpPr>
        <p:spPr>
          <a:xfrm>
            <a:off x="9317736" y="1709928"/>
            <a:ext cx="512064" cy="512064"/>
          </a:xfrm>
          <a:prstGeom prst="ellipse">
            <a:avLst/>
          </a:prstGeom>
          <a:solidFill>
            <a:srgbClr val="8E44AD"/>
          </a:solidFill>
          <a:ln/>
        </p:spPr>
        <p:txBody>
          <a:bodyPr/>
          <a:lstStyle/>
          <a:p>
            <a:endParaRPr lang="en-IN"/>
          </a:p>
        </p:txBody>
      </p:sp>
      <p:pic>
        <p:nvPicPr>
          <p:cNvPr id="24" name="Image 3" descr="preencoded.png"/>
          <p:cNvPicPr>
            <a:picLocks noChangeAspect="1"/>
          </p:cNvPicPr>
          <p:nvPr/>
        </p:nvPicPr>
        <p:blipFill>
          <a:blip r:embed="rId6"/>
          <a:stretch>
            <a:fillRect/>
          </a:stretch>
        </p:blipFill>
        <p:spPr>
          <a:xfrm>
            <a:off x="9450873" y="1843065"/>
            <a:ext cx="245791" cy="245791"/>
          </a:xfrm>
          <a:prstGeom prst="rect">
            <a:avLst/>
          </a:prstGeom>
        </p:spPr>
      </p:pic>
      <p:sp>
        <p:nvSpPr>
          <p:cNvPr id="25" name="Text 19"/>
          <p:cNvSpPr/>
          <p:nvPr/>
        </p:nvSpPr>
        <p:spPr>
          <a:xfrm>
            <a:off x="11128248" y="1673352"/>
            <a:ext cx="548640" cy="365760"/>
          </a:xfrm>
          <a:prstGeom prst="rect">
            <a:avLst/>
          </a:prstGeom>
          <a:noFill/>
          <a:ln/>
        </p:spPr>
        <p:txBody>
          <a:bodyPr wrap="square" rtlCol="0" anchor="ctr"/>
          <a:lstStyle/>
          <a:p>
            <a:pPr marL="0" indent="0" algn="r">
              <a:buNone/>
            </a:pPr>
            <a:r>
              <a:rPr lang="en-US" sz="1600" b="1" dirty="0">
                <a:solidFill>
                  <a:srgbClr val="DDE1E8"/>
                </a:solidFill>
                <a:latin typeface="Calibri" pitchFamily="34" charset="0"/>
                <a:ea typeface="Calibri" pitchFamily="34" charset="-122"/>
                <a:cs typeface="Calibri" pitchFamily="34" charset="-120"/>
              </a:rPr>
              <a:t>04</a:t>
            </a:r>
            <a:endParaRPr lang="en-US" sz="1600" dirty="0"/>
          </a:p>
        </p:txBody>
      </p:sp>
      <p:sp>
        <p:nvSpPr>
          <p:cNvPr id="26" name="Text 20"/>
          <p:cNvSpPr/>
          <p:nvPr/>
        </p:nvSpPr>
        <p:spPr>
          <a:xfrm>
            <a:off x="9317736" y="2350008"/>
            <a:ext cx="2295144" cy="384048"/>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Grouping &amp; Ranking</a:t>
            </a:r>
            <a:endParaRPr lang="en-US" sz="1200" dirty="0"/>
          </a:p>
        </p:txBody>
      </p:sp>
      <p:sp>
        <p:nvSpPr>
          <p:cNvPr id="27" name="Text 21"/>
          <p:cNvSpPr/>
          <p:nvPr/>
        </p:nvSpPr>
        <p:spPr>
          <a:xfrm>
            <a:off x="9317736" y="2715768"/>
            <a:ext cx="2295144" cy="822960"/>
          </a:xfrm>
          <a:prstGeom prst="rect">
            <a:avLst/>
          </a:prstGeom>
          <a:noFill/>
          <a:ln/>
        </p:spPr>
        <p:txBody>
          <a:bodyPr wrap="square" rtlCol="0" anchor="ctr"/>
          <a:lstStyle/>
          <a:p>
            <a:pPr>
              <a:lnSpc>
                <a:spcPct val="122000"/>
              </a:lnSpc>
            </a:pPr>
            <a:r>
              <a:rPr lang="en-IN" sz="1000" dirty="0">
                <a:solidFill>
                  <a:schemeClr val="tx1">
                    <a:lumMod val="65000"/>
                    <a:lumOff val="35000"/>
                  </a:schemeClr>
                </a:solidFill>
              </a:rPr>
              <a:t>GROUP BY and ORDER BY were used to summarize, compare, and sort business performance.</a:t>
            </a:r>
            <a:endParaRPr lang="en-US" sz="980" dirty="0">
              <a:solidFill>
                <a:schemeClr val="tx1">
                  <a:lumMod val="65000"/>
                  <a:lumOff val="35000"/>
                </a:schemeClr>
              </a:solidFill>
            </a:endParaRPr>
          </a:p>
        </p:txBody>
      </p:sp>
      <p:sp>
        <p:nvSpPr>
          <p:cNvPr id="28" name="Shape 22"/>
          <p:cNvSpPr/>
          <p:nvPr/>
        </p:nvSpPr>
        <p:spPr>
          <a:xfrm>
            <a:off x="502920" y="3886200"/>
            <a:ext cx="2697480" cy="2148840"/>
          </a:xfrm>
          <a:prstGeom prst="roundRect">
            <a:avLst>
              <a:gd name="adj" fmla="val 3830"/>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9" name="Shape 23"/>
          <p:cNvSpPr/>
          <p:nvPr/>
        </p:nvSpPr>
        <p:spPr>
          <a:xfrm>
            <a:off x="704088" y="4087368"/>
            <a:ext cx="512064" cy="512064"/>
          </a:xfrm>
          <a:prstGeom prst="ellipse">
            <a:avLst/>
          </a:prstGeom>
          <a:solidFill>
            <a:srgbClr val="8E44AD"/>
          </a:solidFill>
          <a:ln/>
        </p:spPr>
        <p:txBody>
          <a:bodyPr/>
          <a:lstStyle/>
          <a:p>
            <a:endParaRPr lang="en-IN"/>
          </a:p>
        </p:txBody>
      </p:sp>
      <p:pic>
        <p:nvPicPr>
          <p:cNvPr id="30" name="Image 4" descr="preencoded.png"/>
          <p:cNvPicPr>
            <a:picLocks noChangeAspect="1"/>
          </p:cNvPicPr>
          <p:nvPr/>
        </p:nvPicPr>
        <p:blipFill>
          <a:blip r:embed="rId7"/>
          <a:stretch>
            <a:fillRect/>
          </a:stretch>
        </p:blipFill>
        <p:spPr>
          <a:xfrm>
            <a:off x="837225" y="4220505"/>
            <a:ext cx="245791" cy="245791"/>
          </a:xfrm>
          <a:prstGeom prst="rect">
            <a:avLst/>
          </a:prstGeom>
        </p:spPr>
      </p:pic>
      <p:sp>
        <p:nvSpPr>
          <p:cNvPr id="31" name="Text 24"/>
          <p:cNvSpPr/>
          <p:nvPr/>
        </p:nvSpPr>
        <p:spPr>
          <a:xfrm>
            <a:off x="2514600" y="4050792"/>
            <a:ext cx="548640" cy="365760"/>
          </a:xfrm>
          <a:prstGeom prst="rect">
            <a:avLst/>
          </a:prstGeom>
          <a:noFill/>
          <a:ln/>
        </p:spPr>
        <p:txBody>
          <a:bodyPr wrap="square" rtlCol="0" anchor="ctr"/>
          <a:lstStyle/>
          <a:p>
            <a:pPr marL="0" indent="0" algn="r">
              <a:buNone/>
            </a:pPr>
            <a:r>
              <a:rPr lang="en-US" sz="1600" b="1" dirty="0">
                <a:solidFill>
                  <a:srgbClr val="DDE1E8"/>
                </a:solidFill>
                <a:latin typeface="Calibri" pitchFamily="34" charset="0"/>
                <a:ea typeface="Calibri" pitchFamily="34" charset="-122"/>
                <a:cs typeface="Calibri" pitchFamily="34" charset="-120"/>
              </a:rPr>
              <a:t>05</a:t>
            </a:r>
            <a:endParaRPr lang="en-US" sz="1600" dirty="0"/>
          </a:p>
        </p:txBody>
      </p:sp>
      <p:sp>
        <p:nvSpPr>
          <p:cNvPr id="32" name="Text 25"/>
          <p:cNvSpPr/>
          <p:nvPr/>
        </p:nvSpPr>
        <p:spPr>
          <a:xfrm>
            <a:off x="704088" y="4727448"/>
            <a:ext cx="2295144" cy="384048"/>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CASE Segmentation</a:t>
            </a:r>
            <a:endParaRPr lang="en-US" sz="1200" dirty="0"/>
          </a:p>
        </p:txBody>
      </p:sp>
      <p:sp>
        <p:nvSpPr>
          <p:cNvPr id="33" name="Text 26"/>
          <p:cNvSpPr/>
          <p:nvPr/>
        </p:nvSpPr>
        <p:spPr>
          <a:xfrm>
            <a:off x="704088" y="5093208"/>
            <a:ext cx="2295144" cy="822960"/>
          </a:xfrm>
          <a:prstGeom prst="rect">
            <a:avLst/>
          </a:prstGeom>
          <a:noFill/>
          <a:ln/>
        </p:spPr>
        <p:txBody>
          <a:bodyPr wrap="square" rtlCol="0" anchor="ctr"/>
          <a:lstStyle/>
          <a:p>
            <a:pPr marL="0" indent="0">
              <a:lnSpc>
                <a:spcPct val="122000"/>
              </a:lnSpc>
              <a:buNone/>
            </a:pPr>
            <a:r>
              <a:rPr lang="en-US" sz="980" dirty="0">
                <a:solidFill>
                  <a:srgbClr val="48505C"/>
                </a:solidFill>
                <a:latin typeface="Calibri" pitchFamily="34" charset="0"/>
                <a:ea typeface="Calibri" pitchFamily="34" charset="-122"/>
                <a:cs typeface="Calibri" pitchFamily="34" charset="-120"/>
              </a:rPr>
              <a:t>A CASE expression categorized customers into age groups.</a:t>
            </a:r>
            <a:endParaRPr lang="en-US" sz="980" dirty="0"/>
          </a:p>
        </p:txBody>
      </p:sp>
      <p:sp>
        <p:nvSpPr>
          <p:cNvPr id="34" name="Shape 27"/>
          <p:cNvSpPr/>
          <p:nvPr/>
        </p:nvSpPr>
        <p:spPr>
          <a:xfrm>
            <a:off x="3374136" y="3886200"/>
            <a:ext cx="2697480" cy="2148840"/>
          </a:xfrm>
          <a:prstGeom prst="roundRect">
            <a:avLst>
              <a:gd name="adj" fmla="val 3830"/>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35" name="Shape 28"/>
          <p:cNvSpPr/>
          <p:nvPr/>
        </p:nvSpPr>
        <p:spPr>
          <a:xfrm>
            <a:off x="3575304" y="4087368"/>
            <a:ext cx="512064" cy="512064"/>
          </a:xfrm>
          <a:prstGeom prst="ellipse">
            <a:avLst/>
          </a:prstGeom>
          <a:solidFill>
            <a:srgbClr val="6A1B9A"/>
          </a:solidFill>
          <a:ln/>
        </p:spPr>
        <p:txBody>
          <a:bodyPr/>
          <a:lstStyle/>
          <a:p>
            <a:endParaRPr lang="en-IN"/>
          </a:p>
        </p:txBody>
      </p:sp>
      <p:pic>
        <p:nvPicPr>
          <p:cNvPr id="36" name="Image 5" descr="preencoded.png"/>
          <p:cNvPicPr>
            <a:picLocks noChangeAspect="1"/>
          </p:cNvPicPr>
          <p:nvPr/>
        </p:nvPicPr>
        <p:blipFill>
          <a:blip r:embed="rId8"/>
          <a:stretch>
            <a:fillRect/>
          </a:stretch>
        </p:blipFill>
        <p:spPr>
          <a:xfrm>
            <a:off x="3708441" y="4220505"/>
            <a:ext cx="245791" cy="245791"/>
          </a:xfrm>
          <a:prstGeom prst="rect">
            <a:avLst/>
          </a:prstGeom>
        </p:spPr>
      </p:pic>
      <p:sp>
        <p:nvSpPr>
          <p:cNvPr id="37" name="Text 29"/>
          <p:cNvSpPr/>
          <p:nvPr/>
        </p:nvSpPr>
        <p:spPr>
          <a:xfrm>
            <a:off x="5385816" y="4050792"/>
            <a:ext cx="548640" cy="365760"/>
          </a:xfrm>
          <a:prstGeom prst="rect">
            <a:avLst/>
          </a:prstGeom>
          <a:noFill/>
          <a:ln/>
        </p:spPr>
        <p:txBody>
          <a:bodyPr wrap="square" rtlCol="0" anchor="ctr"/>
          <a:lstStyle/>
          <a:p>
            <a:pPr marL="0" indent="0" algn="r">
              <a:buNone/>
            </a:pPr>
            <a:r>
              <a:rPr lang="en-US" sz="1600" b="1" dirty="0">
                <a:solidFill>
                  <a:srgbClr val="DDE1E8"/>
                </a:solidFill>
                <a:latin typeface="Calibri" pitchFamily="34" charset="0"/>
                <a:ea typeface="Calibri" pitchFamily="34" charset="-122"/>
                <a:cs typeface="Calibri" pitchFamily="34" charset="-120"/>
              </a:rPr>
              <a:t>06</a:t>
            </a:r>
            <a:endParaRPr lang="en-US" sz="1600" dirty="0"/>
          </a:p>
        </p:txBody>
      </p:sp>
      <p:sp>
        <p:nvSpPr>
          <p:cNvPr id="38" name="Text 30"/>
          <p:cNvSpPr/>
          <p:nvPr/>
        </p:nvSpPr>
        <p:spPr>
          <a:xfrm>
            <a:off x="3575304" y="4727448"/>
            <a:ext cx="2295144" cy="384048"/>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Revenue Calculation</a:t>
            </a:r>
            <a:endParaRPr lang="en-US" sz="1200" dirty="0"/>
          </a:p>
        </p:txBody>
      </p:sp>
      <p:sp>
        <p:nvSpPr>
          <p:cNvPr id="39" name="Text 31"/>
          <p:cNvSpPr/>
          <p:nvPr/>
        </p:nvSpPr>
        <p:spPr>
          <a:xfrm>
            <a:off x="3575304" y="5093208"/>
            <a:ext cx="2295144" cy="822960"/>
          </a:xfrm>
          <a:prstGeom prst="rect">
            <a:avLst/>
          </a:prstGeom>
          <a:noFill/>
          <a:ln/>
        </p:spPr>
        <p:txBody>
          <a:bodyPr wrap="square" rtlCol="0" anchor="ctr"/>
          <a:lstStyle/>
          <a:p>
            <a:pPr>
              <a:lnSpc>
                <a:spcPct val="122000"/>
              </a:lnSpc>
            </a:pPr>
            <a:r>
              <a:rPr lang="en-IN" sz="1000" dirty="0">
                <a:solidFill>
                  <a:schemeClr val="tx1">
                    <a:lumMod val="65000"/>
                    <a:lumOff val="35000"/>
                  </a:schemeClr>
                </a:solidFill>
              </a:rPr>
              <a:t>Revenue was derived using the SQL expression Quantity × Price to support sales and revenue analysis.</a:t>
            </a:r>
            <a:endParaRPr lang="en-US" sz="980" dirty="0">
              <a:solidFill>
                <a:schemeClr val="tx1">
                  <a:lumMod val="65000"/>
                  <a:lumOff val="35000"/>
                </a:schemeClr>
              </a:solidFill>
            </a:endParaRPr>
          </a:p>
        </p:txBody>
      </p:sp>
      <p:sp>
        <p:nvSpPr>
          <p:cNvPr id="40" name="Shape 32"/>
          <p:cNvSpPr/>
          <p:nvPr/>
        </p:nvSpPr>
        <p:spPr>
          <a:xfrm>
            <a:off x="6245352" y="3886200"/>
            <a:ext cx="2697480" cy="2148840"/>
          </a:xfrm>
          <a:prstGeom prst="roundRect">
            <a:avLst>
              <a:gd name="adj" fmla="val 3830"/>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41" name="Shape 33"/>
          <p:cNvSpPr/>
          <p:nvPr/>
        </p:nvSpPr>
        <p:spPr>
          <a:xfrm>
            <a:off x="6446520" y="4087368"/>
            <a:ext cx="512064" cy="512064"/>
          </a:xfrm>
          <a:prstGeom prst="ellipse">
            <a:avLst/>
          </a:prstGeom>
          <a:solidFill>
            <a:srgbClr val="6A1B9A"/>
          </a:solidFill>
          <a:ln/>
        </p:spPr>
        <p:txBody>
          <a:bodyPr/>
          <a:lstStyle/>
          <a:p>
            <a:endParaRPr lang="en-IN"/>
          </a:p>
        </p:txBody>
      </p:sp>
      <p:pic>
        <p:nvPicPr>
          <p:cNvPr id="42" name="Image 6" descr="preencoded.png"/>
          <p:cNvPicPr>
            <a:picLocks noChangeAspect="1"/>
          </p:cNvPicPr>
          <p:nvPr/>
        </p:nvPicPr>
        <p:blipFill>
          <a:blip r:embed="rId9"/>
          <a:stretch>
            <a:fillRect/>
          </a:stretch>
        </p:blipFill>
        <p:spPr>
          <a:xfrm>
            <a:off x="6579657" y="4220505"/>
            <a:ext cx="245791" cy="245791"/>
          </a:xfrm>
          <a:prstGeom prst="rect">
            <a:avLst/>
          </a:prstGeom>
        </p:spPr>
      </p:pic>
      <p:sp>
        <p:nvSpPr>
          <p:cNvPr id="43" name="Text 34"/>
          <p:cNvSpPr/>
          <p:nvPr/>
        </p:nvSpPr>
        <p:spPr>
          <a:xfrm>
            <a:off x="8257032" y="4050792"/>
            <a:ext cx="548640" cy="365760"/>
          </a:xfrm>
          <a:prstGeom prst="rect">
            <a:avLst/>
          </a:prstGeom>
          <a:noFill/>
          <a:ln/>
        </p:spPr>
        <p:txBody>
          <a:bodyPr wrap="square" rtlCol="0" anchor="ctr"/>
          <a:lstStyle/>
          <a:p>
            <a:pPr marL="0" indent="0" algn="r">
              <a:buNone/>
            </a:pPr>
            <a:r>
              <a:rPr lang="en-US" sz="1600" b="1" dirty="0">
                <a:solidFill>
                  <a:srgbClr val="DDE1E8"/>
                </a:solidFill>
                <a:latin typeface="Calibri" pitchFamily="34" charset="0"/>
                <a:ea typeface="Calibri" pitchFamily="34" charset="-122"/>
                <a:cs typeface="Calibri" pitchFamily="34" charset="-120"/>
              </a:rPr>
              <a:t>07</a:t>
            </a:r>
            <a:endParaRPr lang="en-US" sz="1600" dirty="0"/>
          </a:p>
        </p:txBody>
      </p:sp>
      <p:sp>
        <p:nvSpPr>
          <p:cNvPr id="44" name="Text 35"/>
          <p:cNvSpPr/>
          <p:nvPr/>
        </p:nvSpPr>
        <p:spPr>
          <a:xfrm>
            <a:off x="6446520" y="4727448"/>
            <a:ext cx="2295144" cy="384048"/>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Question-Driven Queries</a:t>
            </a:r>
            <a:endParaRPr lang="en-US" sz="1200" dirty="0"/>
          </a:p>
        </p:txBody>
      </p:sp>
      <p:sp>
        <p:nvSpPr>
          <p:cNvPr id="45" name="Text 36"/>
          <p:cNvSpPr/>
          <p:nvPr/>
        </p:nvSpPr>
        <p:spPr>
          <a:xfrm>
            <a:off x="6446520" y="5093208"/>
            <a:ext cx="2295144" cy="822960"/>
          </a:xfrm>
          <a:prstGeom prst="rect">
            <a:avLst/>
          </a:prstGeom>
          <a:noFill/>
          <a:ln/>
        </p:spPr>
        <p:txBody>
          <a:bodyPr wrap="square" rtlCol="0" anchor="ctr"/>
          <a:lstStyle/>
          <a:p>
            <a:pPr marL="0" indent="0">
              <a:lnSpc>
                <a:spcPct val="122000"/>
              </a:lnSpc>
              <a:buNone/>
            </a:pPr>
            <a:r>
              <a:rPr lang="en-US" sz="980" dirty="0">
                <a:solidFill>
                  <a:srgbClr val="48505C"/>
                </a:solidFill>
                <a:latin typeface="Calibri" pitchFamily="34" charset="0"/>
                <a:ea typeface="Calibri" pitchFamily="34" charset="-122"/>
                <a:cs typeface="Calibri" pitchFamily="34" charset="-120"/>
              </a:rPr>
              <a:t>Each query was scoped to answer one business question.</a:t>
            </a:r>
            <a:endParaRPr lang="en-US" sz="980" dirty="0"/>
          </a:p>
        </p:txBody>
      </p:sp>
      <p:sp>
        <p:nvSpPr>
          <p:cNvPr id="46" name="Shape 37"/>
          <p:cNvSpPr/>
          <p:nvPr/>
        </p:nvSpPr>
        <p:spPr>
          <a:xfrm>
            <a:off x="9116568" y="3886200"/>
            <a:ext cx="2697480" cy="2148840"/>
          </a:xfrm>
          <a:prstGeom prst="roundRect">
            <a:avLst>
              <a:gd name="adj" fmla="val 3830"/>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47" name="Shape 38"/>
          <p:cNvSpPr/>
          <p:nvPr/>
        </p:nvSpPr>
        <p:spPr>
          <a:xfrm>
            <a:off x="9317736" y="4087368"/>
            <a:ext cx="512064" cy="512064"/>
          </a:xfrm>
          <a:prstGeom prst="ellipse">
            <a:avLst/>
          </a:prstGeom>
          <a:solidFill>
            <a:srgbClr val="C9A227"/>
          </a:solidFill>
          <a:ln/>
        </p:spPr>
        <p:txBody>
          <a:bodyPr/>
          <a:lstStyle/>
          <a:p>
            <a:endParaRPr lang="en-IN"/>
          </a:p>
        </p:txBody>
      </p:sp>
      <p:pic>
        <p:nvPicPr>
          <p:cNvPr id="48" name="Image 7" descr="preencoded.png"/>
          <p:cNvPicPr>
            <a:picLocks noChangeAspect="1"/>
          </p:cNvPicPr>
          <p:nvPr/>
        </p:nvPicPr>
        <p:blipFill>
          <a:blip r:embed="rId10"/>
          <a:stretch>
            <a:fillRect/>
          </a:stretch>
        </p:blipFill>
        <p:spPr>
          <a:xfrm>
            <a:off x="9450873" y="4220505"/>
            <a:ext cx="245791" cy="245791"/>
          </a:xfrm>
          <a:prstGeom prst="rect">
            <a:avLst/>
          </a:prstGeom>
        </p:spPr>
      </p:pic>
      <p:sp>
        <p:nvSpPr>
          <p:cNvPr id="49" name="Text 39"/>
          <p:cNvSpPr/>
          <p:nvPr/>
        </p:nvSpPr>
        <p:spPr>
          <a:xfrm>
            <a:off x="11128248" y="4050792"/>
            <a:ext cx="548640" cy="365760"/>
          </a:xfrm>
          <a:prstGeom prst="rect">
            <a:avLst/>
          </a:prstGeom>
          <a:noFill/>
          <a:ln/>
        </p:spPr>
        <p:txBody>
          <a:bodyPr wrap="square" rtlCol="0" anchor="ctr"/>
          <a:lstStyle/>
          <a:p>
            <a:pPr marL="0" indent="0" algn="r">
              <a:buNone/>
            </a:pPr>
            <a:r>
              <a:rPr lang="en-US" sz="1600" b="1" dirty="0">
                <a:solidFill>
                  <a:srgbClr val="DDE1E8"/>
                </a:solidFill>
                <a:latin typeface="Calibri" pitchFamily="34" charset="0"/>
                <a:ea typeface="Calibri" pitchFamily="34" charset="-122"/>
                <a:cs typeface="Calibri" pitchFamily="34" charset="-120"/>
              </a:rPr>
              <a:t>08</a:t>
            </a:r>
            <a:endParaRPr lang="en-US" sz="1600" dirty="0"/>
          </a:p>
        </p:txBody>
      </p:sp>
      <p:sp>
        <p:nvSpPr>
          <p:cNvPr id="50" name="Text 40"/>
          <p:cNvSpPr/>
          <p:nvPr/>
        </p:nvSpPr>
        <p:spPr>
          <a:xfrm>
            <a:off x="9317736" y="4727448"/>
            <a:ext cx="2295144" cy="384048"/>
          </a:xfrm>
          <a:prstGeom prst="rect">
            <a:avLst/>
          </a:prstGeom>
          <a:noFill/>
          <a:ln/>
        </p:spPr>
        <p:txBody>
          <a:bodyPr wrap="square" rtlCol="0" anchor="ctr"/>
          <a:lstStyle/>
          <a:p>
            <a:pPr marL="0" indent="0">
              <a:buNone/>
            </a:pPr>
            <a:r>
              <a:rPr lang="en-US" sz="1200" b="1" dirty="0">
                <a:solidFill>
                  <a:srgbClr val="1F2937"/>
                </a:solidFill>
                <a:latin typeface="Calibri" pitchFamily="34" charset="0"/>
                <a:ea typeface="Calibri" pitchFamily="34" charset="-122"/>
                <a:cs typeface="Calibri" pitchFamily="34" charset="-120"/>
              </a:rPr>
              <a:t>Business Interpretation</a:t>
            </a:r>
            <a:endParaRPr lang="en-US" sz="1200" dirty="0"/>
          </a:p>
        </p:txBody>
      </p:sp>
      <p:sp>
        <p:nvSpPr>
          <p:cNvPr id="51" name="Text 41"/>
          <p:cNvSpPr/>
          <p:nvPr/>
        </p:nvSpPr>
        <p:spPr>
          <a:xfrm>
            <a:off x="9317736" y="5093208"/>
            <a:ext cx="2295144" cy="822960"/>
          </a:xfrm>
          <a:prstGeom prst="rect">
            <a:avLst/>
          </a:prstGeom>
          <a:noFill/>
          <a:ln/>
        </p:spPr>
        <p:txBody>
          <a:bodyPr wrap="square" rtlCol="0" anchor="ctr"/>
          <a:lstStyle/>
          <a:p>
            <a:pPr>
              <a:lnSpc>
                <a:spcPct val="122000"/>
              </a:lnSpc>
            </a:pPr>
            <a:r>
              <a:rPr lang="en-IN" sz="1000" dirty="0">
                <a:solidFill>
                  <a:schemeClr val="tx1">
                    <a:lumMod val="65000"/>
                    <a:lumOff val="35000"/>
                  </a:schemeClr>
                </a:solidFill>
              </a:rPr>
              <a:t>SQL results were translated into actionable business insights and recommendations</a:t>
            </a:r>
            <a:r>
              <a:rPr lang="en-IN" sz="1000" dirty="0"/>
              <a:t>.</a:t>
            </a:r>
            <a:endParaRPr lang="en-US" sz="980" dirty="0"/>
          </a:p>
        </p:txBody>
      </p:sp>
      <p:sp>
        <p:nvSpPr>
          <p:cNvPr id="52" name="Text 42"/>
          <p:cNvSpPr/>
          <p:nvPr/>
        </p:nvSpPr>
        <p:spPr>
          <a:xfrm>
            <a:off x="502920" y="6547104"/>
            <a:ext cx="6400800" cy="256032"/>
          </a:xfrm>
          <a:prstGeom prst="rect">
            <a:avLst/>
          </a:prstGeom>
          <a:noFill/>
          <a:ln/>
        </p:spPr>
        <p:txBody>
          <a:bodyPr wrap="square" rtlCol="0" anchor="ctr"/>
          <a:lstStyle/>
          <a:p>
            <a:pPr marL="0" indent="0">
              <a:buNone/>
            </a:pPr>
            <a:r>
              <a:rPr lang="en-US" sz="800" kern="0" spc="100" dirty="0">
                <a:solidFill>
                  <a:srgbClr val="8A93A3"/>
                </a:solidFill>
                <a:latin typeface="Calibri" pitchFamily="34" charset="0"/>
                <a:ea typeface="Calibri" pitchFamily="34" charset="-122"/>
                <a:cs typeface="Calibri" pitchFamily="34" charset="-120"/>
              </a:rPr>
              <a:t>CUSTOMER DATA ANALYSIS  |  SQL &amp; POWER BI</a:t>
            </a:r>
            <a:endParaRPr lang="en-US" sz="800" dirty="0"/>
          </a:p>
        </p:txBody>
      </p:sp>
      <p:sp>
        <p:nvSpPr>
          <p:cNvPr id="53" name="Text 43"/>
          <p:cNvSpPr/>
          <p:nvPr/>
        </p:nvSpPr>
        <p:spPr>
          <a:xfrm>
            <a:off x="11064240" y="6547104"/>
            <a:ext cx="640080" cy="256032"/>
          </a:xfrm>
          <a:prstGeom prst="rect">
            <a:avLst/>
          </a:prstGeom>
          <a:noFill/>
          <a:ln/>
        </p:spPr>
        <p:txBody>
          <a:bodyPr wrap="square" rtlCol="0" anchor="ctr"/>
          <a:lstStyle/>
          <a:p>
            <a:pPr marL="0" indent="0" algn="r">
              <a:buNone/>
            </a:pPr>
            <a:r>
              <a:rPr lang="en-US" sz="800" dirty="0">
                <a:solidFill>
                  <a:srgbClr val="8A93A3"/>
                </a:solidFill>
                <a:latin typeface="Calibri" pitchFamily="34" charset="0"/>
                <a:ea typeface="Calibri" pitchFamily="34" charset="-122"/>
                <a:cs typeface="Calibri" pitchFamily="34" charset="-120"/>
              </a:rPr>
              <a:t>07 / 15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56032"/>
          </a:xfrm>
          <a:prstGeom prst="rect">
            <a:avLst/>
          </a:prstGeom>
          <a:noFill/>
          <a:ln/>
        </p:spPr>
        <p:txBody>
          <a:bodyPr wrap="square"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SECTION 07</a:t>
            </a:r>
            <a:endParaRPr lang="en-US" sz="1100" dirty="0"/>
          </a:p>
        </p:txBody>
      </p:sp>
      <p:sp>
        <p:nvSpPr>
          <p:cNvPr id="3" name="Text 1"/>
          <p:cNvSpPr/>
          <p:nvPr/>
        </p:nvSpPr>
        <p:spPr>
          <a:xfrm>
            <a:off x="502920" y="621792"/>
            <a:ext cx="10972800" cy="566928"/>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SQL Business Analysis &amp; Key Findings</a:t>
            </a:r>
            <a:endParaRPr lang="en-US" sz="2800" dirty="0"/>
          </a:p>
        </p:txBody>
      </p:sp>
      <p:sp>
        <p:nvSpPr>
          <p:cNvPr id="4" name="Text 2"/>
          <p:cNvSpPr/>
          <p:nvPr/>
        </p:nvSpPr>
        <p:spPr>
          <a:xfrm>
            <a:off x="502920" y="1371600"/>
            <a:ext cx="11155680" cy="320040"/>
          </a:xfrm>
          <a:prstGeom prst="rect">
            <a:avLst/>
          </a:prstGeom>
          <a:noFill/>
          <a:ln/>
        </p:spPr>
        <p:txBody>
          <a:bodyPr wrap="square" rtlCol="0" anchor="ctr"/>
          <a:lstStyle/>
          <a:p>
            <a:r>
              <a:rPr lang="en-IN" sz="1400" dirty="0">
                <a:solidFill>
                  <a:schemeClr val="tx1">
                    <a:lumMod val="65000"/>
                    <a:lumOff val="35000"/>
                  </a:schemeClr>
                </a:solidFill>
              </a:rPr>
              <a:t>SQL analysis answered 11 key business questions, providing the foundation for the Power BI dashboards and business recommendations.</a:t>
            </a:r>
            <a:endParaRPr lang="en-US" sz="1250" dirty="0">
              <a:solidFill>
                <a:schemeClr val="tx1">
                  <a:lumMod val="65000"/>
                  <a:lumOff val="35000"/>
                </a:schemeClr>
              </a:solidFill>
            </a:endParaRPr>
          </a:p>
        </p:txBody>
      </p:sp>
      <p:sp>
        <p:nvSpPr>
          <p:cNvPr id="5" name="Shape 3"/>
          <p:cNvSpPr/>
          <p:nvPr/>
        </p:nvSpPr>
        <p:spPr>
          <a:xfrm>
            <a:off x="502920" y="1874520"/>
            <a:ext cx="5440680" cy="2148840"/>
          </a:xfrm>
          <a:prstGeom prst="roundRect">
            <a:avLst>
              <a:gd name="adj" fmla="val 3830"/>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6" name="Text 4"/>
          <p:cNvSpPr/>
          <p:nvPr/>
        </p:nvSpPr>
        <p:spPr>
          <a:xfrm>
            <a:off x="731520" y="2029968"/>
            <a:ext cx="3657600" cy="27432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Revenue by Gender</a:t>
            </a:r>
            <a:endParaRPr lang="en-US" sz="1250" dirty="0"/>
          </a:p>
        </p:txBody>
      </p:sp>
      <p:sp>
        <p:nvSpPr>
          <p:cNvPr id="7" name="Text 5"/>
          <p:cNvSpPr/>
          <p:nvPr/>
        </p:nvSpPr>
        <p:spPr>
          <a:xfrm>
            <a:off x="731520" y="2423160"/>
            <a:ext cx="914400" cy="256032"/>
          </a:xfrm>
          <a:prstGeom prst="rect">
            <a:avLst/>
          </a:prstGeom>
          <a:noFill/>
          <a:ln/>
        </p:spPr>
        <p:txBody>
          <a:bodyPr wrap="square" rtlCol="0" anchor="ctr"/>
          <a:lstStyle/>
          <a:p>
            <a:pPr marL="0" indent="0">
              <a:buNone/>
            </a:pPr>
            <a:r>
              <a:rPr lang="en-US" sz="1050" dirty="0">
                <a:solidFill>
                  <a:srgbClr val="48505C"/>
                </a:solidFill>
                <a:latin typeface="Calibri" pitchFamily="34" charset="0"/>
                <a:ea typeface="Calibri" pitchFamily="34" charset="-122"/>
                <a:cs typeface="Calibri" pitchFamily="34" charset="-120"/>
              </a:rPr>
              <a:t>Female</a:t>
            </a:r>
            <a:endParaRPr lang="en-US" sz="1050" dirty="0"/>
          </a:p>
        </p:txBody>
      </p:sp>
      <p:sp>
        <p:nvSpPr>
          <p:cNvPr id="8" name="Shape 6"/>
          <p:cNvSpPr/>
          <p:nvPr/>
        </p:nvSpPr>
        <p:spPr>
          <a:xfrm>
            <a:off x="1691640" y="2432304"/>
            <a:ext cx="2606040" cy="256032"/>
          </a:xfrm>
          <a:prstGeom prst="roundRect">
            <a:avLst>
              <a:gd name="adj" fmla="val 17857"/>
            </a:avLst>
          </a:prstGeom>
          <a:solidFill>
            <a:srgbClr val="6A1B9A"/>
          </a:solidFill>
          <a:ln/>
        </p:spPr>
        <p:txBody>
          <a:bodyPr/>
          <a:lstStyle/>
          <a:p>
            <a:endParaRPr lang="en-IN"/>
          </a:p>
        </p:txBody>
      </p:sp>
      <p:sp>
        <p:nvSpPr>
          <p:cNvPr id="9" name="Text 7"/>
          <p:cNvSpPr/>
          <p:nvPr/>
        </p:nvSpPr>
        <p:spPr>
          <a:xfrm>
            <a:off x="4370832" y="2423160"/>
            <a:ext cx="1508760" cy="256032"/>
          </a:xfrm>
          <a:prstGeom prst="rect">
            <a:avLst/>
          </a:prstGeom>
          <a:noFill/>
          <a:ln/>
        </p:spPr>
        <p:txBody>
          <a:bodyPr wrap="square" rtlCol="0" anchor="ctr"/>
          <a:lstStyle/>
          <a:p>
            <a:pPr marL="0" indent="0">
              <a:buNone/>
            </a:pPr>
            <a:r>
              <a:rPr lang="en-US" sz="950" b="1" dirty="0">
                <a:solidFill>
                  <a:srgbClr val="6A1B9A"/>
                </a:solidFill>
                <a:latin typeface="Calibri" pitchFamily="34" charset="0"/>
                <a:ea typeface="Calibri" pitchFamily="34" charset="-122"/>
                <a:cs typeface="Calibri" pitchFamily="34" charset="-120"/>
              </a:rPr>
              <a:t>1,408,881 (62%)</a:t>
            </a:r>
            <a:endParaRPr lang="en-US" sz="950" dirty="0"/>
          </a:p>
        </p:txBody>
      </p:sp>
      <p:sp>
        <p:nvSpPr>
          <p:cNvPr id="10" name="Text 8"/>
          <p:cNvSpPr/>
          <p:nvPr/>
        </p:nvSpPr>
        <p:spPr>
          <a:xfrm>
            <a:off x="731520" y="2788920"/>
            <a:ext cx="914400" cy="256032"/>
          </a:xfrm>
          <a:prstGeom prst="rect">
            <a:avLst/>
          </a:prstGeom>
          <a:noFill/>
          <a:ln/>
        </p:spPr>
        <p:txBody>
          <a:bodyPr wrap="square" rtlCol="0" anchor="ctr"/>
          <a:lstStyle/>
          <a:p>
            <a:pPr marL="0" indent="0">
              <a:buNone/>
            </a:pPr>
            <a:r>
              <a:rPr lang="en-US" sz="1050" dirty="0">
                <a:solidFill>
                  <a:srgbClr val="48505C"/>
                </a:solidFill>
                <a:latin typeface="Calibri" pitchFamily="34" charset="0"/>
                <a:ea typeface="Calibri" pitchFamily="34" charset="-122"/>
                <a:cs typeface="Calibri" pitchFamily="34" charset="-120"/>
              </a:rPr>
              <a:t>Male</a:t>
            </a:r>
            <a:endParaRPr lang="en-US" sz="1050" dirty="0"/>
          </a:p>
        </p:txBody>
      </p:sp>
      <p:sp>
        <p:nvSpPr>
          <p:cNvPr id="11" name="Shape 9"/>
          <p:cNvSpPr/>
          <p:nvPr/>
        </p:nvSpPr>
        <p:spPr>
          <a:xfrm>
            <a:off x="1691640" y="2798064"/>
            <a:ext cx="1764792" cy="256032"/>
          </a:xfrm>
          <a:prstGeom prst="roundRect">
            <a:avLst>
              <a:gd name="adj" fmla="val 17857"/>
            </a:avLst>
          </a:prstGeom>
          <a:solidFill>
            <a:srgbClr val="1F4E79"/>
          </a:solidFill>
          <a:ln/>
        </p:spPr>
        <p:txBody>
          <a:bodyPr/>
          <a:lstStyle/>
          <a:p>
            <a:endParaRPr lang="en-IN"/>
          </a:p>
        </p:txBody>
      </p:sp>
      <p:sp>
        <p:nvSpPr>
          <p:cNvPr id="12" name="Text 10"/>
          <p:cNvSpPr/>
          <p:nvPr/>
        </p:nvSpPr>
        <p:spPr>
          <a:xfrm>
            <a:off x="3529584" y="2788920"/>
            <a:ext cx="1508760" cy="256032"/>
          </a:xfrm>
          <a:prstGeom prst="rect">
            <a:avLst/>
          </a:prstGeom>
          <a:noFill/>
          <a:ln/>
        </p:spPr>
        <p:txBody>
          <a:bodyPr wrap="square" rtlCol="0" anchor="ctr"/>
          <a:lstStyle/>
          <a:p>
            <a:pPr marL="0" indent="0">
              <a:buNone/>
            </a:pPr>
            <a:r>
              <a:rPr lang="en-US" sz="950" b="1" dirty="0">
                <a:solidFill>
                  <a:srgbClr val="1F4E79"/>
                </a:solidFill>
                <a:latin typeface="Calibri" pitchFamily="34" charset="0"/>
                <a:ea typeface="Calibri" pitchFamily="34" charset="-122"/>
                <a:cs typeface="Calibri" pitchFamily="34" charset="-120"/>
              </a:rPr>
              <a:t>955,487 (38%)</a:t>
            </a:r>
            <a:endParaRPr lang="en-US" sz="950" dirty="0"/>
          </a:p>
        </p:txBody>
      </p:sp>
      <p:sp>
        <p:nvSpPr>
          <p:cNvPr id="13" name="Text 11"/>
          <p:cNvSpPr/>
          <p:nvPr/>
        </p:nvSpPr>
        <p:spPr>
          <a:xfrm>
            <a:off x="731520" y="3246120"/>
            <a:ext cx="4937760" cy="685800"/>
          </a:xfrm>
          <a:prstGeom prst="rect">
            <a:avLst/>
          </a:prstGeom>
          <a:noFill/>
          <a:ln/>
        </p:spPr>
        <p:txBody>
          <a:bodyPr wrap="square" rtlCol="0" anchor="ctr"/>
          <a:lstStyle/>
          <a:p>
            <a:pPr>
              <a:lnSpc>
                <a:spcPct val="125000"/>
              </a:lnSpc>
            </a:pPr>
            <a:r>
              <a:rPr lang="en-IN" sz="1000" dirty="0">
                <a:solidFill>
                  <a:schemeClr val="tx1">
                    <a:lumMod val="50000"/>
                    <a:lumOff val="50000"/>
                  </a:schemeClr>
                </a:solidFill>
              </a:rPr>
              <a:t>Female customers completed 620 transactions and purchased 1,853 units, compared to 380 transactions and 1,128 units purchased by male customers.</a:t>
            </a:r>
            <a:endParaRPr lang="en-US" sz="980" dirty="0">
              <a:solidFill>
                <a:schemeClr val="tx1">
                  <a:lumMod val="50000"/>
                  <a:lumOff val="50000"/>
                </a:schemeClr>
              </a:solidFill>
            </a:endParaRPr>
          </a:p>
        </p:txBody>
      </p:sp>
      <p:sp>
        <p:nvSpPr>
          <p:cNvPr id="14" name="Shape 12"/>
          <p:cNvSpPr/>
          <p:nvPr/>
        </p:nvSpPr>
        <p:spPr>
          <a:xfrm>
            <a:off x="6217920" y="1874520"/>
            <a:ext cx="5440680" cy="2148840"/>
          </a:xfrm>
          <a:prstGeom prst="roundRect">
            <a:avLst>
              <a:gd name="adj" fmla="val 3830"/>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5" name="Text 13"/>
          <p:cNvSpPr/>
          <p:nvPr/>
        </p:nvSpPr>
        <p:spPr>
          <a:xfrm>
            <a:off x="6446520" y="2029968"/>
            <a:ext cx="3657600" cy="27432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Revenue by Age Group</a:t>
            </a:r>
            <a:endParaRPr lang="en-US" sz="1250" dirty="0"/>
          </a:p>
        </p:txBody>
      </p:sp>
      <p:sp>
        <p:nvSpPr>
          <p:cNvPr id="16" name="Text 14"/>
          <p:cNvSpPr/>
          <p:nvPr/>
        </p:nvSpPr>
        <p:spPr>
          <a:xfrm>
            <a:off x="6446520" y="2395728"/>
            <a:ext cx="685800" cy="237744"/>
          </a:xfrm>
          <a:prstGeom prst="rect">
            <a:avLst/>
          </a:prstGeom>
          <a:noFill/>
          <a:ln/>
        </p:spPr>
        <p:txBody>
          <a:bodyPr wrap="square" rtlCol="0" anchor="ctr"/>
          <a:lstStyle/>
          <a:p>
            <a:pPr marL="0" indent="0">
              <a:buNone/>
            </a:pPr>
            <a:r>
              <a:rPr lang="en-US" sz="1000" dirty="0">
                <a:solidFill>
                  <a:srgbClr val="48505C"/>
                </a:solidFill>
                <a:latin typeface="Calibri" pitchFamily="34" charset="0"/>
                <a:ea typeface="Calibri" pitchFamily="34" charset="-122"/>
                <a:cs typeface="Calibri" pitchFamily="34" charset="-120"/>
              </a:rPr>
              <a:t>50+</a:t>
            </a:r>
            <a:endParaRPr lang="en-US" sz="1000" dirty="0"/>
          </a:p>
        </p:txBody>
      </p:sp>
      <p:sp>
        <p:nvSpPr>
          <p:cNvPr id="17" name="Shape 15"/>
          <p:cNvSpPr/>
          <p:nvPr/>
        </p:nvSpPr>
        <p:spPr>
          <a:xfrm>
            <a:off x="7178040" y="2404872"/>
            <a:ext cx="2834640" cy="201168"/>
          </a:xfrm>
          <a:prstGeom prst="roundRect">
            <a:avLst>
              <a:gd name="adj" fmla="val 18182"/>
            </a:avLst>
          </a:prstGeom>
          <a:solidFill>
            <a:srgbClr val="C9A227"/>
          </a:solidFill>
          <a:ln/>
        </p:spPr>
        <p:txBody>
          <a:bodyPr/>
          <a:lstStyle/>
          <a:p>
            <a:endParaRPr lang="en-IN"/>
          </a:p>
        </p:txBody>
      </p:sp>
      <p:sp>
        <p:nvSpPr>
          <p:cNvPr id="18" name="Text 16"/>
          <p:cNvSpPr/>
          <p:nvPr/>
        </p:nvSpPr>
        <p:spPr>
          <a:xfrm>
            <a:off x="10085832" y="2386584"/>
            <a:ext cx="822960" cy="237744"/>
          </a:xfrm>
          <a:prstGeom prst="rect">
            <a:avLst/>
          </a:prstGeom>
          <a:noFill/>
          <a:ln/>
        </p:spPr>
        <p:txBody>
          <a:bodyPr wrap="square" rtlCol="0" anchor="ctr"/>
          <a:lstStyle/>
          <a:p>
            <a:pPr marL="0" indent="0">
              <a:buNone/>
            </a:pPr>
            <a:r>
              <a:rPr lang="en-US" sz="900" b="1" dirty="0">
                <a:solidFill>
                  <a:srgbClr val="1F2937"/>
                </a:solidFill>
                <a:latin typeface="Calibri" pitchFamily="34" charset="0"/>
                <a:ea typeface="Calibri" pitchFamily="34" charset="-122"/>
                <a:cs typeface="Calibri" pitchFamily="34" charset="-120"/>
              </a:rPr>
              <a:t>901.4K</a:t>
            </a:r>
            <a:endParaRPr lang="en-US" sz="900" dirty="0"/>
          </a:p>
        </p:txBody>
      </p:sp>
      <p:sp>
        <p:nvSpPr>
          <p:cNvPr id="19" name="Text 17"/>
          <p:cNvSpPr/>
          <p:nvPr/>
        </p:nvSpPr>
        <p:spPr>
          <a:xfrm>
            <a:off x="6446520" y="2715768"/>
            <a:ext cx="685800" cy="237744"/>
          </a:xfrm>
          <a:prstGeom prst="rect">
            <a:avLst/>
          </a:prstGeom>
          <a:noFill/>
          <a:ln/>
        </p:spPr>
        <p:txBody>
          <a:bodyPr wrap="square" rtlCol="0" anchor="ctr"/>
          <a:lstStyle/>
          <a:p>
            <a:pPr marL="0" indent="0">
              <a:buNone/>
            </a:pPr>
            <a:r>
              <a:rPr lang="en-US" sz="1000" dirty="0">
                <a:solidFill>
                  <a:srgbClr val="48505C"/>
                </a:solidFill>
                <a:latin typeface="Calibri" pitchFamily="34" charset="0"/>
                <a:ea typeface="Calibri" pitchFamily="34" charset="-122"/>
                <a:cs typeface="Calibri" pitchFamily="34" charset="-120"/>
              </a:rPr>
              <a:t>20–30</a:t>
            </a:r>
            <a:endParaRPr lang="en-US" sz="1000" dirty="0"/>
          </a:p>
        </p:txBody>
      </p:sp>
      <p:sp>
        <p:nvSpPr>
          <p:cNvPr id="20" name="Shape 18"/>
          <p:cNvSpPr/>
          <p:nvPr/>
        </p:nvSpPr>
        <p:spPr>
          <a:xfrm>
            <a:off x="7178040" y="2724912"/>
            <a:ext cx="1563549" cy="201168"/>
          </a:xfrm>
          <a:prstGeom prst="roundRect">
            <a:avLst>
              <a:gd name="adj" fmla="val 18182"/>
            </a:avLst>
          </a:prstGeom>
          <a:solidFill>
            <a:srgbClr val="1F4E79"/>
          </a:solidFill>
          <a:ln/>
        </p:spPr>
        <p:txBody>
          <a:bodyPr/>
          <a:lstStyle/>
          <a:p>
            <a:endParaRPr lang="en-IN"/>
          </a:p>
        </p:txBody>
      </p:sp>
      <p:sp>
        <p:nvSpPr>
          <p:cNvPr id="21" name="Text 19"/>
          <p:cNvSpPr/>
          <p:nvPr/>
        </p:nvSpPr>
        <p:spPr>
          <a:xfrm>
            <a:off x="8814741" y="2706624"/>
            <a:ext cx="822960" cy="237744"/>
          </a:xfrm>
          <a:prstGeom prst="rect">
            <a:avLst/>
          </a:prstGeom>
          <a:noFill/>
          <a:ln/>
        </p:spPr>
        <p:txBody>
          <a:bodyPr wrap="square" rtlCol="0" anchor="ctr"/>
          <a:lstStyle/>
          <a:p>
            <a:pPr marL="0" indent="0">
              <a:buNone/>
            </a:pPr>
            <a:r>
              <a:rPr lang="en-US" sz="900" b="1" dirty="0">
                <a:solidFill>
                  <a:srgbClr val="1F2937"/>
                </a:solidFill>
                <a:latin typeface="Calibri" pitchFamily="34" charset="0"/>
                <a:ea typeface="Calibri" pitchFamily="34" charset="-122"/>
                <a:cs typeface="Calibri" pitchFamily="34" charset="-120"/>
              </a:rPr>
              <a:t>497.2K</a:t>
            </a:r>
            <a:endParaRPr lang="en-US" sz="900" dirty="0"/>
          </a:p>
        </p:txBody>
      </p:sp>
      <p:sp>
        <p:nvSpPr>
          <p:cNvPr id="22" name="Text 20"/>
          <p:cNvSpPr/>
          <p:nvPr/>
        </p:nvSpPr>
        <p:spPr>
          <a:xfrm>
            <a:off x="6446520" y="3035808"/>
            <a:ext cx="685800" cy="237744"/>
          </a:xfrm>
          <a:prstGeom prst="rect">
            <a:avLst/>
          </a:prstGeom>
          <a:noFill/>
          <a:ln/>
        </p:spPr>
        <p:txBody>
          <a:bodyPr wrap="square" rtlCol="0" anchor="ctr"/>
          <a:lstStyle/>
          <a:p>
            <a:pPr marL="0" indent="0">
              <a:buNone/>
            </a:pPr>
            <a:r>
              <a:rPr lang="en-US" sz="1000" dirty="0">
                <a:solidFill>
                  <a:srgbClr val="48505C"/>
                </a:solidFill>
                <a:latin typeface="Calibri" pitchFamily="34" charset="0"/>
                <a:ea typeface="Calibri" pitchFamily="34" charset="-122"/>
                <a:cs typeface="Calibri" pitchFamily="34" charset="-120"/>
              </a:rPr>
              <a:t>41–50</a:t>
            </a:r>
            <a:endParaRPr lang="en-US" sz="1000" dirty="0"/>
          </a:p>
        </p:txBody>
      </p:sp>
      <p:sp>
        <p:nvSpPr>
          <p:cNvPr id="23" name="Shape 21"/>
          <p:cNvSpPr/>
          <p:nvPr/>
        </p:nvSpPr>
        <p:spPr>
          <a:xfrm>
            <a:off x="7178040" y="3044952"/>
            <a:ext cx="1527385" cy="201168"/>
          </a:xfrm>
          <a:prstGeom prst="roundRect">
            <a:avLst>
              <a:gd name="adj" fmla="val 18182"/>
            </a:avLst>
          </a:prstGeom>
          <a:solidFill>
            <a:srgbClr val="2E6DA4"/>
          </a:solidFill>
          <a:ln/>
        </p:spPr>
        <p:txBody>
          <a:bodyPr/>
          <a:lstStyle/>
          <a:p>
            <a:endParaRPr lang="en-IN"/>
          </a:p>
        </p:txBody>
      </p:sp>
      <p:sp>
        <p:nvSpPr>
          <p:cNvPr id="24" name="Text 22"/>
          <p:cNvSpPr/>
          <p:nvPr/>
        </p:nvSpPr>
        <p:spPr>
          <a:xfrm>
            <a:off x="8778577" y="3026664"/>
            <a:ext cx="822960" cy="237744"/>
          </a:xfrm>
          <a:prstGeom prst="rect">
            <a:avLst/>
          </a:prstGeom>
          <a:noFill/>
          <a:ln/>
        </p:spPr>
        <p:txBody>
          <a:bodyPr wrap="square" rtlCol="0" anchor="ctr"/>
          <a:lstStyle/>
          <a:p>
            <a:pPr marL="0" indent="0">
              <a:buNone/>
            </a:pPr>
            <a:r>
              <a:rPr lang="en-US" sz="900" b="1" dirty="0">
                <a:solidFill>
                  <a:srgbClr val="1F2937"/>
                </a:solidFill>
                <a:latin typeface="Calibri" pitchFamily="34" charset="0"/>
                <a:ea typeface="Calibri" pitchFamily="34" charset="-122"/>
                <a:cs typeface="Calibri" pitchFamily="34" charset="-120"/>
              </a:rPr>
              <a:t>485.7K</a:t>
            </a:r>
            <a:endParaRPr lang="en-US" sz="900" dirty="0"/>
          </a:p>
        </p:txBody>
      </p:sp>
      <p:sp>
        <p:nvSpPr>
          <p:cNvPr id="25" name="Text 23"/>
          <p:cNvSpPr/>
          <p:nvPr/>
        </p:nvSpPr>
        <p:spPr>
          <a:xfrm>
            <a:off x="6446520" y="3355848"/>
            <a:ext cx="685800" cy="237744"/>
          </a:xfrm>
          <a:prstGeom prst="rect">
            <a:avLst/>
          </a:prstGeom>
          <a:noFill/>
          <a:ln/>
        </p:spPr>
        <p:txBody>
          <a:bodyPr wrap="square" rtlCol="0" anchor="ctr"/>
          <a:lstStyle/>
          <a:p>
            <a:pPr marL="0" indent="0">
              <a:buNone/>
            </a:pPr>
            <a:r>
              <a:rPr lang="en-US" sz="1000" dirty="0">
                <a:solidFill>
                  <a:srgbClr val="48505C"/>
                </a:solidFill>
                <a:latin typeface="Calibri" pitchFamily="34" charset="0"/>
                <a:ea typeface="Calibri" pitchFamily="34" charset="-122"/>
                <a:cs typeface="Calibri" pitchFamily="34" charset="-120"/>
              </a:rPr>
              <a:t>31–40</a:t>
            </a:r>
            <a:endParaRPr lang="en-US" sz="1000" dirty="0"/>
          </a:p>
        </p:txBody>
      </p:sp>
      <p:sp>
        <p:nvSpPr>
          <p:cNvPr id="26" name="Shape 24"/>
          <p:cNvSpPr/>
          <p:nvPr/>
        </p:nvSpPr>
        <p:spPr>
          <a:xfrm>
            <a:off x="7178040" y="3364992"/>
            <a:ext cx="1286186" cy="201168"/>
          </a:xfrm>
          <a:prstGeom prst="roundRect">
            <a:avLst>
              <a:gd name="adj" fmla="val 18182"/>
            </a:avLst>
          </a:prstGeom>
          <a:solidFill>
            <a:srgbClr val="8E44AD"/>
          </a:solidFill>
          <a:ln/>
        </p:spPr>
        <p:txBody>
          <a:bodyPr/>
          <a:lstStyle/>
          <a:p>
            <a:endParaRPr lang="en-IN"/>
          </a:p>
        </p:txBody>
      </p:sp>
      <p:sp>
        <p:nvSpPr>
          <p:cNvPr id="27" name="Text 25"/>
          <p:cNvSpPr/>
          <p:nvPr/>
        </p:nvSpPr>
        <p:spPr>
          <a:xfrm>
            <a:off x="8537378" y="3346704"/>
            <a:ext cx="822960" cy="237744"/>
          </a:xfrm>
          <a:prstGeom prst="rect">
            <a:avLst/>
          </a:prstGeom>
          <a:noFill/>
          <a:ln/>
        </p:spPr>
        <p:txBody>
          <a:bodyPr wrap="square" rtlCol="0" anchor="ctr"/>
          <a:lstStyle/>
          <a:p>
            <a:pPr marL="0" indent="0">
              <a:buNone/>
            </a:pPr>
            <a:r>
              <a:rPr lang="en-US" sz="900" b="1" dirty="0">
                <a:solidFill>
                  <a:srgbClr val="1F2937"/>
                </a:solidFill>
                <a:latin typeface="Calibri" pitchFamily="34" charset="0"/>
                <a:ea typeface="Calibri" pitchFamily="34" charset="-122"/>
                <a:cs typeface="Calibri" pitchFamily="34" charset="-120"/>
              </a:rPr>
              <a:t>409.0K</a:t>
            </a:r>
            <a:endParaRPr lang="en-US" sz="900" dirty="0"/>
          </a:p>
        </p:txBody>
      </p:sp>
      <p:sp>
        <p:nvSpPr>
          <p:cNvPr id="28" name="Shape 26"/>
          <p:cNvSpPr/>
          <p:nvPr/>
        </p:nvSpPr>
        <p:spPr>
          <a:xfrm>
            <a:off x="502920" y="4251960"/>
            <a:ext cx="3611880" cy="2148840"/>
          </a:xfrm>
          <a:prstGeom prst="roundRect">
            <a:avLst>
              <a:gd name="adj" fmla="val 3830"/>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9" name="Shape 27"/>
          <p:cNvSpPr/>
          <p:nvPr/>
        </p:nvSpPr>
        <p:spPr>
          <a:xfrm>
            <a:off x="731520" y="4480560"/>
            <a:ext cx="548640" cy="548640"/>
          </a:xfrm>
          <a:prstGeom prst="ellipse">
            <a:avLst/>
          </a:prstGeom>
          <a:solidFill>
            <a:srgbClr val="1F4E79"/>
          </a:solidFill>
          <a:ln/>
        </p:spPr>
        <p:txBody>
          <a:bodyPr/>
          <a:lstStyle/>
          <a:p>
            <a:endParaRPr lang="en-IN"/>
          </a:p>
        </p:txBody>
      </p:sp>
      <p:pic>
        <p:nvPicPr>
          <p:cNvPr id="30" name="Image 0" descr="preencoded.png"/>
          <p:cNvPicPr>
            <a:picLocks noChangeAspect="1"/>
          </p:cNvPicPr>
          <p:nvPr/>
        </p:nvPicPr>
        <p:blipFill>
          <a:blip r:embed="rId3"/>
          <a:stretch>
            <a:fillRect/>
          </a:stretch>
        </p:blipFill>
        <p:spPr>
          <a:xfrm>
            <a:off x="874166" y="4623206"/>
            <a:ext cx="263347" cy="263347"/>
          </a:xfrm>
          <a:prstGeom prst="rect">
            <a:avLst/>
          </a:prstGeom>
        </p:spPr>
      </p:pic>
      <p:sp>
        <p:nvSpPr>
          <p:cNvPr id="31" name="Text 28"/>
          <p:cNvSpPr/>
          <p:nvPr/>
        </p:nvSpPr>
        <p:spPr>
          <a:xfrm>
            <a:off x="1463040" y="4507992"/>
            <a:ext cx="2423160" cy="365760"/>
          </a:xfrm>
          <a:prstGeom prst="rect">
            <a:avLst/>
          </a:prstGeom>
          <a:noFill/>
          <a:ln/>
        </p:spPr>
        <p:txBody>
          <a:bodyPr wrap="square"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Clothing</a:t>
            </a:r>
            <a:endParaRPr lang="en-US" sz="1500" dirty="0"/>
          </a:p>
        </p:txBody>
      </p:sp>
      <p:sp>
        <p:nvSpPr>
          <p:cNvPr id="32" name="Text 29"/>
          <p:cNvSpPr/>
          <p:nvPr/>
        </p:nvSpPr>
        <p:spPr>
          <a:xfrm>
            <a:off x="731520" y="5166360"/>
            <a:ext cx="3154680" cy="1005840"/>
          </a:xfrm>
          <a:prstGeom prst="rect">
            <a:avLst/>
          </a:prstGeom>
          <a:noFill/>
          <a:ln/>
        </p:spPr>
        <p:txBody>
          <a:bodyPr wrap="square" rtlCol="0" anchor="ctr"/>
          <a:lstStyle/>
          <a:p>
            <a:pPr>
              <a:lnSpc>
                <a:spcPct val="130000"/>
              </a:lnSpc>
            </a:pPr>
            <a:r>
              <a:rPr lang="en-IN" sz="1050" dirty="0">
                <a:solidFill>
                  <a:schemeClr val="tx1">
                    <a:lumMod val="65000"/>
                    <a:lumOff val="35000"/>
                  </a:schemeClr>
                </a:solidFill>
              </a:rPr>
              <a:t>Highest-performing product category by revenue and quantity sold.</a:t>
            </a:r>
            <a:endParaRPr lang="en-US" sz="1050" dirty="0">
              <a:solidFill>
                <a:schemeClr val="tx1">
                  <a:lumMod val="65000"/>
                  <a:lumOff val="35000"/>
                </a:schemeClr>
              </a:solidFill>
            </a:endParaRPr>
          </a:p>
        </p:txBody>
      </p:sp>
      <p:sp>
        <p:nvSpPr>
          <p:cNvPr id="33" name="Shape 30"/>
          <p:cNvSpPr/>
          <p:nvPr/>
        </p:nvSpPr>
        <p:spPr>
          <a:xfrm>
            <a:off x="4343400" y="4251960"/>
            <a:ext cx="3611880" cy="2148840"/>
          </a:xfrm>
          <a:prstGeom prst="roundRect">
            <a:avLst>
              <a:gd name="adj" fmla="val 3830"/>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34" name="Shape 31"/>
          <p:cNvSpPr/>
          <p:nvPr/>
        </p:nvSpPr>
        <p:spPr>
          <a:xfrm>
            <a:off x="4572000" y="4480560"/>
            <a:ext cx="548640" cy="548640"/>
          </a:xfrm>
          <a:prstGeom prst="ellipse">
            <a:avLst/>
          </a:prstGeom>
          <a:solidFill>
            <a:srgbClr val="6A1B9A"/>
          </a:solidFill>
          <a:ln/>
        </p:spPr>
        <p:txBody>
          <a:bodyPr/>
          <a:lstStyle/>
          <a:p>
            <a:endParaRPr lang="en-IN"/>
          </a:p>
        </p:txBody>
      </p:sp>
      <p:pic>
        <p:nvPicPr>
          <p:cNvPr id="35" name="Image 1" descr="preencoded.png"/>
          <p:cNvPicPr>
            <a:picLocks noChangeAspect="1"/>
          </p:cNvPicPr>
          <p:nvPr/>
        </p:nvPicPr>
        <p:blipFill>
          <a:blip r:embed="rId4"/>
          <a:stretch>
            <a:fillRect/>
          </a:stretch>
        </p:blipFill>
        <p:spPr>
          <a:xfrm>
            <a:off x="4714646" y="4623206"/>
            <a:ext cx="263347" cy="263347"/>
          </a:xfrm>
          <a:prstGeom prst="rect">
            <a:avLst/>
          </a:prstGeom>
        </p:spPr>
      </p:pic>
      <p:sp>
        <p:nvSpPr>
          <p:cNvPr id="36" name="Text 32"/>
          <p:cNvSpPr/>
          <p:nvPr/>
        </p:nvSpPr>
        <p:spPr>
          <a:xfrm>
            <a:off x="5303520" y="4507992"/>
            <a:ext cx="2423160" cy="365760"/>
          </a:xfrm>
          <a:prstGeom prst="rect">
            <a:avLst/>
          </a:prstGeom>
          <a:noFill/>
          <a:ln/>
        </p:spPr>
        <p:txBody>
          <a:bodyPr wrap="square"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Cash</a:t>
            </a:r>
            <a:endParaRPr lang="en-US" sz="1500" dirty="0"/>
          </a:p>
        </p:txBody>
      </p:sp>
      <p:sp>
        <p:nvSpPr>
          <p:cNvPr id="37" name="Text 33"/>
          <p:cNvSpPr/>
          <p:nvPr/>
        </p:nvSpPr>
        <p:spPr>
          <a:xfrm>
            <a:off x="4572000" y="5166360"/>
            <a:ext cx="3154680" cy="1005840"/>
          </a:xfrm>
          <a:prstGeom prst="rect">
            <a:avLst/>
          </a:prstGeom>
          <a:noFill/>
          <a:ln/>
        </p:spPr>
        <p:txBody>
          <a:bodyPr wrap="square" rtlCol="0" anchor="ctr"/>
          <a:lstStyle/>
          <a:p>
            <a:pPr>
              <a:lnSpc>
                <a:spcPct val="130000"/>
              </a:lnSpc>
            </a:pPr>
            <a:r>
              <a:rPr lang="en-IN" sz="1050" dirty="0">
                <a:solidFill>
                  <a:schemeClr val="tx1">
                    <a:lumMod val="65000"/>
                    <a:lumOff val="35000"/>
                  </a:schemeClr>
                </a:solidFill>
              </a:rPr>
              <a:t>Most preferred payment method, accounting for 42% of all transactions.</a:t>
            </a:r>
            <a:endParaRPr lang="en-US" sz="1050" dirty="0">
              <a:solidFill>
                <a:schemeClr val="tx1">
                  <a:lumMod val="65000"/>
                  <a:lumOff val="35000"/>
                </a:schemeClr>
              </a:solidFill>
            </a:endParaRPr>
          </a:p>
        </p:txBody>
      </p:sp>
      <p:sp>
        <p:nvSpPr>
          <p:cNvPr id="38" name="Shape 34"/>
          <p:cNvSpPr/>
          <p:nvPr/>
        </p:nvSpPr>
        <p:spPr>
          <a:xfrm>
            <a:off x="8183880" y="4251960"/>
            <a:ext cx="3611880" cy="2148840"/>
          </a:xfrm>
          <a:prstGeom prst="roundRect">
            <a:avLst>
              <a:gd name="adj" fmla="val 3830"/>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39" name="Shape 35"/>
          <p:cNvSpPr/>
          <p:nvPr/>
        </p:nvSpPr>
        <p:spPr>
          <a:xfrm>
            <a:off x="8412480" y="4480560"/>
            <a:ext cx="548640" cy="548640"/>
          </a:xfrm>
          <a:prstGeom prst="ellipse">
            <a:avLst/>
          </a:prstGeom>
          <a:solidFill>
            <a:srgbClr val="C9A227"/>
          </a:solidFill>
          <a:ln/>
        </p:spPr>
        <p:txBody>
          <a:bodyPr/>
          <a:lstStyle/>
          <a:p>
            <a:endParaRPr lang="en-IN"/>
          </a:p>
        </p:txBody>
      </p:sp>
      <p:pic>
        <p:nvPicPr>
          <p:cNvPr id="40" name="Image 2" descr="preencoded.png"/>
          <p:cNvPicPr>
            <a:picLocks noChangeAspect="1"/>
          </p:cNvPicPr>
          <p:nvPr/>
        </p:nvPicPr>
        <p:blipFill>
          <a:blip r:embed="rId5"/>
          <a:stretch>
            <a:fillRect/>
          </a:stretch>
        </p:blipFill>
        <p:spPr>
          <a:xfrm>
            <a:off x="8555126" y="4623206"/>
            <a:ext cx="263347" cy="263347"/>
          </a:xfrm>
          <a:prstGeom prst="rect">
            <a:avLst/>
          </a:prstGeom>
        </p:spPr>
      </p:pic>
      <p:sp>
        <p:nvSpPr>
          <p:cNvPr id="41" name="Text 36"/>
          <p:cNvSpPr/>
          <p:nvPr/>
        </p:nvSpPr>
        <p:spPr>
          <a:xfrm>
            <a:off x="9144000" y="4507992"/>
            <a:ext cx="2423160" cy="365760"/>
          </a:xfrm>
          <a:prstGeom prst="rect">
            <a:avLst/>
          </a:prstGeom>
          <a:noFill/>
          <a:ln/>
        </p:spPr>
        <p:txBody>
          <a:bodyPr wrap="square"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Mall of Istanbul</a:t>
            </a:r>
            <a:endParaRPr lang="en-US" sz="1500" dirty="0"/>
          </a:p>
        </p:txBody>
      </p:sp>
      <p:sp>
        <p:nvSpPr>
          <p:cNvPr id="42" name="Text 37"/>
          <p:cNvSpPr/>
          <p:nvPr/>
        </p:nvSpPr>
        <p:spPr>
          <a:xfrm>
            <a:off x="8412480" y="5166360"/>
            <a:ext cx="3154680" cy="1005840"/>
          </a:xfrm>
          <a:prstGeom prst="rect">
            <a:avLst/>
          </a:prstGeom>
          <a:noFill/>
          <a:ln/>
        </p:spPr>
        <p:txBody>
          <a:bodyPr wrap="square" rtlCol="0" anchor="ctr"/>
          <a:lstStyle/>
          <a:p>
            <a:pPr>
              <a:lnSpc>
                <a:spcPct val="130000"/>
              </a:lnSpc>
            </a:pPr>
            <a:r>
              <a:rPr lang="en-IN" sz="1050" dirty="0">
                <a:solidFill>
                  <a:schemeClr val="tx1">
                    <a:lumMod val="65000"/>
                    <a:lumOff val="35000"/>
                  </a:schemeClr>
                </a:solidFill>
              </a:rPr>
              <a:t>Highest-performing shopping mall with total revenue of 528,002.</a:t>
            </a:r>
            <a:endParaRPr lang="en-US" sz="1050" dirty="0">
              <a:solidFill>
                <a:schemeClr val="tx1">
                  <a:lumMod val="65000"/>
                  <a:lumOff val="35000"/>
                </a:schemeClr>
              </a:solidFill>
            </a:endParaRPr>
          </a:p>
        </p:txBody>
      </p:sp>
      <p:sp>
        <p:nvSpPr>
          <p:cNvPr id="43" name="Text 38"/>
          <p:cNvSpPr/>
          <p:nvPr/>
        </p:nvSpPr>
        <p:spPr>
          <a:xfrm>
            <a:off x="502920" y="6547104"/>
            <a:ext cx="6400800" cy="256032"/>
          </a:xfrm>
          <a:prstGeom prst="rect">
            <a:avLst/>
          </a:prstGeom>
          <a:noFill/>
          <a:ln/>
        </p:spPr>
        <p:txBody>
          <a:bodyPr wrap="square" rtlCol="0" anchor="ctr"/>
          <a:lstStyle/>
          <a:p>
            <a:pPr marL="0" indent="0">
              <a:buNone/>
            </a:pPr>
            <a:r>
              <a:rPr lang="en-US" sz="800" kern="0" spc="100" dirty="0">
                <a:solidFill>
                  <a:srgbClr val="8A93A3"/>
                </a:solidFill>
                <a:latin typeface="Calibri" pitchFamily="34" charset="0"/>
                <a:ea typeface="Calibri" pitchFamily="34" charset="-122"/>
                <a:cs typeface="Calibri" pitchFamily="34" charset="-120"/>
              </a:rPr>
              <a:t>CUSTOMER DATA ANALYSIS  |  SQL &amp; POWER BI</a:t>
            </a:r>
            <a:endParaRPr lang="en-US" sz="800" dirty="0"/>
          </a:p>
        </p:txBody>
      </p:sp>
      <p:sp>
        <p:nvSpPr>
          <p:cNvPr id="44" name="Text 39"/>
          <p:cNvSpPr/>
          <p:nvPr/>
        </p:nvSpPr>
        <p:spPr>
          <a:xfrm>
            <a:off x="11064240" y="6547104"/>
            <a:ext cx="640080" cy="256032"/>
          </a:xfrm>
          <a:prstGeom prst="rect">
            <a:avLst/>
          </a:prstGeom>
          <a:noFill/>
          <a:ln/>
        </p:spPr>
        <p:txBody>
          <a:bodyPr wrap="square" rtlCol="0" anchor="ctr"/>
          <a:lstStyle/>
          <a:p>
            <a:pPr marL="0" indent="0" algn="r">
              <a:buNone/>
            </a:pPr>
            <a:r>
              <a:rPr lang="en-US" sz="800" dirty="0">
                <a:solidFill>
                  <a:srgbClr val="8A93A3"/>
                </a:solidFill>
                <a:latin typeface="Calibri" pitchFamily="34" charset="0"/>
                <a:ea typeface="Calibri" pitchFamily="34" charset="-122"/>
                <a:cs typeface="Calibri" pitchFamily="34" charset="-120"/>
              </a:rPr>
              <a:t>08 / 15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56032"/>
          </a:xfrm>
          <a:prstGeom prst="rect">
            <a:avLst/>
          </a:prstGeom>
          <a:noFill/>
          <a:ln/>
        </p:spPr>
        <p:txBody>
          <a:bodyPr wrap="square"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SECTION 08</a:t>
            </a:r>
            <a:endParaRPr lang="en-US" sz="1100" dirty="0"/>
          </a:p>
        </p:txBody>
      </p:sp>
      <p:sp>
        <p:nvSpPr>
          <p:cNvPr id="3" name="Text 1"/>
          <p:cNvSpPr/>
          <p:nvPr/>
        </p:nvSpPr>
        <p:spPr>
          <a:xfrm>
            <a:off x="502920" y="621792"/>
            <a:ext cx="10972800" cy="566928"/>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Power BI Dashboard — Executive Overview</a:t>
            </a:r>
            <a:endParaRPr lang="en-US" sz="2800" dirty="0"/>
          </a:p>
        </p:txBody>
      </p:sp>
      <p:sp>
        <p:nvSpPr>
          <p:cNvPr id="4" name="Shape 2"/>
          <p:cNvSpPr/>
          <p:nvPr/>
        </p:nvSpPr>
        <p:spPr>
          <a:xfrm>
            <a:off x="502920" y="1371600"/>
            <a:ext cx="7768255" cy="5175504"/>
          </a:xfrm>
          <a:prstGeom prst="roundRect">
            <a:avLst>
              <a:gd name="adj" fmla="val 926"/>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9" name="Text 7"/>
          <p:cNvSpPr/>
          <p:nvPr/>
        </p:nvSpPr>
        <p:spPr>
          <a:xfrm>
            <a:off x="1600200" y="1426464"/>
            <a:ext cx="4572000" cy="274320"/>
          </a:xfrm>
          <a:prstGeom prst="rect">
            <a:avLst/>
          </a:prstGeom>
          <a:noFill/>
          <a:ln/>
        </p:spPr>
        <p:txBody>
          <a:bodyPr wrap="square" rtlCol="0" anchor="ctr"/>
          <a:lstStyle/>
          <a:p>
            <a:pPr marL="0" indent="0">
              <a:buNone/>
            </a:pPr>
            <a:r>
              <a:rPr lang="en-US" sz="1100" b="1" dirty="0">
                <a:solidFill>
                  <a:srgbClr val="CFE0F0"/>
                </a:solidFill>
                <a:latin typeface="Calibri" pitchFamily="34" charset="0"/>
                <a:ea typeface="Calibri" pitchFamily="34" charset="-122"/>
                <a:cs typeface="Calibri" pitchFamily="34" charset="-120"/>
              </a:rPr>
              <a:t>Executive Overview Dashboard</a:t>
            </a:r>
            <a:endParaRPr lang="en-US" sz="1100" b="1" dirty="0"/>
          </a:p>
        </p:txBody>
      </p:sp>
      <p:pic>
        <p:nvPicPr>
          <p:cNvPr id="11" name="Image 0" descr="preencoded.png"/>
          <p:cNvPicPr>
            <a:picLocks noChangeAspect="1"/>
          </p:cNvPicPr>
          <p:nvPr/>
        </p:nvPicPr>
        <p:blipFill>
          <a:blip r:embed="rId3"/>
          <a:stretch>
            <a:fillRect/>
          </a:stretch>
        </p:blipFill>
        <p:spPr>
          <a:xfrm>
            <a:off x="941832" y="1993392"/>
            <a:ext cx="320040" cy="320040"/>
          </a:xfrm>
          <a:prstGeom prst="rect">
            <a:avLst/>
          </a:prstGeom>
        </p:spPr>
      </p:pic>
      <p:sp>
        <p:nvSpPr>
          <p:cNvPr id="12" name="Text 9"/>
          <p:cNvSpPr/>
          <p:nvPr/>
        </p:nvSpPr>
        <p:spPr>
          <a:xfrm>
            <a:off x="1325880" y="1920240"/>
            <a:ext cx="1840230" cy="36576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1,000</a:t>
            </a:r>
            <a:endParaRPr lang="en-US" sz="1800" dirty="0"/>
          </a:p>
        </p:txBody>
      </p:sp>
      <p:sp>
        <p:nvSpPr>
          <p:cNvPr id="13" name="Text 10"/>
          <p:cNvSpPr/>
          <p:nvPr/>
        </p:nvSpPr>
        <p:spPr>
          <a:xfrm>
            <a:off x="1325880" y="2267712"/>
            <a:ext cx="1840230" cy="274320"/>
          </a:xfrm>
          <a:prstGeom prst="rect">
            <a:avLst/>
          </a:prstGeom>
          <a:noFill/>
          <a:ln/>
        </p:spPr>
        <p:txBody>
          <a:bodyPr wrap="square" rtlCol="0" anchor="ctr"/>
          <a:lstStyle/>
          <a:p>
            <a:pPr marL="0" indent="0">
              <a:buNone/>
            </a:pPr>
            <a:endParaRPr lang="en-US" sz="900" dirty="0"/>
          </a:p>
        </p:txBody>
      </p:sp>
      <p:pic>
        <p:nvPicPr>
          <p:cNvPr id="15" name="Image 1" descr="preencoded.png"/>
          <p:cNvPicPr>
            <a:picLocks noChangeAspect="1"/>
          </p:cNvPicPr>
          <p:nvPr/>
        </p:nvPicPr>
        <p:blipFill>
          <a:blip r:embed="rId4"/>
          <a:stretch>
            <a:fillRect/>
          </a:stretch>
        </p:blipFill>
        <p:spPr>
          <a:xfrm>
            <a:off x="3650742" y="1993392"/>
            <a:ext cx="320040" cy="320040"/>
          </a:xfrm>
          <a:prstGeom prst="rect">
            <a:avLst/>
          </a:prstGeom>
        </p:spPr>
      </p:pic>
      <p:sp>
        <p:nvSpPr>
          <p:cNvPr id="16" name="Text 12"/>
          <p:cNvSpPr/>
          <p:nvPr/>
        </p:nvSpPr>
        <p:spPr>
          <a:xfrm>
            <a:off x="4034790" y="1920240"/>
            <a:ext cx="1840230" cy="36576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2.37M</a:t>
            </a:r>
            <a:endParaRPr lang="en-US" sz="1800" dirty="0"/>
          </a:p>
        </p:txBody>
      </p:sp>
      <p:sp>
        <p:nvSpPr>
          <p:cNvPr id="17" name="Text 13"/>
          <p:cNvSpPr/>
          <p:nvPr/>
        </p:nvSpPr>
        <p:spPr>
          <a:xfrm>
            <a:off x="4034790" y="2267712"/>
            <a:ext cx="1840230" cy="274320"/>
          </a:xfrm>
          <a:prstGeom prst="rect">
            <a:avLst/>
          </a:prstGeom>
          <a:noFill/>
          <a:ln/>
        </p:spPr>
        <p:txBody>
          <a:bodyPr wrap="square" rtlCol="0" anchor="ctr"/>
          <a:lstStyle/>
          <a:p>
            <a:pPr marL="0" indent="0">
              <a:buNone/>
            </a:pPr>
            <a:endParaRPr lang="en-US" sz="900" dirty="0"/>
          </a:p>
        </p:txBody>
      </p:sp>
      <p:pic>
        <p:nvPicPr>
          <p:cNvPr id="19" name="Image 2" descr="preencoded.png"/>
          <p:cNvPicPr>
            <a:picLocks noChangeAspect="1"/>
          </p:cNvPicPr>
          <p:nvPr/>
        </p:nvPicPr>
        <p:blipFill>
          <a:blip r:embed="rId5"/>
          <a:stretch>
            <a:fillRect/>
          </a:stretch>
        </p:blipFill>
        <p:spPr>
          <a:xfrm>
            <a:off x="6359652" y="1993392"/>
            <a:ext cx="320040" cy="320040"/>
          </a:xfrm>
          <a:prstGeom prst="rect">
            <a:avLst/>
          </a:prstGeom>
        </p:spPr>
      </p:pic>
      <p:sp>
        <p:nvSpPr>
          <p:cNvPr id="24" name="Text 18"/>
          <p:cNvSpPr/>
          <p:nvPr/>
        </p:nvSpPr>
        <p:spPr>
          <a:xfrm>
            <a:off x="9452610" y="1920240"/>
            <a:ext cx="1840230" cy="365760"/>
          </a:xfrm>
          <a:prstGeom prst="rect">
            <a:avLst/>
          </a:prstGeom>
          <a:noFill/>
          <a:ln/>
        </p:spPr>
        <p:txBody>
          <a:bodyPr wrap="square" rtlCol="0" anchor="ctr"/>
          <a:lstStyle/>
          <a:p>
            <a:pPr marL="0" indent="0">
              <a:buNone/>
            </a:pPr>
            <a:endParaRPr lang="en-US" sz="1800" dirty="0"/>
          </a:p>
        </p:txBody>
      </p:sp>
      <p:sp>
        <p:nvSpPr>
          <p:cNvPr id="25" name="Text 19"/>
          <p:cNvSpPr/>
          <p:nvPr/>
        </p:nvSpPr>
        <p:spPr>
          <a:xfrm>
            <a:off x="9452610" y="2267712"/>
            <a:ext cx="1840230" cy="274320"/>
          </a:xfrm>
          <a:prstGeom prst="rect">
            <a:avLst/>
          </a:prstGeom>
          <a:noFill/>
          <a:ln/>
        </p:spPr>
        <p:txBody>
          <a:bodyPr wrap="square" rtlCol="0" anchor="ctr"/>
          <a:lstStyle/>
          <a:p>
            <a:pPr marL="0" indent="0">
              <a:buNone/>
            </a:pPr>
            <a:endParaRPr lang="en-US" sz="900" dirty="0"/>
          </a:p>
        </p:txBody>
      </p:sp>
      <p:sp>
        <p:nvSpPr>
          <p:cNvPr id="29" name="Text 20"/>
          <p:cNvSpPr/>
          <p:nvPr/>
        </p:nvSpPr>
        <p:spPr>
          <a:xfrm>
            <a:off x="777240" y="6309360"/>
            <a:ext cx="7412603" cy="237744"/>
          </a:xfrm>
          <a:prstGeom prst="rect">
            <a:avLst/>
          </a:prstGeom>
          <a:noFill/>
          <a:ln/>
        </p:spPr>
        <p:txBody>
          <a:bodyPr wrap="square" rtlCol="0" anchor="ctr"/>
          <a:lstStyle/>
          <a:p>
            <a:pPr marL="0" indent="0">
              <a:buNone/>
            </a:pPr>
            <a:r>
              <a:rPr lang="en-US" sz="900" i="1" dirty="0">
                <a:solidFill>
                  <a:srgbClr val="8A93A3"/>
                </a:solidFill>
                <a:latin typeface="Calibri" pitchFamily="34" charset="0"/>
                <a:ea typeface="Calibri" pitchFamily="34" charset="-122"/>
                <a:cs typeface="Calibri" pitchFamily="34" charset="-120"/>
              </a:rPr>
              <a:t>Interactive slicers: Gender · Age Group · Category · Shopping Mall · Payment Method</a:t>
            </a:r>
            <a:endParaRPr lang="en-US" sz="900" dirty="0"/>
          </a:p>
        </p:txBody>
      </p:sp>
      <p:sp>
        <p:nvSpPr>
          <p:cNvPr id="30" name="Text 21"/>
          <p:cNvSpPr/>
          <p:nvPr/>
        </p:nvSpPr>
        <p:spPr>
          <a:xfrm>
            <a:off x="502920" y="6547104"/>
            <a:ext cx="6400800" cy="256032"/>
          </a:xfrm>
          <a:prstGeom prst="rect">
            <a:avLst/>
          </a:prstGeom>
          <a:noFill/>
          <a:ln/>
        </p:spPr>
        <p:txBody>
          <a:bodyPr wrap="square" rtlCol="0" anchor="ctr"/>
          <a:lstStyle/>
          <a:p>
            <a:pPr marL="0" indent="0">
              <a:buNone/>
            </a:pPr>
            <a:r>
              <a:rPr lang="en-US" sz="800" kern="0" spc="100" dirty="0">
                <a:solidFill>
                  <a:srgbClr val="8A93A3"/>
                </a:solidFill>
                <a:latin typeface="Calibri" pitchFamily="34" charset="0"/>
                <a:ea typeface="Calibri" pitchFamily="34" charset="-122"/>
                <a:cs typeface="Calibri" pitchFamily="34" charset="-120"/>
              </a:rPr>
              <a:t>CUSTOMER DATA ANALYSIS  |  SQL &amp; POWER BI</a:t>
            </a:r>
            <a:endParaRPr lang="en-US" sz="800" dirty="0"/>
          </a:p>
        </p:txBody>
      </p:sp>
      <p:sp>
        <p:nvSpPr>
          <p:cNvPr id="31" name="Text 22"/>
          <p:cNvSpPr/>
          <p:nvPr/>
        </p:nvSpPr>
        <p:spPr>
          <a:xfrm>
            <a:off x="11064240" y="6547104"/>
            <a:ext cx="640080" cy="256032"/>
          </a:xfrm>
          <a:prstGeom prst="rect">
            <a:avLst/>
          </a:prstGeom>
          <a:noFill/>
          <a:ln/>
        </p:spPr>
        <p:txBody>
          <a:bodyPr wrap="square" rtlCol="0" anchor="ctr"/>
          <a:lstStyle/>
          <a:p>
            <a:pPr marL="0" indent="0" algn="r">
              <a:buNone/>
            </a:pPr>
            <a:r>
              <a:rPr lang="en-US" sz="800" dirty="0">
                <a:solidFill>
                  <a:srgbClr val="8A93A3"/>
                </a:solidFill>
                <a:latin typeface="Calibri" pitchFamily="34" charset="0"/>
                <a:ea typeface="Calibri" pitchFamily="34" charset="-122"/>
                <a:cs typeface="Calibri" pitchFamily="34" charset="-120"/>
              </a:rPr>
              <a:t>09 / 15</a:t>
            </a:r>
            <a:endParaRPr lang="en-US" sz="800" dirty="0"/>
          </a:p>
        </p:txBody>
      </p:sp>
      <p:sp>
        <p:nvSpPr>
          <p:cNvPr id="35" name="Shape 2">
            <a:extLst>
              <a:ext uri="{FF2B5EF4-FFF2-40B4-BE49-F238E27FC236}">
                <a16:creationId xmlns:a16="http://schemas.microsoft.com/office/drawing/2014/main" id="{CE497B77-8BF5-F71D-18F5-3983D84B9484}"/>
              </a:ext>
            </a:extLst>
          </p:cNvPr>
          <p:cNvSpPr/>
          <p:nvPr/>
        </p:nvSpPr>
        <p:spPr>
          <a:xfrm>
            <a:off x="8583930" y="1700783"/>
            <a:ext cx="3334024" cy="4707967"/>
          </a:xfrm>
          <a:prstGeom prst="roundRect">
            <a:avLst>
              <a:gd name="adj" fmla="val 926"/>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pPr marL="285750" indent="-285750">
              <a:buFont typeface="Wingdings" panose="05000000000000000000" pitchFamily="2" charset="2"/>
              <a:buChar char="§"/>
            </a:pPr>
            <a:endParaRPr lang="en-IN" sz="1400" dirty="0">
              <a:solidFill>
                <a:schemeClr val="tx1">
                  <a:lumMod val="65000"/>
                  <a:lumOff val="35000"/>
                </a:schemeClr>
              </a:solidFill>
            </a:endParaRPr>
          </a:p>
          <a:p>
            <a:pPr marL="285750" indent="-285750">
              <a:buFont typeface="Wingdings" panose="05000000000000000000" pitchFamily="2" charset="2"/>
              <a:buChar char="§"/>
            </a:pPr>
            <a:r>
              <a:rPr lang="en-IN" sz="1400" dirty="0">
                <a:solidFill>
                  <a:schemeClr val="tx1">
                    <a:lumMod val="65000"/>
                    <a:lumOff val="35000"/>
                  </a:schemeClr>
                </a:solidFill>
              </a:rPr>
              <a:t>Interactive slicers for Gender, Age Group, Category, and Payment Method.</a:t>
            </a:r>
          </a:p>
          <a:p>
            <a:pPr marL="285750" indent="-285750">
              <a:buFont typeface="Wingdings" panose="05000000000000000000" pitchFamily="2" charset="2"/>
              <a:buChar char="§"/>
            </a:pPr>
            <a:r>
              <a:rPr lang="en-IN" sz="1400" dirty="0">
                <a:solidFill>
                  <a:schemeClr val="tx1">
                    <a:lumMod val="65000"/>
                    <a:lumOff val="35000"/>
                  </a:schemeClr>
                </a:solidFill>
              </a:rPr>
              <a:t>KPI cards summarizing Total Customers, Revenue, Quantity Sold, and Product Categories. </a:t>
            </a:r>
          </a:p>
          <a:p>
            <a:pPr marL="285750" indent="-285750">
              <a:buFont typeface="Wingdings" panose="05000000000000000000" pitchFamily="2" charset="2"/>
              <a:buChar char="§"/>
            </a:pPr>
            <a:r>
              <a:rPr lang="en-IN" sz="1400" dirty="0">
                <a:solidFill>
                  <a:schemeClr val="tx1">
                    <a:lumMod val="65000"/>
                    <a:lumOff val="35000"/>
                  </a:schemeClr>
                </a:solidFill>
              </a:rPr>
              <a:t>Customer demographic analysis by Age</a:t>
            </a:r>
            <a:r>
              <a:rPr lang="en-IN" sz="1400" b="1" dirty="0">
                <a:solidFill>
                  <a:schemeClr val="tx1">
                    <a:lumMod val="65000"/>
                    <a:lumOff val="35000"/>
                  </a:schemeClr>
                </a:solidFill>
              </a:rPr>
              <a:t> </a:t>
            </a:r>
            <a:r>
              <a:rPr lang="en-IN" sz="1400" dirty="0">
                <a:solidFill>
                  <a:schemeClr val="tx1">
                    <a:lumMod val="65000"/>
                    <a:lumOff val="35000"/>
                  </a:schemeClr>
                </a:solidFill>
              </a:rPr>
              <a:t>Group and Gender.</a:t>
            </a:r>
          </a:p>
          <a:p>
            <a:pPr marL="285750" indent="-285750">
              <a:buFont typeface="Wingdings" panose="05000000000000000000" pitchFamily="2" charset="2"/>
              <a:buChar char="§"/>
            </a:pPr>
            <a:r>
              <a:rPr lang="en-IN" sz="1400" dirty="0">
                <a:solidFill>
                  <a:schemeClr val="tx1">
                    <a:lumMod val="65000"/>
                    <a:lumOff val="35000"/>
                  </a:schemeClr>
                </a:solidFill>
              </a:rPr>
              <a:t>Revenue analysis across Age</a:t>
            </a:r>
            <a:r>
              <a:rPr lang="en-IN" sz="1400" b="1" dirty="0">
                <a:solidFill>
                  <a:schemeClr val="tx1">
                    <a:lumMod val="65000"/>
                    <a:lumOff val="35000"/>
                  </a:schemeClr>
                </a:solidFill>
              </a:rPr>
              <a:t> </a:t>
            </a:r>
            <a:r>
              <a:rPr lang="en-IN" sz="1400" dirty="0">
                <a:solidFill>
                  <a:schemeClr val="tx1">
                    <a:lumMod val="65000"/>
                    <a:lumOff val="35000"/>
                  </a:schemeClr>
                </a:solidFill>
              </a:rPr>
              <a:t>Groups,</a:t>
            </a:r>
            <a:r>
              <a:rPr lang="en-IN" sz="1400" b="1" dirty="0">
                <a:solidFill>
                  <a:schemeClr val="tx1">
                    <a:lumMod val="65000"/>
                    <a:lumOff val="35000"/>
                  </a:schemeClr>
                </a:solidFill>
              </a:rPr>
              <a:t> </a:t>
            </a:r>
            <a:r>
              <a:rPr lang="en-IN" sz="1400" dirty="0">
                <a:solidFill>
                  <a:schemeClr val="tx1">
                    <a:lumMod val="65000"/>
                    <a:lumOff val="35000"/>
                  </a:schemeClr>
                </a:solidFill>
              </a:rPr>
              <a:t>Product Categories,</a:t>
            </a:r>
            <a:r>
              <a:rPr lang="en-IN" sz="1400" b="1" dirty="0">
                <a:solidFill>
                  <a:schemeClr val="tx1">
                    <a:lumMod val="65000"/>
                    <a:lumOff val="35000"/>
                  </a:schemeClr>
                </a:solidFill>
              </a:rPr>
              <a:t> </a:t>
            </a:r>
            <a:r>
              <a:rPr lang="en-IN" sz="1400" dirty="0">
                <a:solidFill>
                  <a:schemeClr val="tx1">
                    <a:lumMod val="65000"/>
                    <a:lumOff val="35000"/>
                  </a:schemeClr>
                </a:solidFill>
              </a:rPr>
              <a:t>and</a:t>
            </a:r>
            <a:r>
              <a:rPr lang="en-IN" sz="1400" b="1" dirty="0">
                <a:solidFill>
                  <a:schemeClr val="tx1">
                    <a:lumMod val="65000"/>
                    <a:lumOff val="35000"/>
                  </a:schemeClr>
                </a:solidFill>
              </a:rPr>
              <a:t> </a:t>
            </a:r>
            <a:r>
              <a:rPr lang="en-IN" sz="1400" dirty="0">
                <a:solidFill>
                  <a:schemeClr val="tx1">
                    <a:lumMod val="65000"/>
                    <a:lumOff val="35000"/>
                  </a:schemeClr>
                </a:solidFill>
              </a:rPr>
              <a:t>Payment</a:t>
            </a:r>
            <a:r>
              <a:rPr lang="en-IN" sz="1400" b="1" dirty="0">
                <a:solidFill>
                  <a:schemeClr val="tx1">
                    <a:lumMod val="65000"/>
                    <a:lumOff val="35000"/>
                  </a:schemeClr>
                </a:solidFill>
              </a:rPr>
              <a:t> </a:t>
            </a:r>
            <a:r>
              <a:rPr lang="en-IN" sz="1400" dirty="0">
                <a:solidFill>
                  <a:schemeClr val="tx1">
                    <a:lumMod val="65000"/>
                    <a:lumOff val="35000"/>
                  </a:schemeClr>
                </a:solidFill>
              </a:rPr>
              <a:t>Methods.</a:t>
            </a:r>
          </a:p>
          <a:p>
            <a:pPr marL="285750" indent="-285750">
              <a:buFont typeface="Wingdings" panose="05000000000000000000" pitchFamily="2" charset="2"/>
              <a:buChar char="§"/>
            </a:pPr>
            <a:r>
              <a:rPr lang="en-IN" sz="1400" dirty="0">
                <a:solidFill>
                  <a:schemeClr val="tx1">
                    <a:lumMod val="65000"/>
                    <a:lumOff val="35000"/>
                  </a:schemeClr>
                </a:solidFill>
              </a:rPr>
              <a:t>Executive-level dashboard for quick business performance monitoring.</a:t>
            </a:r>
          </a:p>
          <a:p>
            <a:pPr marL="285750" indent="-285750">
              <a:buFont typeface="Wingdings" panose="05000000000000000000" pitchFamily="2" charset="2"/>
              <a:buChar char="§"/>
            </a:pPr>
            <a:r>
              <a:rPr lang="en-IN" sz="1400" dirty="0">
                <a:solidFill>
                  <a:schemeClr val="tx1">
                    <a:lumMod val="65000"/>
                    <a:lumOff val="35000"/>
                  </a:schemeClr>
                </a:solidFill>
              </a:rPr>
              <a:t>Visualizes customer behavior and purchasing patterns through interactive charts and KPI visuals.</a:t>
            </a:r>
          </a:p>
          <a:p>
            <a:pPr marL="285750" indent="-285750">
              <a:buFont typeface="Wingdings" panose="05000000000000000000" pitchFamily="2" charset="2"/>
              <a:buChar char="§"/>
            </a:pPr>
            <a:r>
              <a:rPr lang="en-IN" sz="1400" dirty="0">
                <a:solidFill>
                  <a:schemeClr val="tx1">
                    <a:lumMod val="65000"/>
                    <a:lumOff val="35000"/>
                  </a:schemeClr>
                </a:solidFill>
              </a:rPr>
              <a:t>Supports executive decision-making by highlighting key sales and customer performance metrices.</a:t>
            </a:r>
          </a:p>
        </p:txBody>
      </p:sp>
      <p:sp>
        <p:nvSpPr>
          <p:cNvPr id="37" name="Shape 3">
            <a:extLst>
              <a:ext uri="{FF2B5EF4-FFF2-40B4-BE49-F238E27FC236}">
                <a16:creationId xmlns:a16="http://schemas.microsoft.com/office/drawing/2014/main" id="{72CEC681-F88D-D4C4-5A6A-3C006D133C64}"/>
              </a:ext>
            </a:extLst>
          </p:cNvPr>
          <p:cNvSpPr/>
          <p:nvPr/>
        </p:nvSpPr>
        <p:spPr>
          <a:xfrm>
            <a:off x="8583929" y="1371600"/>
            <a:ext cx="3326377" cy="538210"/>
          </a:xfrm>
          <a:prstGeom prst="roundRect">
            <a:avLst>
              <a:gd name="adj" fmla="val 12500"/>
            </a:avLst>
          </a:prstGeom>
          <a:solidFill>
            <a:srgbClr val="13324F"/>
          </a:solidFill>
          <a:ln/>
        </p:spPr>
        <p:txBody>
          <a:bodyPr/>
          <a:lstStyle/>
          <a:p>
            <a:r>
              <a:rPr lang="en-IN" sz="2000" b="1" dirty="0">
                <a:solidFill>
                  <a:schemeClr val="bg1"/>
                </a:solidFill>
              </a:rPr>
              <a:t>Key Features</a:t>
            </a:r>
          </a:p>
        </p:txBody>
      </p:sp>
      <p:pic>
        <p:nvPicPr>
          <p:cNvPr id="39" name="Picture 38">
            <a:extLst>
              <a:ext uri="{FF2B5EF4-FFF2-40B4-BE49-F238E27FC236}">
                <a16:creationId xmlns:a16="http://schemas.microsoft.com/office/drawing/2014/main" id="{AF86A643-5F2C-8692-3EED-59E816FA1331}"/>
              </a:ext>
            </a:extLst>
          </p:cNvPr>
          <p:cNvPicPr>
            <a:picLocks noChangeAspect="1"/>
          </p:cNvPicPr>
          <p:nvPr/>
        </p:nvPicPr>
        <p:blipFill>
          <a:blip r:embed="rId6"/>
          <a:stretch>
            <a:fillRect/>
          </a:stretch>
        </p:blipFill>
        <p:spPr>
          <a:xfrm>
            <a:off x="512527" y="1199150"/>
            <a:ext cx="7758647" cy="54028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56032"/>
          </a:xfrm>
          <a:prstGeom prst="rect">
            <a:avLst/>
          </a:prstGeom>
          <a:noFill/>
          <a:ln/>
        </p:spPr>
        <p:txBody>
          <a:bodyPr wrap="square"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SECTION 09</a:t>
            </a:r>
            <a:endParaRPr lang="en-US" sz="1100" dirty="0"/>
          </a:p>
        </p:txBody>
      </p:sp>
      <p:sp>
        <p:nvSpPr>
          <p:cNvPr id="3" name="Text 1"/>
          <p:cNvSpPr/>
          <p:nvPr/>
        </p:nvSpPr>
        <p:spPr>
          <a:xfrm>
            <a:off x="502920" y="621792"/>
            <a:ext cx="10972800" cy="566928"/>
          </a:xfrm>
          <a:prstGeom prst="rect">
            <a:avLst/>
          </a:prstGeom>
          <a:noFill/>
          <a:ln/>
        </p:spPr>
        <p:txBody>
          <a:bodyPr wrap="square" rtlCol="0" anchor="ctr"/>
          <a:lstStyle/>
          <a:p>
            <a:pPr marL="0" indent="0">
              <a:buNone/>
            </a:pPr>
            <a:r>
              <a:rPr lang="en-US" sz="2800" b="1" dirty="0">
                <a:solidFill>
                  <a:srgbClr val="6A1B9A"/>
                </a:solidFill>
                <a:latin typeface="Calibri" pitchFamily="34" charset="0"/>
                <a:ea typeface="Calibri" pitchFamily="34" charset="-122"/>
                <a:cs typeface="Calibri" pitchFamily="34" charset="-120"/>
              </a:rPr>
              <a:t>Power BI Dashboard — Business Insights</a:t>
            </a:r>
            <a:endParaRPr lang="en-US" sz="2800" dirty="0"/>
          </a:p>
        </p:txBody>
      </p:sp>
      <p:sp>
        <p:nvSpPr>
          <p:cNvPr id="4" name="Shape 2"/>
          <p:cNvSpPr/>
          <p:nvPr/>
        </p:nvSpPr>
        <p:spPr>
          <a:xfrm>
            <a:off x="502920" y="1264257"/>
            <a:ext cx="7957267" cy="5209695"/>
          </a:xfrm>
          <a:prstGeom prst="roundRect">
            <a:avLst>
              <a:gd name="adj" fmla="val 926"/>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8" name="Shape 20"/>
          <p:cNvSpPr/>
          <p:nvPr/>
        </p:nvSpPr>
        <p:spPr>
          <a:xfrm>
            <a:off x="8754386" y="1276980"/>
            <a:ext cx="3050518" cy="5107918"/>
          </a:xfrm>
          <a:prstGeom prst="roundRect">
            <a:avLst>
              <a:gd name="adj" fmla="val 2295"/>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pPr marL="285750" indent="-285750">
              <a:buFont typeface="Wingdings" panose="05000000000000000000" pitchFamily="2" charset="2"/>
              <a:buChar char="§"/>
            </a:pPr>
            <a:endParaRPr lang="en-IN" sz="1400" dirty="0"/>
          </a:p>
          <a:p>
            <a:pPr marL="285750" indent="-285750">
              <a:buFont typeface="Wingdings" panose="05000000000000000000" pitchFamily="2" charset="2"/>
              <a:buChar char="§"/>
            </a:pPr>
            <a:r>
              <a:rPr lang="en-IN" sz="1400" dirty="0">
                <a:solidFill>
                  <a:schemeClr val="tx1">
                    <a:lumMod val="65000"/>
                    <a:lumOff val="35000"/>
                  </a:schemeClr>
                </a:solidFill>
              </a:rPr>
              <a:t>Interactive slicers for Gender,</a:t>
            </a:r>
            <a:r>
              <a:rPr lang="en-IN" sz="1400" b="1" dirty="0">
                <a:solidFill>
                  <a:schemeClr val="tx1">
                    <a:lumMod val="65000"/>
                    <a:lumOff val="35000"/>
                  </a:schemeClr>
                </a:solidFill>
              </a:rPr>
              <a:t> </a:t>
            </a:r>
            <a:r>
              <a:rPr lang="en-IN" sz="1400" dirty="0">
                <a:solidFill>
                  <a:schemeClr val="tx1">
                    <a:lumMod val="65000"/>
                    <a:lumOff val="35000"/>
                  </a:schemeClr>
                </a:solidFill>
              </a:rPr>
              <a:t>Age Group, Category,</a:t>
            </a:r>
            <a:r>
              <a:rPr lang="en-IN" sz="1400" b="1" dirty="0">
                <a:solidFill>
                  <a:schemeClr val="tx1">
                    <a:lumMod val="65000"/>
                    <a:lumOff val="35000"/>
                  </a:schemeClr>
                </a:solidFill>
              </a:rPr>
              <a:t> </a:t>
            </a:r>
            <a:r>
              <a:rPr lang="en-IN" sz="1400" dirty="0">
                <a:solidFill>
                  <a:schemeClr val="tx1">
                    <a:lumMod val="65000"/>
                    <a:lumOff val="35000"/>
                  </a:schemeClr>
                </a:solidFill>
              </a:rPr>
              <a:t>and Shopping Mall analysis. </a:t>
            </a:r>
          </a:p>
          <a:p>
            <a:pPr marL="285750" indent="-285750">
              <a:buFont typeface="Wingdings" panose="05000000000000000000" pitchFamily="2" charset="2"/>
              <a:buChar char="§"/>
            </a:pPr>
            <a:r>
              <a:rPr lang="en-IN" sz="1400" dirty="0">
                <a:solidFill>
                  <a:schemeClr val="tx1">
                    <a:lumMod val="65000"/>
                    <a:lumOff val="35000"/>
                  </a:schemeClr>
                </a:solidFill>
              </a:rPr>
              <a:t>KPI cards summarizing Average Order Value, Average Customer Spend, Average Quantity, and Average Unit Price.</a:t>
            </a:r>
          </a:p>
          <a:p>
            <a:pPr marL="285750" indent="-285750">
              <a:buFont typeface="Wingdings" panose="05000000000000000000" pitchFamily="2" charset="2"/>
              <a:buChar char="§"/>
            </a:pPr>
            <a:r>
              <a:rPr lang="en-IN" sz="1400" dirty="0">
                <a:solidFill>
                  <a:schemeClr val="tx1">
                    <a:lumMod val="65000"/>
                    <a:lumOff val="35000"/>
                  </a:schemeClr>
                </a:solidFill>
              </a:rPr>
              <a:t>Shopping mall performance analysis using Revenue, Customer Count, and Quantity Sold.</a:t>
            </a:r>
          </a:p>
          <a:p>
            <a:pPr marL="285750" indent="-285750">
              <a:buFont typeface="Wingdings" panose="05000000000000000000" pitchFamily="2" charset="2"/>
              <a:buChar char="§"/>
            </a:pPr>
            <a:r>
              <a:rPr lang="en-IN" sz="1400" dirty="0">
                <a:solidFill>
                  <a:schemeClr val="tx1">
                    <a:lumMod val="65000"/>
                    <a:lumOff val="35000"/>
                  </a:schemeClr>
                </a:solidFill>
              </a:rPr>
              <a:t>Product category comparison by Gender and Age Group. </a:t>
            </a:r>
          </a:p>
          <a:p>
            <a:pPr marL="285750" indent="-285750">
              <a:buFont typeface="Wingdings" panose="05000000000000000000" pitchFamily="2" charset="2"/>
              <a:buChar char="§"/>
            </a:pPr>
            <a:r>
              <a:rPr lang="en-IN" sz="1400" dirty="0">
                <a:solidFill>
                  <a:schemeClr val="tx1">
                    <a:lumMod val="65000"/>
                    <a:lumOff val="35000"/>
                  </a:schemeClr>
                </a:solidFill>
              </a:rPr>
              <a:t>Identifies top-performing shopping malls based on business metrics. </a:t>
            </a:r>
          </a:p>
          <a:p>
            <a:pPr marL="285750" indent="-285750">
              <a:buFont typeface="Wingdings" panose="05000000000000000000" pitchFamily="2" charset="2"/>
              <a:buChar char="§"/>
            </a:pPr>
            <a:r>
              <a:rPr lang="en-IN" sz="1400" dirty="0">
                <a:solidFill>
                  <a:schemeClr val="tx1">
                    <a:lumMod val="65000"/>
                    <a:lumOff val="35000"/>
                  </a:schemeClr>
                </a:solidFill>
              </a:rPr>
              <a:t>Supports business decisions through detailed customer and product insights. </a:t>
            </a:r>
          </a:p>
          <a:p>
            <a:pPr marL="285750" indent="-285750">
              <a:buFont typeface="Wingdings" panose="05000000000000000000" pitchFamily="2" charset="2"/>
              <a:buChar char="§"/>
            </a:pPr>
            <a:r>
              <a:rPr lang="en-IN" sz="1400" dirty="0">
                <a:solidFill>
                  <a:schemeClr val="tx1">
                    <a:lumMod val="65000"/>
                    <a:lumOff val="35000"/>
                  </a:schemeClr>
                </a:solidFill>
              </a:rPr>
              <a:t>Interactive visualizations for exploring purchasing behavior and shopping trends. </a:t>
            </a:r>
          </a:p>
        </p:txBody>
      </p:sp>
      <p:sp>
        <p:nvSpPr>
          <p:cNvPr id="47" name="Text 39"/>
          <p:cNvSpPr/>
          <p:nvPr/>
        </p:nvSpPr>
        <p:spPr>
          <a:xfrm>
            <a:off x="502920" y="6547104"/>
            <a:ext cx="6400800" cy="256032"/>
          </a:xfrm>
          <a:prstGeom prst="rect">
            <a:avLst/>
          </a:prstGeom>
          <a:noFill/>
          <a:ln/>
        </p:spPr>
        <p:txBody>
          <a:bodyPr wrap="square" rtlCol="0" anchor="ctr"/>
          <a:lstStyle/>
          <a:p>
            <a:pPr marL="0" indent="0">
              <a:buNone/>
            </a:pPr>
            <a:r>
              <a:rPr lang="en-US" sz="800" kern="0" spc="100" dirty="0">
                <a:solidFill>
                  <a:srgbClr val="8A93A3"/>
                </a:solidFill>
                <a:latin typeface="Calibri" pitchFamily="34" charset="0"/>
                <a:ea typeface="Calibri" pitchFamily="34" charset="-122"/>
                <a:cs typeface="Calibri" pitchFamily="34" charset="-120"/>
              </a:rPr>
              <a:t>CUSTOMER DATA ANALYSIS  |  SQL &amp; POWER BI</a:t>
            </a:r>
            <a:endParaRPr lang="en-US" sz="800" dirty="0"/>
          </a:p>
        </p:txBody>
      </p:sp>
      <p:sp>
        <p:nvSpPr>
          <p:cNvPr id="48" name="Text 40"/>
          <p:cNvSpPr/>
          <p:nvPr/>
        </p:nvSpPr>
        <p:spPr>
          <a:xfrm>
            <a:off x="11064240" y="6547104"/>
            <a:ext cx="640080" cy="256032"/>
          </a:xfrm>
          <a:prstGeom prst="rect">
            <a:avLst/>
          </a:prstGeom>
          <a:noFill/>
          <a:ln/>
        </p:spPr>
        <p:txBody>
          <a:bodyPr wrap="square" rtlCol="0" anchor="ctr"/>
          <a:lstStyle/>
          <a:p>
            <a:pPr marL="0" indent="0" algn="r">
              <a:buNone/>
            </a:pPr>
            <a:r>
              <a:rPr lang="en-US" sz="800" dirty="0">
                <a:solidFill>
                  <a:srgbClr val="8A93A3"/>
                </a:solidFill>
                <a:latin typeface="Calibri" pitchFamily="34" charset="0"/>
                <a:ea typeface="Calibri" pitchFamily="34" charset="-122"/>
                <a:cs typeface="Calibri" pitchFamily="34" charset="-120"/>
              </a:rPr>
              <a:t>10 / 15</a:t>
            </a:r>
            <a:endParaRPr lang="en-US" sz="800" dirty="0"/>
          </a:p>
        </p:txBody>
      </p:sp>
      <p:pic>
        <p:nvPicPr>
          <p:cNvPr id="50" name="Picture 49">
            <a:extLst>
              <a:ext uri="{FF2B5EF4-FFF2-40B4-BE49-F238E27FC236}">
                <a16:creationId xmlns:a16="http://schemas.microsoft.com/office/drawing/2014/main" id="{22D647D6-73D6-42F0-B80F-D6A0668EC714}"/>
              </a:ext>
            </a:extLst>
          </p:cNvPr>
          <p:cNvPicPr>
            <a:picLocks noChangeAspect="1"/>
          </p:cNvPicPr>
          <p:nvPr/>
        </p:nvPicPr>
        <p:blipFill>
          <a:blip r:embed="rId3"/>
          <a:stretch>
            <a:fillRect/>
          </a:stretch>
        </p:blipFill>
        <p:spPr>
          <a:xfrm>
            <a:off x="423898" y="1161810"/>
            <a:ext cx="8036289" cy="5385294"/>
          </a:xfrm>
          <a:prstGeom prst="rect">
            <a:avLst/>
          </a:prstGeom>
        </p:spPr>
      </p:pic>
      <p:sp>
        <p:nvSpPr>
          <p:cNvPr id="5" name="Shape 3"/>
          <p:cNvSpPr/>
          <p:nvPr/>
        </p:nvSpPr>
        <p:spPr>
          <a:xfrm>
            <a:off x="8754386" y="1114774"/>
            <a:ext cx="3050518" cy="411876"/>
          </a:xfrm>
          <a:prstGeom prst="roundRect">
            <a:avLst>
              <a:gd name="adj" fmla="val 12500"/>
            </a:avLst>
          </a:prstGeom>
          <a:solidFill>
            <a:srgbClr val="6A1B9A"/>
          </a:solidFill>
          <a:ln/>
        </p:spPr>
        <p:txBody>
          <a:bodyPr/>
          <a:lstStyle/>
          <a:p>
            <a:r>
              <a:rPr lang="en-IN" b="1" dirty="0">
                <a:solidFill>
                  <a:schemeClr val="bg1"/>
                </a:solidFill>
              </a:rPr>
              <a:t>Key Features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56032"/>
          </a:xfrm>
          <a:prstGeom prst="rect">
            <a:avLst/>
          </a:prstGeom>
          <a:noFill/>
          <a:ln/>
        </p:spPr>
        <p:txBody>
          <a:bodyPr wrap="square"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SECTION 10</a:t>
            </a:r>
            <a:endParaRPr lang="en-US" sz="1100" dirty="0"/>
          </a:p>
        </p:txBody>
      </p:sp>
      <p:sp>
        <p:nvSpPr>
          <p:cNvPr id="3" name="Text 1"/>
          <p:cNvSpPr/>
          <p:nvPr/>
        </p:nvSpPr>
        <p:spPr>
          <a:xfrm>
            <a:off x="502920" y="621792"/>
            <a:ext cx="10972800" cy="566928"/>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KPI Summary</a:t>
            </a:r>
            <a:endParaRPr lang="en-US" sz="2800" dirty="0"/>
          </a:p>
        </p:txBody>
      </p:sp>
      <p:sp>
        <p:nvSpPr>
          <p:cNvPr id="4" name="Text 2"/>
          <p:cNvSpPr/>
          <p:nvPr/>
        </p:nvSpPr>
        <p:spPr>
          <a:xfrm>
            <a:off x="502920" y="1371600"/>
            <a:ext cx="10972800" cy="320040"/>
          </a:xfrm>
          <a:prstGeom prst="rect">
            <a:avLst/>
          </a:prstGeom>
          <a:noFill/>
          <a:ln/>
        </p:spPr>
        <p:txBody>
          <a:bodyPr wrap="square" rtlCol="0" anchor="ctr"/>
          <a:lstStyle/>
          <a:p>
            <a:r>
              <a:rPr lang="en-IN" sz="1400" dirty="0">
                <a:solidFill>
                  <a:schemeClr val="tx1">
                    <a:lumMod val="65000"/>
                    <a:lumOff val="35000"/>
                  </a:schemeClr>
                </a:solidFill>
              </a:rPr>
              <a:t>Eight key performance indicators (KPIs) summarize overall business performance and customer purchasing behavior across both dashboards.</a:t>
            </a:r>
            <a:endParaRPr lang="en-US" sz="1250" dirty="0">
              <a:solidFill>
                <a:schemeClr val="tx1">
                  <a:lumMod val="65000"/>
                  <a:lumOff val="35000"/>
                </a:schemeClr>
              </a:solidFill>
            </a:endParaRPr>
          </a:p>
        </p:txBody>
      </p:sp>
      <p:sp>
        <p:nvSpPr>
          <p:cNvPr id="5" name="Shape 3"/>
          <p:cNvSpPr/>
          <p:nvPr/>
        </p:nvSpPr>
        <p:spPr>
          <a:xfrm>
            <a:off x="502920" y="1874520"/>
            <a:ext cx="2697480" cy="1965960"/>
          </a:xfrm>
          <a:prstGeom prst="roundRect">
            <a:avLst>
              <a:gd name="adj" fmla="val 4186"/>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6" name="Shape 4"/>
          <p:cNvSpPr/>
          <p:nvPr/>
        </p:nvSpPr>
        <p:spPr>
          <a:xfrm>
            <a:off x="1577340" y="2057400"/>
            <a:ext cx="548640" cy="548640"/>
          </a:xfrm>
          <a:prstGeom prst="ellipse">
            <a:avLst/>
          </a:prstGeom>
          <a:solidFill>
            <a:srgbClr val="1F4E79"/>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1719986" y="2200046"/>
            <a:ext cx="263347" cy="263347"/>
          </a:xfrm>
          <a:prstGeom prst="rect">
            <a:avLst/>
          </a:prstGeom>
        </p:spPr>
      </p:pic>
      <p:sp>
        <p:nvSpPr>
          <p:cNvPr id="8" name="Text 5"/>
          <p:cNvSpPr/>
          <p:nvPr/>
        </p:nvSpPr>
        <p:spPr>
          <a:xfrm>
            <a:off x="502920" y="2743200"/>
            <a:ext cx="2697480" cy="457200"/>
          </a:xfrm>
          <a:prstGeom prst="rect">
            <a:avLst/>
          </a:prstGeom>
          <a:noFill/>
          <a:ln/>
        </p:spPr>
        <p:txBody>
          <a:bodyPr wrap="square" rtlCol="0" anchor="ctr"/>
          <a:lstStyle/>
          <a:p>
            <a:pPr marL="0" indent="0" algn="ctr">
              <a:buNone/>
            </a:pPr>
            <a:r>
              <a:rPr lang="en-US" sz="2400" b="1" dirty="0">
                <a:solidFill>
                  <a:srgbClr val="1F2937"/>
                </a:solidFill>
                <a:latin typeface="Calibri" pitchFamily="34" charset="0"/>
                <a:ea typeface="Calibri" pitchFamily="34" charset="-122"/>
                <a:cs typeface="Calibri" pitchFamily="34" charset="-120"/>
              </a:rPr>
              <a:t>1K</a:t>
            </a:r>
            <a:endParaRPr lang="en-US" sz="2400" dirty="0"/>
          </a:p>
        </p:txBody>
      </p:sp>
      <p:sp>
        <p:nvSpPr>
          <p:cNvPr id="9" name="Text 6"/>
          <p:cNvSpPr/>
          <p:nvPr/>
        </p:nvSpPr>
        <p:spPr>
          <a:xfrm>
            <a:off x="640080" y="3246120"/>
            <a:ext cx="2423160" cy="457200"/>
          </a:xfrm>
          <a:prstGeom prst="rect">
            <a:avLst/>
          </a:prstGeom>
          <a:noFill/>
          <a:ln/>
        </p:spPr>
        <p:txBody>
          <a:bodyPr wrap="square" rtlCol="0" anchor="ctr"/>
          <a:lstStyle/>
          <a:p>
            <a:pPr marL="0" indent="0" algn="ctr">
              <a:lnSpc>
                <a:spcPct val="110000"/>
              </a:lnSpc>
              <a:buNone/>
            </a:pPr>
            <a:r>
              <a:rPr lang="en-US" sz="1000" b="1" dirty="0">
                <a:solidFill>
                  <a:srgbClr val="8A93A3"/>
                </a:solidFill>
                <a:latin typeface="Calibri" pitchFamily="34" charset="0"/>
                <a:ea typeface="Calibri" pitchFamily="34" charset="-122"/>
                <a:cs typeface="Calibri" pitchFamily="34" charset="-120"/>
              </a:rPr>
              <a:t>Total Customers</a:t>
            </a:r>
            <a:endParaRPr lang="en-US" sz="1000" b="1" dirty="0"/>
          </a:p>
        </p:txBody>
      </p:sp>
      <p:sp>
        <p:nvSpPr>
          <p:cNvPr id="10" name="Shape 7"/>
          <p:cNvSpPr/>
          <p:nvPr/>
        </p:nvSpPr>
        <p:spPr>
          <a:xfrm>
            <a:off x="3374136" y="1874520"/>
            <a:ext cx="2697480" cy="1965960"/>
          </a:xfrm>
          <a:prstGeom prst="roundRect">
            <a:avLst>
              <a:gd name="adj" fmla="val 4186"/>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1" name="Shape 8"/>
          <p:cNvSpPr/>
          <p:nvPr/>
        </p:nvSpPr>
        <p:spPr>
          <a:xfrm>
            <a:off x="4448556" y="2057400"/>
            <a:ext cx="548640" cy="548640"/>
          </a:xfrm>
          <a:prstGeom prst="ellipse">
            <a:avLst/>
          </a:prstGeom>
          <a:solidFill>
            <a:srgbClr val="6A1B9A"/>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4591202" y="2200046"/>
            <a:ext cx="263347" cy="263347"/>
          </a:xfrm>
          <a:prstGeom prst="rect">
            <a:avLst/>
          </a:prstGeom>
        </p:spPr>
      </p:pic>
      <p:sp>
        <p:nvSpPr>
          <p:cNvPr id="13" name="Text 9"/>
          <p:cNvSpPr/>
          <p:nvPr/>
        </p:nvSpPr>
        <p:spPr>
          <a:xfrm>
            <a:off x="3374136" y="2743200"/>
            <a:ext cx="2697480" cy="457200"/>
          </a:xfrm>
          <a:prstGeom prst="rect">
            <a:avLst/>
          </a:prstGeom>
          <a:noFill/>
          <a:ln/>
        </p:spPr>
        <p:txBody>
          <a:bodyPr wrap="square" rtlCol="0" anchor="ctr"/>
          <a:lstStyle/>
          <a:p>
            <a:pPr marL="0" indent="0" algn="ctr">
              <a:buNone/>
            </a:pPr>
            <a:r>
              <a:rPr lang="en-US" sz="2400" b="1" dirty="0">
                <a:solidFill>
                  <a:srgbClr val="1F2937"/>
                </a:solidFill>
                <a:latin typeface="Calibri" pitchFamily="34" charset="0"/>
                <a:ea typeface="Calibri" pitchFamily="34" charset="-122"/>
                <a:cs typeface="Calibri" pitchFamily="34" charset="-120"/>
              </a:rPr>
              <a:t>2.37M</a:t>
            </a:r>
            <a:endParaRPr lang="en-US" sz="2400" dirty="0"/>
          </a:p>
        </p:txBody>
      </p:sp>
      <p:sp>
        <p:nvSpPr>
          <p:cNvPr id="14" name="Text 10"/>
          <p:cNvSpPr/>
          <p:nvPr/>
        </p:nvSpPr>
        <p:spPr>
          <a:xfrm>
            <a:off x="3511296" y="3246120"/>
            <a:ext cx="2423160" cy="457200"/>
          </a:xfrm>
          <a:prstGeom prst="rect">
            <a:avLst/>
          </a:prstGeom>
          <a:noFill/>
          <a:ln/>
        </p:spPr>
        <p:txBody>
          <a:bodyPr wrap="square" rtlCol="0" anchor="ctr"/>
          <a:lstStyle/>
          <a:p>
            <a:pPr marL="0" indent="0" algn="ctr">
              <a:lnSpc>
                <a:spcPct val="110000"/>
              </a:lnSpc>
              <a:buNone/>
            </a:pPr>
            <a:r>
              <a:rPr lang="en-US" sz="1000" b="1" dirty="0">
                <a:solidFill>
                  <a:srgbClr val="8A93A3"/>
                </a:solidFill>
                <a:latin typeface="Calibri" pitchFamily="34" charset="0"/>
                <a:ea typeface="Calibri" pitchFamily="34" charset="-122"/>
                <a:cs typeface="Calibri" pitchFamily="34" charset="-120"/>
              </a:rPr>
              <a:t>Total Revenue</a:t>
            </a:r>
            <a:endParaRPr lang="en-US" sz="1000" b="1" dirty="0"/>
          </a:p>
        </p:txBody>
      </p:sp>
      <p:sp>
        <p:nvSpPr>
          <p:cNvPr id="15" name="Shape 11"/>
          <p:cNvSpPr/>
          <p:nvPr/>
        </p:nvSpPr>
        <p:spPr>
          <a:xfrm>
            <a:off x="6245352" y="1874520"/>
            <a:ext cx="2697480" cy="1965960"/>
          </a:xfrm>
          <a:prstGeom prst="roundRect">
            <a:avLst>
              <a:gd name="adj" fmla="val 4186"/>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6" name="Shape 12"/>
          <p:cNvSpPr/>
          <p:nvPr/>
        </p:nvSpPr>
        <p:spPr>
          <a:xfrm>
            <a:off x="7319772" y="2057400"/>
            <a:ext cx="548640" cy="548640"/>
          </a:xfrm>
          <a:prstGeom prst="ellipse">
            <a:avLst/>
          </a:prstGeom>
          <a:solidFill>
            <a:srgbClr val="2E6DA4"/>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7462418" y="2200046"/>
            <a:ext cx="263347" cy="263347"/>
          </a:xfrm>
          <a:prstGeom prst="rect">
            <a:avLst/>
          </a:prstGeom>
        </p:spPr>
      </p:pic>
      <p:sp>
        <p:nvSpPr>
          <p:cNvPr id="18" name="Text 13"/>
          <p:cNvSpPr/>
          <p:nvPr/>
        </p:nvSpPr>
        <p:spPr>
          <a:xfrm>
            <a:off x="6245352" y="2743200"/>
            <a:ext cx="2697480" cy="457200"/>
          </a:xfrm>
          <a:prstGeom prst="rect">
            <a:avLst/>
          </a:prstGeom>
          <a:noFill/>
          <a:ln/>
        </p:spPr>
        <p:txBody>
          <a:bodyPr wrap="square" rtlCol="0" anchor="ctr"/>
          <a:lstStyle/>
          <a:p>
            <a:pPr marL="0" indent="0" algn="ctr">
              <a:buNone/>
            </a:pPr>
            <a:r>
              <a:rPr lang="en-US" sz="2400" b="1" dirty="0">
                <a:solidFill>
                  <a:srgbClr val="1F2937"/>
                </a:solidFill>
                <a:latin typeface="Calibri" pitchFamily="34" charset="0"/>
                <a:ea typeface="Calibri" pitchFamily="34" charset="-122"/>
                <a:cs typeface="Calibri" pitchFamily="34" charset="-120"/>
              </a:rPr>
              <a:t>3K</a:t>
            </a:r>
            <a:endParaRPr lang="en-US" sz="2400" dirty="0"/>
          </a:p>
        </p:txBody>
      </p:sp>
      <p:sp>
        <p:nvSpPr>
          <p:cNvPr id="19" name="Text 14"/>
          <p:cNvSpPr/>
          <p:nvPr/>
        </p:nvSpPr>
        <p:spPr>
          <a:xfrm>
            <a:off x="6382512" y="3246120"/>
            <a:ext cx="2423160" cy="457200"/>
          </a:xfrm>
          <a:prstGeom prst="rect">
            <a:avLst/>
          </a:prstGeom>
          <a:noFill/>
          <a:ln/>
        </p:spPr>
        <p:txBody>
          <a:bodyPr wrap="square" rtlCol="0" anchor="ctr"/>
          <a:lstStyle/>
          <a:p>
            <a:pPr marL="0" indent="0" algn="ctr">
              <a:lnSpc>
                <a:spcPct val="110000"/>
              </a:lnSpc>
              <a:buNone/>
            </a:pPr>
            <a:r>
              <a:rPr lang="en-US" sz="1000" b="1" dirty="0">
                <a:solidFill>
                  <a:srgbClr val="8A93A3"/>
                </a:solidFill>
                <a:latin typeface="Calibri" pitchFamily="34" charset="0"/>
                <a:ea typeface="Calibri" pitchFamily="34" charset="-122"/>
                <a:cs typeface="Calibri" pitchFamily="34" charset="-120"/>
              </a:rPr>
              <a:t>Total Quantity Sold</a:t>
            </a:r>
            <a:endParaRPr lang="en-US" sz="1000" b="1" dirty="0"/>
          </a:p>
        </p:txBody>
      </p:sp>
      <p:sp>
        <p:nvSpPr>
          <p:cNvPr id="20" name="Shape 15"/>
          <p:cNvSpPr/>
          <p:nvPr/>
        </p:nvSpPr>
        <p:spPr>
          <a:xfrm>
            <a:off x="9116568" y="1874520"/>
            <a:ext cx="2697480" cy="1965960"/>
          </a:xfrm>
          <a:prstGeom prst="roundRect">
            <a:avLst>
              <a:gd name="adj" fmla="val 4186"/>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1" name="Shape 16"/>
          <p:cNvSpPr/>
          <p:nvPr/>
        </p:nvSpPr>
        <p:spPr>
          <a:xfrm>
            <a:off x="10190988" y="2057400"/>
            <a:ext cx="548640" cy="548640"/>
          </a:xfrm>
          <a:prstGeom prst="ellipse">
            <a:avLst/>
          </a:prstGeom>
          <a:solidFill>
            <a:srgbClr val="8E44AD"/>
          </a:solidFill>
          <a:ln/>
        </p:spPr>
        <p:txBody>
          <a:bodyPr/>
          <a:lstStyle/>
          <a:p>
            <a:endParaRPr lang="en-IN"/>
          </a:p>
        </p:txBody>
      </p:sp>
      <p:pic>
        <p:nvPicPr>
          <p:cNvPr id="22" name="Image 3" descr="preencoded.png"/>
          <p:cNvPicPr>
            <a:picLocks noChangeAspect="1"/>
          </p:cNvPicPr>
          <p:nvPr/>
        </p:nvPicPr>
        <p:blipFill>
          <a:blip r:embed="rId6"/>
          <a:stretch>
            <a:fillRect/>
          </a:stretch>
        </p:blipFill>
        <p:spPr>
          <a:xfrm>
            <a:off x="10333634" y="2200046"/>
            <a:ext cx="263347" cy="263347"/>
          </a:xfrm>
          <a:prstGeom prst="rect">
            <a:avLst/>
          </a:prstGeom>
        </p:spPr>
      </p:pic>
      <p:sp>
        <p:nvSpPr>
          <p:cNvPr id="23" name="Text 17"/>
          <p:cNvSpPr/>
          <p:nvPr/>
        </p:nvSpPr>
        <p:spPr>
          <a:xfrm>
            <a:off x="9116568" y="2743200"/>
            <a:ext cx="2697480" cy="457200"/>
          </a:xfrm>
          <a:prstGeom prst="rect">
            <a:avLst/>
          </a:prstGeom>
          <a:noFill/>
          <a:ln/>
        </p:spPr>
        <p:txBody>
          <a:bodyPr wrap="square" rtlCol="0" anchor="ctr"/>
          <a:lstStyle/>
          <a:p>
            <a:pPr marL="0" indent="0" algn="ctr">
              <a:buNone/>
            </a:pPr>
            <a:r>
              <a:rPr lang="en-US" sz="2400" b="1" dirty="0">
                <a:solidFill>
                  <a:srgbClr val="1F2937"/>
                </a:solidFill>
                <a:latin typeface="Calibri" pitchFamily="34" charset="0"/>
                <a:ea typeface="Calibri" pitchFamily="34" charset="-122"/>
                <a:cs typeface="Calibri" pitchFamily="34" charset="-120"/>
              </a:rPr>
              <a:t>8</a:t>
            </a:r>
            <a:endParaRPr lang="en-US" sz="2400" dirty="0"/>
          </a:p>
        </p:txBody>
      </p:sp>
      <p:sp>
        <p:nvSpPr>
          <p:cNvPr id="24" name="Text 18"/>
          <p:cNvSpPr/>
          <p:nvPr/>
        </p:nvSpPr>
        <p:spPr>
          <a:xfrm>
            <a:off x="9253728" y="3246120"/>
            <a:ext cx="2423160" cy="457200"/>
          </a:xfrm>
          <a:prstGeom prst="rect">
            <a:avLst/>
          </a:prstGeom>
          <a:noFill/>
          <a:ln/>
        </p:spPr>
        <p:txBody>
          <a:bodyPr wrap="square" rtlCol="0" anchor="ctr"/>
          <a:lstStyle/>
          <a:p>
            <a:pPr marL="0" indent="0" algn="ctr">
              <a:lnSpc>
                <a:spcPct val="110000"/>
              </a:lnSpc>
              <a:buNone/>
            </a:pPr>
            <a:r>
              <a:rPr lang="en-US" sz="1000" b="1" dirty="0">
                <a:solidFill>
                  <a:srgbClr val="8A93A3"/>
                </a:solidFill>
                <a:latin typeface="Calibri" pitchFamily="34" charset="0"/>
                <a:ea typeface="Calibri" pitchFamily="34" charset="-122"/>
                <a:cs typeface="Calibri" pitchFamily="34" charset="-120"/>
              </a:rPr>
              <a:t>Total Categories</a:t>
            </a:r>
            <a:endParaRPr lang="en-US" sz="1000" b="1" dirty="0"/>
          </a:p>
        </p:txBody>
      </p:sp>
      <p:sp>
        <p:nvSpPr>
          <p:cNvPr id="25" name="Shape 19"/>
          <p:cNvSpPr/>
          <p:nvPr/>
        </p:nvSpPr>
        <p:spPr>
          <a:xfrm>
            <a:off x="502920" y="4041648"/>
            <a:ext cx="2697480" cy="1965960"/>
          </a:xfrm>
          <a:prstGeom prst="roundRect">
            <a:avLst>
              <a:gd name="adj" fmla="val 4186"/>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6" name="Shape 20"/>
          <p:cNvSpPr/>
          <p:nvPr/>
        </p:nvSpPr>
        <p:spPr>
          <a:xfrm>
            <a:off x="1577340" y="4224528"/>
            <a:ext cx="548640" cy="548640"/>
          </a:xfrm>
          <a:prstGeom prst="ellipse">
            <a:avLst/>
          </a:prstGeom>
          <a:solidFill>
            <a:srgbClr val="1F4E79"/>
          </a:solidFill>
          <a:ln/>
        </p:spPr>
        <p:txBody>
          <a:bodyPr/>
          <a:lstStyle/>
          <a:p>
            <a:endParaRPr lang="en-IN"/>
          </a:p>
        </p:txBody>
      </p:sp>
      <p:pic>
        <p:nvPicPr>
          <p:cNvPr id="27" name="Image 4" descr="preencoded.png"/>
          <p:cNvPicPr>
            <a:picLocks noChangeAspect="1"/>
          </p:cNvPicPr>
          <p:nvPr/>
        </p:nvPicPr>
        <p:blipFill>
          <a:blip r:embed="rId7"/>
          <a:stretch>
            <a:fillRect/>
          </a:stretch>
        </p:blipFill>
        <p:spPr>
          <a:xfrm>
            <a:off x="1719986" y="4367174"/>
            <a:ext cx="263347" cy="263347"/>
          </a:xfrm>
          <a:prstGeom prst="rect">
            <a:avLst/>
          </a:prstGeom>
        </p:spPr>
      </p:pic>
      <p:sp>
        <p:nvSpPr>
          <p:cNvPr id="28" name="Text 21"/>
          <p:cNvSpPr/>
          <p:nvPr/>
        </p:nvSpPr>
        <p:spPr>
          <a:xfrm>
            <a:off x="502920" y="4910328"/>
            <a:ext cx="2697480" cy="457200"/>
          </a:xfrm>
          <a:prstGeom prst="rect">
            <a:avLst/>
          </a:prstGeom>
          <a:noFill/>
          <a:ln/>
        </p:spPr>
        <p:txBody>
          <a:bodyPr wrap="square" rtlCol="0" anchor="ctr"/>
          <a:lstStyle/>
          <a:p>
            <a:pPr marL="0" indent="0" algn="ctr">
              <a:buNone/>
            </a:pPr>
            <a:r>
              <a:rPr lang="en-US" sz="2400" b="1" dirty="0">
                <a:solidFill>
                  <a:srgbClr val="1F2937"/>
                </a:solidFill>
                <a:latin typeface="Calibri" pitchFamily="34" charset="0"/>
                <a:ea typeface="Calibri" pitchFamily="34" charset="-122"/>
                <a:cs typeface="Calibri" pitchFamily="34" charset="-120"/>
              </a:rPr>
              <a:t>2.37K</a:t>
            </a:r>
            <a:endParaRPr lang="en-US" sz="2400" dirty="0"/>
          </a:p>
        </p:txBody>
      </p:sp>
      <p:sp>
        <p:nvSpPr>
          <p:cNvPr id="29" name="Text 22"/>
          <p:cNvSpPr/>
          <p:nvPr/>
        </p:nvSpPr>
        <p:spPr>
          <a:xfrm>
            <a:off x="640080" y="5413248"/>
            <a:ext cx="2423160" cy="457200"/>
          </a:xfrm>
          <a:prstGeom prst="rect">
            <a:avLst/>
          </a:prstGeom>
          <a:noFill/>
          <a:ln/>
        </p:spPr>
        <p:txBody>
          <a:bodyPr wrap="square" rtlCol="0" anchor="ctr"/>
          <a:lstStyle/>
          <a:p>
            <a:pPr marL="0" indent="0" algn="ctr">
              <a:lnSpc>
                <a:spcPct val="110000"/>
              </a:lnSpc>
              <a:buNone/>
            </a:pPr>
            <a:r>
              <a:rPr lang="en-US" sz="1000" b="1" dirty="0">
                <a:solidFill>
                  <a:srgbClr val="8A93A3"/>
                </a:solidFill>
                <a:latin typeface="Calibri" pitchFamily="34" charset="0"/>
                <a:ea typeface="Calibri" pitchFamily="34" charset="-122"/>
                <a:cs typeface="Calibri" pitchFamily="34" charset="-120"/>
              </a:rPr>
              <a:t>Avg. Order Value</a:t>
            </a:r>
            <a:endParaRPr lang="en-US" sz="1000" b="1" dirty="0"/>
          </a:p>
        </p:txBody>
      </p:sp>
      <p:sp>
        <p:nvSpPr>
          <p:cNvPr id="30" name="Shape 23"/>
          <p:cNvSpPr/>
          <p:nvPr/>
        </p:nvSpPr>
        <p:spPr>
          <a:xfrm>
            <a:off x="3374136" y="4041648"/>
            <a:ext cx="2697480" cy="1965960"/>
          </a:xfrm>
          <a:prstGeom prst="roundRect">
            <a:avLst>
              <a:gd name="adj" fmla="val 4186"/>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31" name="Shape 24"/>
          <p:cNvSpPr/>
          <p:nvPr/>
        </p:nvSpPr>
        <p:spPr>
          <a:xfrm>
            <a:off x="4448556" y="4224528"/>
            <a:ext cx="548640" cy="548640"/>
          </a:xfrm>
          <a:prstGeom prst="ellipse">
            <a:avLst/>
          </a:prstGeom>
          <a:solidFill>
            <a:srgbClr val="6A1B9A"/>
          </a:solidFill>
          <a:ln/>
        </p:spPr>
        <p:txBody>
          <a:bodyPr/>
          <a:lstStyle/>
          <a:p>
            <a:endParaRPr lang="en-IN"/>
          </a:p>
        </p:txBody>
      </p:sp>
      <p:pic>
        <p:nvPicPr>
          <p:cNvPr id="32" name="Image 5" descr="preencoded.png"/>
          <p:cNvPicPr>
            <a:picLocks noChangeAspect="1"/>
          </p:cNvPicPr>
          <p:nvPr/>
        </p:nvPicPr>
        <p:blipFill>
          <a:blip r:embed="rId8"/>
          <a:stretch>
            <a:fillRect/>
          </a:stretch>
        </p:blipFill>
        <p:spPr>
          <a:xfrm>
            <a:off x="4591202" y="4367174"/>
            <a:ext cx="263347" cy="263347"/>
          </a:xfrm>
          <a:prstGeom prst="rect">
            <a:avLst/>
          </a:prstGeom>
        </p:spPr>
      </p:pic>
      <p:sp>
        <p:nvSpPr>
          <p:cNvPr id="33" name="Text 25"/>
          <p:cNvSpPr/>
          <p:nvPr/>
        </p:nvSpPr>
        <p:spPr>
          <a:xfrm>
            <a:off x="3374136" y="4910328"/>
            <a:ext cx="2697480" cy="457200"/>
          </a:xfrm>
          <a:prstGeom prst="rect">
            <a:avLst/>
          </a:prstGeom>
          <a:noFill/>
          <a:ln/>
        </p:spPr>
        <p:txBody>
          <a:bodyPr wrap="square" rtlCol="0" anchor="ctr"/>
          <a:lstStyle/>
          <a:p>
            <a:pPr marL="0" indent="0" algn="ctr">
              <a:buNone/>
            </a:pPr>
            <a:r>
              <a:rPr lang="en-US" sz="2400" b="1" dirty="0">
                <a:solidFill>
                  <a:srgbClr val="1F2937"/>
                </a:solidFill>
                <a:latin typeface="Calibri" pitchFamily="34" charset="0"/>
                <a:ea typeface="Calibri" pitchFamily="34" charset="-122"/>
                <a:cs typeface="Calibri" pitchFamily="34" charset="-120"/>
              </a:rPr>
              <a:t>2.37K</a:t>
            </a:r>
            <a:endParaRPr lang="en-US" sz="2400" dirty="0"/>
          </a:p>
        </p:txBody>
      </p:sp>
      <p:sp>
        <p:nvSpPr>
          <p:cNvPr id="34" name="Text 26"/>
          <p:cNvSpPr/>
          <p:nvPr/>
        </p:nvSpPr>
        <p:spPr>
          <a:xfrm>
            <a:off x="3511296" y="5413248"/>
            <a:ext cx="2423160" cy="457200"/>
          </a:xfrm>
          <a:prstGeom prst="rect">
            <a:avLst/>
          </a:prstGeom>
          <a:noFill/>
          <a:ln/>
        </p:spPr>
        <p:txBody>
          <a:bodyPr wrap="square" rtlCol="0" anchor="ctr"/>
          <a:lstStyle/>
          <a:p>
            <a:pPr marL="0" indent="0" algn="ctr">
              <a:lnSpc>
                <a:spcPct val="110000"/>
              </a:lnSpc>
              <a:buNone/>
            </a:pPr>
            <a:r>
              <a:rPr lang="en-US" sz="1000" b="1" dirty="0">
                <a:solidFill>
                  <a:srgbClr val="8A93A3"/>
                </a:solidFill>
                <a:latin typeface="Calibri" pitchFamily="34" charset="0"/>
                <a:ea typeface="Calibri" pitchFamily="34" charset="-122"/>
                <a:cs typeface="Calibri" pitchFamily="34" charset="-120"/>
              </a:rPr>
              <a:t>Avg. Customer Spend</a:t>
            </a:r>
            <a:endParaRPr lang="en-US" sz="1000" b="1" dirty="0"/>
          </a:p>
        </p:txBody>
      </p:sp>
      <p:sp>
        <p:nvSpPr>
          <p:cNvPr id="35" name="Shape 27"/>
          <p:cNvSpPr/>
          <p:nvPr/>
        </p:nvSpPr>
        <p:spPr>
          <a:xfrm>
            <a:off x="6245352" y="4041648"/>
            <a:ext cx="2697480" cy="1965960"/>
          </a:xfrm>
          <a:prstGeom prst="roundRect">
            <a:avLst>
              <a:gd name="adj" fmla="val 4186"/>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36" name="Shape 28"/>
          <p:cNvSpPr/>
          <p:nvPr/>
        </p:nvSpPr>
        <p:spPr>
          <a:xfrm>
            <a:off x="7319772" y="4224528"/>
            <a:ext cx="548640" cy="548640"/>
          </a:xfrm>
          <a:prstGeom prst="ellipse">
            <a:avLst/>
          </a:prstGeom>
          <a:solidFill>
            <a:srgbClr val="2E6DA4"/>
          </a:solidFill>
          <a:ln/>
        </p:spPr>
        <p:txBody>
          <a:bodyPr/>
          <a:lstStyle/>
          <a:p>
            <a:endParaRPr lang="en-IN"/>
          </a:p>
        </p:txBody>
      </p:sp>
      <p:pic>
        <p:nvPicPr>
          <p:cNvPr id="37" name="Image 6" descr="preencoded.png"/>
          <p:cNvPicPr>
            <a:picLocks noChangeAspect="1"/>
          </p:cNvPicPr>
          <p:nvPr/>
        </p:nvPicPr>
        <p:blipFill>
          <a:blip r:embed="rId9"/>
          <a:stretch>
            <a:fillRect/>
          </a:stretch>
        </p:blipFill>
        <p:spPr>
          <a:xfrm>
            <a:off x="7462418" y="4367174"/>
            <a:ext cx="263347" cy="263347"/>
          </a:xfrm>
          <a:prstGeom prst="rect">
            <a:avLst/>
          </a:prstGeom>
        </p:spPr>
      </p:pic>
      <p:sp>
        <p:nvSpPr>
          <p:cNvPr id="38" name="Text 29"/>
          <p:cNvSpPr/>
          <p:nvPr/>
        </p:nvSpPr>
        <p:spPr>
          <a:xfrm>
            <a:off x="6245352" y="4910328"/>
            <a:ext cx="2697480" cy="457200"/>
          </a:xfrm>
          <a:prstGeom prst="rect">
            <a:avLst/>
          </a:prstGeom>
          <a:noFill/>
          <a:ln/>
        </p:spPr>
        <p:txBody>
          <a:bodyPr wrap="square" rtlCol="0" anchor="ctr"/>
          <a:lstStyle/>
          <a:p>
            <a:pPr marL="0" indent="0" algn="ctr">
              <a:buNone/>
            </a:pPr>
            <a:r>
              <a:rPr lang="en-US" sz="2400" b="1" dirty="0">
                <a:solidFill>
                  <a:srgbClr val="1F2937"/>
                </a:solidFill>
                <a:latin typeface="Calibri" pitchFamily="34" charset="0"/>
                <a:ea typeface="Calibri" pitchFamily="34" charset="-122"/>
                <a:cs typeface="Calibri" pitchFamily="34" charset="-120"/>
              </a:rPr>
              <a:t>2.98</a:t>
            </a:r>
            <a:endParaRPr lang="en-US" sz="2400" dirty="0"/>
          </a:p>
        </p:txBody>
      </p:sp>
      <p:sp>
        <p:nvSpPr>
          <p:cNvPr id="39" name="Text 30"/>
          <p:cNvSpPr/>
          <p:nvPr/>
        </p:nvSpPr>
        <p:spPr>
          <a:xfrm>
            <a:off x="6382512" y="5413248"/>
            <a:ext cx="2423160" cy="457200"/>
          </a:xfrm>
          <a:prstGeom prst="rect">
            <a:avLst/>
          </a:prstGeom>
          <a:noFill/>
          <a:ln/>
        </p:spPr>
        <p:txBody>
          <a:bodyPr wrap="square" rtlCol="0" anchor="ctr"/>
          <a:lstStyle/>
          <a:p>
            <a:pPr marL="0" indent="0" algn="ctr">
              <a:lnSpc>
                <a:spcPct val="110000"/>
              </a:lnSpc>
              <a:buNone/>
            </a:pPr>
            <a:r>
              <a:rPr lang="en-US" sz="1000" b="1" dirty="0">
                <a:solidFill>
                  <a:srgbClr val="8A93A3"/>
                </a:solidFill>
                <a:latin typeface="Calibri" pitchFamily="34" charset="0"/>
                <a:ea typeface="Calibri" pitchFamily="34" charset="-122"/>
                <a:cs typeface="Calibri" pitchFamily="34" charset="-120"/>
              </a:rPr>
              <a:t>Avg. Quantity per Transaction</a:t>
            </a:r>
            <a:endParaRPr lang="en-US" sz="1000" b="1" dirty="0"/>
          </a:p>
        </p:txBody>
      </p:sp>
      <p:sp>
        <p:nvSpPr>
          <p:cNvPr id="40" name="Shape 31"/>
          <p:cNvSpPr/>
          <p:nvPr/>
        </p:nvSpPr>
        <p:spPr>
          <a:xfrm>
            <a:off x="9116568" y="4041648"/>
            <a:ext cx="2697480" cy="1965960"/>
          </a:xfrm>
          <a:prstGeom prst="roundRect">
            <a:avLst>
              <a:gd name="adj" fmla="val 4186"/>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41" name="Shape 32"/>
          <p:cNvSpPr/>
          <p:nvPr/>
        </p:nvSpPr>
        <p:spPr>
          <a:xfrm>
            <a:off x="10190988" y="4224528"/>
            <a:ext cx="548640" cy="548640"/>
          </a:xfrm>
          <a:prstGeom prst="ellipse">
            <a:avLst/>
          </a:prstGeom>
          <a:solidFill>
            <a:srgbClr val="8E44AD"/>
          </a:solidFill>
          <a:ln/>
        </p:spPr>
        <p:txBody>
          <a:bodyPr/>
          <a:lstStyle/>
          <a:p>
            <a:endParaRPr lang="en-IN"/>
          </a:p>
        </p:txBody>
      </p:sp>
      <p:pic>
        <p:nvPicPr>
          <p:cNvPr id="42" name="Image 7" descr="preencoded.png"/>
          <p:cNvPicPr>
            <a:picLocks noChangeAspect="1"/>
          </p:cNvPicPr>
          <p:nvPr/>
        </p:nvPicPr>
        <p:blipFill>
          <a:blip r:embed="rId6"/>
          <a:stretch>
            <a:fillRect/>
          </a:stretch>
        </p:blipFill>
        <p:spPr>
          <a:xfrm>
            <a:off x="10333634" y="4367174"/>
            <a:ext cx="263347" cy="263347"/>
          </a:xfrm>
          <a:prstGeom prst="rect">
            <a:avLst/>
          </a:prstGeom>
        </p:spPr>
      </p:pic>
      <p:sp>
        <p:nvSpPr>
          <p:cNvPr id="43" name="Text 33"/>
          <p:cNvSpPr/>
          <p:nvPr/>
        </p:nvSpPr>
        <p:spPr>
          <a:xfrm>
            <a:off x="9116568" y="4910328"/>
            <a:ext cx="2697480" cy="457200"/>
          </a:xfrm>
          <a:prstGeom prst="rect">
            <a:avLst/>
          </a:prstGeom>
          <a:noFill/>
          <a:ln/>
        </p:spPr>
        <p:txBody>
          <a:bodyPr wrap="square" rtlCol="0" anchor="ctr"/>
          <a:lstStyle/>
          <a:p>
            <a:pPr marL="0" indent="0" algn="ctr">
              <a:buNone/>
            </a:pPr>
            <a:r>
              <a:rPr lang="en-US" sz="2400" b="1" dirty="0">
                <a:solidFill>
                  <a:srgbClr val="1F2937"/>
                </a:solidFill>
                <a:latin typeface="Calibri" pitchFamily="34" charset="0"/>
                <a:ea typeface="Calibri" pitchFamily="34" charset="-122"/>
                <a:cs typeface="Calibri" pitchFamily="34" charset="-120"/>
              </a:rPr>
              <a:t>653.02</a:t>
            </a:r>
            <a:endParaRPr lang="en-US" sz="2400" dirty="0"/>
          </a:p>
        </p:txBody>
      </p:sp>
      <p:sp>
        <p:nvSpPr>
          <p:cNvPr id="44" name="Text 34"/>
          <p:cNvSpPr/>
          <p:nvPr/>
        </p:nvSpPr>
        <p:spPr>
          <a:xfrm>
            <a:off x="9253728" y="5413248"/>
            <a:ext cx="2423160" cy="457200"/>
          </a:xfrm>
          <a:prstGeom prst="rect">
            <a:avLst/>
          </a:prstGeom>
          <a:noFill/>
          <a:ln/>
        </p:spPr>
        <p:txBody>
          <a:bodyPr wrap="square" rtlCol="0" anchor="ctr"/>
          <a:lstStyle/>
          <a:p>
            <a:pPr marL="0" indent="0" algn="ctr">
              <a:lnSpc>
                <a:spcPct val="110000"/>
              </a:lnSpc>
              <a:buNone/>
            </a:pPr>
            <a:r>
              <a:rPr lang="en-US" sz="1000" b="1" dirty="0">
                <a:solidFill>
                  <a:srgbClr val="8A93A3"/>
                </a:solidFill>
                <a:latin typeface="Calibri" pitchFamily="34" charset="0"/>
                <a:ea typeface="Calibri" pitchFamily="34" charset="-122"/>
                <a:cs typeface="Calibri" pitchFamily="34" charset="-120"/>
              </a:rPr>
              <a:t>Avg. Unit Price</a:t>
            </a:r>
            <a:endParaRPr lang="en-US" sz="1000" b="1" dirty="0"/>
          </a:p>
        </p:txBody>
      </p:sp>
      <p:sp>
        <p:nvSpPr>
          <p:cNvPr id="45" name="Text 35"/>
          <p:cNvSpPr/>
          <p:nvPr/>
        </p:nvSpPr>
        <p:spPr>
          <a:xfrm>
            <a:off x="502920" y="6547104"/>
            <a:ext cx="6400800" cy="256032"/>
          </a:xfrm>
          <a:prstGeom prst="rect">
            <a:avLst/>
          </a:prstGeom>
          <a:noFill/>
          <a:ln/>
        </p:spPr>
        <p:txBody>
          <a:bodyPr wrap="square" rtlCol="0" anchor="ctr"/>
          <a:lstStyle/>
          <a:p>
            <a:pPr marL="0" indent="0">
              <a:buNone/>
            </a:pPr>
            <a:r>
              <a:rPr lang="en-US" sz="800" kern="0" spc="100" dirty="0">
                <a:solidFill>
                  <a:srgbClr val="8A93A3"/>
                </a:solidFill>
                <a:latin typeface="Calibri" pitchFamily="34" charset="0"/>
                <a:ea typeface="Calibri" pitchFamily="34" charset="-122"/>
                <a:cs typeface="Calibri" pitchFamily="34" charset="-120"/>
              </a:rPr>
              <a:t>CUSTOMER DATA ANALYSIS  |  SQL &amp; POWER BI</a:t>
            </a:r>
            <a:endParaRPr lang="en-US" sz="800" dirty="0"/>
          </a:p>
        </p:txBody>
      </p:sp>
      <p:sp>
        <p:nvSpPr>
          <p:cNvPr id="46" name="Text 36"/>
          <p:cNvSpPr/>
          <p:nvPr/>
        </p:nvSpPr>
        <p:spPr>
          <a:xfrm>
            <a:off x="11064240" y="6547104"/>
            <a:ext cx="640080" cy="256032"/>
          </a:xfrm>
          <a:prstGeom prst="rect">
            <a:avLst/>
          </a:prstGeom>
          <a:noFill/>
          <a:ln/>
        </p:spPr>
        <p:txBody>
          <a:bodyPr wrap="square" rtlCol="0" anchor="ctr"/>
          <a:lstStyle/>
          <a:p>
            <a:pPr marL="0" indent="0" algn="r">
              <a:buNone/>
            </a:pPr>
            <a:r>
              <a:rPr lang="en-US" sz="800" dirty="0">
                <a:solidFill>
                  <a:srgbClr val="8A93A3"/>
                </a:solidFill>
                <a:latin typeface="Calibri" pitchFamily="34" charset="0"/>
                <a:ea typeface="Calibri" pitchFamily="34" charset="-122"/>
                <a:cs typeface="Calibri" pitchFamily="34" charset="-120"/>
              </a:rPr>
              <a:t>11 / 15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56032"/>
          </a:xfrm>
          <a:prstGeom prst="rect">
            <a:avLst/>
          </a:prstGeom>
          <a:noFill/>
          <a:ln/>
        </p:spPr>
        <p:txBody>
          <a:bodyPr wrap="square"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SECTION 11</a:t>
            </a:r>
            <a:endParaRPr lang="en-US" sz="1100" dirty="0"/>
          </a:p>
        </p:txBody>
      </p:sp>
      <p:sp>
        <p:nvSpPr>
          <p:cNvPr id="3" name="Text 1"/>
          <p:cNvSpPr/>
          <p:nvPr/>
        </p:nvSpPr>
        <p:spPr>
          <a:xfrm>
            <a:off x="502920" y="621792"/>
            <a:ext cx="10972800" cy="566928"/>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Business Insights</a:t>
            </a:r>
            <a:endParaRPr lang="en-US" sz="2800" dirty="0"/>
          </a:p>
        </p:txBody>
      </p:sp>
      <p:sp>
        <p:nvSpPr>
          <p:cNvPr id="4" name="Shape 2"/>
          <p:cNvSpPr/>
          <p:nvPr/>
        </p:nvSpPr>
        <p:spPr>
          <a:xfrm>
            <a:off x="502920" y="1463040"/>
            <a:ext cx="5440680" cy="2240280"/>
          </a:xfrm>
          <a:prstGeom prst="roundRect">
            <a:avLst>
              <a:gd name="adj" fmla="val 3673"/>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5" name="Shape 3"/>
          <p:cNvSpPr/>
          <p:nvPr/>
        </p:nvSpPr>
        <p:spPr>
          <a:xfrm>
            <a:off x="758952" y="1719072"/>
            <a:ext cx="621792" cy="621792"/>
          </a:xfrm>
          <a:prstGeom prst="ellipse">
            <a:avLst/>
          </a:prstGeom>
          <a:solidFill>
            <a:srgbClr val="1F4E79"/>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920618" y="1880738"/>
            <a:ext cx="298460" cy="298460"/>
          </a:xfrm>
          <a:prstGeom prst="rect">
            <a:avLst/>
          </a:prstGeom>
        </p:spPr>
      </p:pic>
      <p:sp>
        <p:nvSpPr>
          <p:cNvPr id="7" name="Text 4"/>
          <p:cNvSpPr/>
          <p:nvPr/>
        </p:nvSpPr>
        <p:spPr>
          <a:xfrm>
            <a:off x="1554480" y="1755648"/>
            <a:ext cx="4160520" cy="365760"/>
          </a:xfrm>
          <a:prstGeom prst="rect">
            <a:avLst/>
          </a:prstGeom>
          <a:noFill/>
          <a:ln/>
        </p:spPr>
        <p:txBody>
          <a:bodyPr wrap="square"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Customer Demographics</a:t>
            </a:r>
            <a:endParaRPr lang="en-US" sz="1500" dirty="0"/>
          </a:p>
        </p:txBody>
      </p:sp>
      <p:sp>
        <p:nvSpPr>
          <p:cNvPr id="8" name="Text 5"/>
          <p:cNvSpPr/>
          <p:nvPr/>
        </p:nvSpPr>
        <p:spPr>
          <a:xfrm>
            <a:off x="758952" y="2423160"/>
            <a:ext cx="4928616" cy="1143000"/>
          </a:xfrm>
          <a:prstGeom prst="rect">
            <a:avLst/>
          </a:prstGeom>
          <a:noFill/>
          <a:ln/>
        </p:spPr>
        <p:txBody>
          <a:bodyPr wrap="square" rtlCol="0" anchor="ctr"/>
          <a:lstStyle/>
          <a:p>
            <a:pPr>
              <a:lnSpc>
                <a:spcPct val="130000"/>
              </a:lnSpc>
            </a:pPr>
            <a:r>
              <a:rPr lang="en-IN" sz="1100" dirty="0">
                <a:solidFill>
                  <a:schemeClr val="tx1">
                    <a:lumMod val="65000"/>
                    <a:lumOff val="35000"/>
                  </a:schemeClr>
                </a:solidFill>
              </a:rPr>
              <a:t>Female customers account for 62% of total customers and consistently outspend male customers.</a:t>
            </a:r>
            <a:r>
              <a:rPr lang="en-US" sz="1100" dirty="0">
                <a:solidFill>
                  <a:srgbClr val="48505C"/>
                </a:solidFill>
                <a:latin typeface="Calibri" pitchFamily="34" charset="0"/>
                <a:ea typeface="Calibri" pitchFamily="34" charset="-122"/>
                <a:cs typeface="Calibri" pitchFamily="34" charset="-120"/>
              </a:rPr>
              <a:t> </a:t>
            </a:r>
            <a:r>
              <a:rPr lang="en-US" sz="1100" dirty="0">
                <a:solidFill>
                  <a:schemeClr val="tx1">
                    <a:lumMod val="65000"/>
                    <a:lumOff val="35000"/>
                  </a:schemeClr>
                </a:solidFill>
                <a:latin typeface="Calibri" pitchFamily="34" charset="0"/>
                <a:ea typeface="Calibri" pitchFamily="34" charset="-122"/>
                <a:cs typeface="Calibri" pitchFamily="34" charset="-120"/>
              </a:rPr>
              <a:t>The 50+ segment leads in transactions, units, and revenue.</a:t>
            </a:r>
            <a:endParaRPr lang="en-US" sz="1100" dirty="0">
              <a:solidFill>
                <a:schemeClr val="tx1">
                  <a:lumMod val="65000"/>
                  <a:lumOff val="35000"/>
                </a:schemeClr>
              </a:solidFill>
            </a:endParaRPr>
          </a:p>
        </p:txBody>
      </p:sp>
      <p:sp>
        <p:nvSpPr>
          <p:cNvPr id="9" name="Shape 6"/>
          <p:cNvSpPr/>
          <p:nvPr/>
        </p:nvSpPr>
        <p:spPr>
          <a:xfrm>
            <a:off x="6217920" y="1463040"/>
            <a:ext cx="5440680" cy="2240280"/>
          </a:xfrm>
          <a:prstGeom prst="roundRect">
            <a:avLst>
              <a:gd name="adj" fmla="val 3673"/>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0" name="Shape 7"/>
          <p:cNvSpPr/>
          <p:nvPr/>
        </p:nvSpPr>
        <p:spPr>
          <a:xfrm>
            <a:off x="6473952" y="1719072"/>
            <a:ext cx="621792" cy="621792"/>
          </a:xfrm>
          <a:prstGeom prst="ellipse">
            <a:avLst/>
          </a:prstGeom>
          <a:solidFill>
            <a:srgbClr val="6A1B9A"/>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6635618" y="1880738"/>
            <a:ext cx="298460" cy="298460"/>
          </a:xfrm>
          <a:prstGeom prst="rect">
            <a:avLst/>
          </a:prstGeom>
        </p:spPr>
      </p:pic>
      <p:sp>
        <p:nvSpPr>
          <p:cNvPr id="12" name="Text 8"/>
          <p:cNvSpPr/>
          <p:nvPr/>
        </p:nvSpPr>
        <p:spPr>
          <a:xfrm>
            <a:off x="7269480" y="1755648"/>
            <a:ext cx="4160520" cy="365760"/>
          </a:xfrm>
          <a:prstGeom prst="rect">
            <a:avLst/>
          </a:prstGeom>
          <a:noFill/>
          <a:ln/>
        </p:spPr>
        <p:txBody>
          <a:bodyPr wrap="square"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Product Performance</a:t>
            </a:r>
            <a:endParaRPr lang="en-US" sz="1500" dirty="0"/>
          </a:p>
        </p:txBody>
      </p:sp>
      <p:sp>
        <p:nvSpPr>
          <p:cNvPr id="13" name="Text 9"/>
          <p:cNvSpPr/>
          <p:nvPr/>
        </p:nvSpPr>
        <p:spPr>
          <a:xfrm>
            <a:off x="6473952" y="2423160"/>
            <a:ext cx="4928616" cy="1143000"/>
          </a:xfrm>
          <a:prstGeom prst="rect">
            <a:avLst/>
          </a:prstGeom>
          <a:noFill/>
          <a:ln/>
        </p:spPr>
        <p:txBody>
          <a:bodyPr wrap="square" rtlCol="0" anchor="ctr"/>
          <a:lstStyle/>
          <a:p>
            <a:pPr>
              <a:lnSpc>
                <a:spcPct val="130000"/>
              </a:lnSpc>
            </a:pPr>
            <a:r>
              <a:rPr lang="en-US" sz="1100" dirty="0">
                <a:solidFill>
                  <a:srgbClr val="48505C"/>
                </a:solidFill>
                <a:latin typeface="Calibri" pitchFamily="34" charset="0"/>
                <a:ea typeface="Calibri" pitchFamily="34" charset="-122"/>
                <a:cs typeface="Calibri" pitchFamily="34" charset="-120"/>
              </a:rPr>
              <a:t>Clothing is the top revenue driver across all segments. </a:t>
            </a:r>
            <a:r>
              <a:rPr lang="en-IN" sz="1100" dirty="0">
                <a:solidFill>
                  <a:schemeClr val="tx1">
                    <a:lumMod val="65000"/>
                    <a:lumOff val="35000"/>
                  </a:schemeClr>
                </a:solidFill>
              </a:rPr>
              <a:t>Shoes and Technology are the next strongest revenue-generating categories.</a:t>
            </a:r>
            <a:endParaRPr lang="en-US" sz="1100" dirty="0">
              <a:solidFill>
                <a:schemeClr val="tx1">
                  <a:lumMod val="65000"/>
                  <a:lumOff val="35000"/>
                </a:schemeClr>
              </a:solidFill>
            </a:endParaRPr>
          </a:p>
        </p:txBody>
      </p:sp>
      <p:sp>
        <p:nvSpPr>
          <p:cNvPr id="14" name="Shape 10"/>
          <p:cNvSpPr/>
          <p:nvPr/>
        </p:nvSpPr>
        <p:spPr>
          <a:xfrm>
            <a:off x="502920" y="3977640"/>
            <a:ext cx="5440680" cy="2240280"/>
          </a:xfrm>
          <a:prstGeom prst="roundRect">
            <a:avLst>
              <a:gd name="adj" fmla="val 3673"/>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5" name="Shape 11"/>
          <p:cNvSpPr/>
          <p:nvPr/>
        </p:nvSpPr>
        <p:spPr>
          <a:xfrm>
            <a:off x="758952" y="4233672"/>
            <a:ext cx="621792" cy="621792"/>
          </a:xfrm>
          <a:prstGeom prst="ellipse">
            <a:avLst/>
          </a:prstGeom>
          <a:solidFill>
            <a:srgbClr val="2E6DA4"/>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920618" y="4395338"/>
            <a:ext cx="298460" cy="298460"/>
          </a:xfrm>
          <a:prstGeom prst="rect">
            <a:avLst/>
          </a:prstGeom>
        </p:spPr>
      </p:pic>
      <p:sp>
        <p:nvSpPr>
          <p:cNvPr id="17" name="Text 12"/>
          <p:cNvSpPr/>
          <p:nvPr/>
        </p:nvSpPr>
        <p:spPr>
          <a:xfrm>
            <a:off x="1554480" y="4270248"/>
            <a:ext cx="4160520" cy="365760"/>
          </a:xfrm>
          <a:prstGeom prst="rect">
            <a:avLst/>
          </a:prstGeom>
          <a:noFill/>
          <a:ln/>
        </p:spPr>
        <p:txBody>
          <a:bodyPr wrap="square"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Payment Behavior</a:t>
            </a:r>
            <a:endParaRPr lang="en-US" sz="1500" dirty="0"/>
          </a:p>
        </p:txBody>
      </p:sp>
      <p:sp>
        <p:nvSpPr>
          <p:cNvPr id="18" name="Text 13"/>
          <p:cNvSpPr/>
          <p:nvPr/>
        </p:nvSpPr>
        <p:spPr>
          <a:xfrm>
            <a:off x="758952" y="4937760"/>
            <a:ext cx="4928616" cy="1143000"/>
          </a:xfrm>
          <a:prstGeom prst="rect">
            <a:avLst/>
          </a:prstGeom>
          <a:noFill/>
          <a:ln/>
        </p:spPr>
        <p:txBody>
          <a:bodyPr wrap="square" rtlCol="0" anchor="ctr"/>
          <a:lstStyle/>
          <a:p>
            <a:pPr marL="0" indent="0">
              <a:lnSpc>
                <a:spcPct val="130000"/>
              </a:lnSpc>
              <a:buNone/>
            </a:pPr>
            <a:r>
              <a:rPr lang="en-US" sz="1100" dirty="0">
                <a:solidFill>
                  <a:srgbClr val="48505C"/>
                </a:solidFill>
                <a:latin typeface="Calibri" pitchFamily="34" charset="0"/>
                <a:ea typeface="Calibri" pitchFamily="34" charset="-122"/>
                <a:cs typeface="Calibri" pitchFamily="34" charset="-120"/>
              </a:rPr>
              <a:t>Cash leads at 42% of transactions and the highest revenue share, ahead of Credit Card (36.6%) and Debit Card (21.4%).</a:t>
            </a:r>
            <a:endParaRPr lang="en-US" sz="1100" dirty="0"/>
          </a:p>
        </p:txBody>
      </p:sp>
      <p:sp>
        <p:nvSpPr>
          <p:cNvPr id="19" name="Shape 14"/>
          <p:cNvSpPr/>
          <p:nvPr/>
        </p:nvSpPr>
        <p:spPr>
          <a:xfrm>
            <a:off x="6217920" y="3977640"/>
            <a:ext cx="5440680" cy="2240280"/>
          </a:xfrm>
          <a:prstGeom prst="roundRect">
            <a:avLst>
              <a:gd name="adj" fmla="val 3673"/>
            </a:avLst>
          </a:prstGeom>
          <a:solidFill>
            <a:srgbClr val="FFFFFF"/>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0" name="Shape 15"/>
          <p:cNvSpPr/>
          <p:nvPr/>
        </p:nvSpPr>
        <p:spPr>
          <a:xfrm>
            <a:off x="6473952" y="4233672"/>
            <a:ext cx="621792" cy="621792"/>
          </a:xfrm>
          <a:prstGeom prst="ellipse">
            <a:avLst/>
          </a:prstGeom>
          <a:solidFill>
            <a:srgbClr val="8E44AD"/>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6635618" y="4395338"/>
            <a:ext cx="298460" cy="298460"/>
          </a:xfrm>
          <a:prstGeom prst="rect">
            <a:avLst/>
          </a:prstGeom>
        </p:spPr>
      </p:pic>
      <p:sp>
        <p:nvSpPr>
          <p:cNvPr id="22" name="Text 16"/>
          <p:cNvSpPr/>
          <p:nvPr/>
        </p:nvSpPr>
        <p:spPr>
          <a:xfrm>
            <a:off x="7269480" y="4270248"/>
            <a:ext cx="4160520" cy="365760"/>
          </a:xfrm>
          <a:prstGeom prst="rect">
            <a:avLst/>
          </a:prstGeom>
          <a:noFill/>
          <a:ln/>
        </p:spPr>
        <p:txBody>
          <a:bodyPr wrap="square"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Shopping Mall Performance</a:t>
            </a:r>
            <a:endParaRPr lang="en-US" sz="1500" dirty="0"/>
          </a:p>
        </p:txBody>
      </p:sp>
      <p:sp>
        <p:nvSpPr>
          <p:cNvPr id="23" name="Text 17"/>
          <p:cNvSpPr/>
          <p:nvPr/>
        </p:nvSpPr>
        <p:spPr>
          <a:xfrm>
            <a:off x="6473952" y="4937760"/>
            <a:ext cx="4928616" cy="1143000"/>
          </a:xfrm>
          <a:prstGeom prst="rect">
            <a:avLst/>
          </a:prstGeom>
          <a:noFill/>
          <a:ln/>
        </p:spPr>
        <p:txBody>
          <a:bodyPr wrap="square" rtlCol="0" anchor="ctr"/>
          <a:lstStyle/>
          <a:p>
            <a:pPr>
              <a:lnSpc>
                <a:spcPct val="130000"/>
              </a:lnSpc>
            </a:pPr>
            <a:r>
              <a:rPr lang="en-IN" sz="1100" dirty="0">
                <a:solidFill>
                  <a:schemeClr val="tx1">
                    <a:lumMod val="65000"/>
                    <a:lumOff val="35000"/>
                  </a:schemeClr>
                </a:solidFill>
              </a:rPr>
              <a:t>Mall of Istanbul leads in revenue, customer count, and quantity sold, followed by Kanyon, Metrocity, Metropol AVM, and Istinye Park.</a:t>
            </a:r>
            <a:endParaRPr lang="en-US" sz="1100" dirty="0">
              <a:solidFill>
                <a:schemeClr val="tx1">
                  <a:lumMod val="65000"/>
                  <a:lumOff val="35000"/>
                </a:schemeClr>
              </a:solidFill>
            </a:endParaRPr>
          </a:p>
        </p:txBody>
      </p:sp>
      <p:sp>
        <p:nvSpPr>
          <p:cNvPr id="24" name="Text 18"/>
          <p:cNvSpPr/>
          <p:nvPr/>
        </p:nvSpPr>
        <p:spPr>
          <a:xfrm>
            <a:off x="502920" y="6547104"/>
            <a:ext cx="6400800" cy="256032"/>
          </a:xfrm>
          <a:prstGeom prst="rect">
            <a:avLst/>
          </a:prstGeom>
          <a:noFill/>
          <a:ln/>
        </p:spPr>
        <p:txBody>
          <a:bodyPr wrap="square" rtlCol="0" anchor="ctr"/>
          <a:lstStyle/>
          <a:p>
            <a:pPr marL="0" indent="0">
              <a:buNone/>
            </a:pPr>
            <a:r>
              <a:rPr lang="en-US" sz="800" kern="0" spc="100" dirty="0">
                <a:solidFill>
                  <a:srgbClr val="8A93A3"/>
                </a:solidFill>
                <a:latin typeface="Calibri" pitchFamily="34" charset="0"/>
                <a:ea typeface="Calibri" pitchFamily="34" charset="-122"/>
                <a:cs typeface="Calibri" pitchFamily="34" charset="-120"/>
              </a:rPr>
              <a:t>CUSTOMER DATA ANALYSIS  |  SQL &amp; POWER BI</a:t>
            </a:r>
            <a:endParaRPr lang="en-US" sz="800" dirty="0"/>
          </a:p>
        </p:txBody>
      </p:sp>
      <p:sp>
        <p:nvSpPr>
          <p:cNvPr id="25" name="Text 19"/>
          <p:cNvSpPr/>
          <p:nvPr/>
        </p:nvSpPr>
        <p:spPr>
          <a:xfrm>
            <a:off x="11064240" y="6547104"/>
            <a:ext cx="640080" cy="256032"/>
          </a:xfrm>
          <a:prstGeom prst="rect">
            <a:avLst/>
          </a:prstGeom>
          <a:noFill/>
          <a:ln/>
        </p:spPr>
        <p:txBody>
          <a:bodyPr wrap="square" rtlCol="0" anchor="ctr"/>
          <a:lstStyle/>
          <a:p>
            <a:pPr marL="0" indent="0" algn="r">
              <a:buNone/>
            </a:pPr>
            <a:r>
              <a:rPr lang="en-US" sz="800" dirty="0">
                <a:solidFill>
                  <a:srgbClr val="8A93A3"/>
                </a:solidFill>
                <a:latin typeface="Calibri" pitchFamily="34" charset="0"/>
                <a:ea typeface="Calibri" pitchFamily="34" charset="-122"/>
                <a:cs typeface="Calibri" pitchFamily="34" charset="-120"/>
              </a:rPr>
              <a:t>12 / 15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56032"/>
          </a:xfrm>
          <a:prstGeom prst="rect">
            <a:avLst/>
          </a:prstGeom>
          <a:noFill/>
          <a:ln/>
        </p:spPr>
        <p:txBody>
          <a:bodyPr wrap="square"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SECTION 12</a:t>
            </a:r>
            <a:endParaRPr lang="en-US" sz="1100" dirty="0"/>
          </a:p>
        </p:txBody>
      </p:sp>
      <p:sp>
        <p:nvSpPr>
          <p:cNvPr id="3" name="Text 1"/>
          <p:cNvSpPr/>
          <p:nvPr/>
        </p:nvSpPr>
        <p:spPr>
          <a:xfrm>
            <a:off x="502920" y="621792"/>
            <a:ext cx="10972800" cy="566928"/>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Business Recommendations</a:t>
            </a:r>
            <a:endParaRPr lang="en-US" sz="2800" dirty="0"/>
          </a:p>
        </p:txBody>
      </p:sp>
      <p:sp>
        <p:nvSpPr>
          <p:cNvPr id="4" name="Shape 2"/>
          <p:cNvSpPr/>
          <p:nvPr/>
        </p:nvSpPr>
        <p:spPr>
          <a:xfrm>
            <a:off x="502920" y="1600200"/>
            <a:ext cx="2121408" cy="4206240"/>
          </a:xfrm>
          <a:prstGeom prst="roundRect">
            <a:avLst>
              <a:gd name="adj" fmla="val 3879"/>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5" name="Shape 3"/>
          <p:cNvSpPr/>
          <p:nvPr/>
        </p:nvSpPr>
        <p:spPr>
          <a:xfrm>
            <a:off x="1252728" y="1920240"/>
            <a:ext cx="621792" cy="621792"/>
          </a:xfrm>
          <a:prstGeom prst="ellipse">
            <a:avLst/>
          </a:prstGeom>
          <a:solidFill>
            <a:srgbClr val="1F4E79"/>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414394" y="2081906"/>
            <a:ext cx="298460" cy="298460"/>
          </a:xfrm>
          <a:prstGeom prst="rect">
            <a:avLst/>
          </a:prstGeom>
        </p:spPr>
      </p:pic>
      <p:sp>
        <p:nvSpPr>
          <p:cNvPr id="7" name="Text 4"/>
          <p:cNvSpPr/>
          <p:nvPr/>
        </p:nvSpPr>
        <p:spPr>
          <a:xfrm>
            <a:off x="612648" y="1737360"/>
            <a:ext cx="548640" cy="274320"/>
          </a:xfrm>
          <a:prstGeom prst="rect">
            <a:avLst/>
          </a:prstGeom>
          <a:noFill/>
          <a:ln/>
        </p:spPr>
        <p:txBody>
          <a:bodyPr wrap="square" rtlCol="0" anchor="ctr"/>
          <a:lstStyle/>
          <a:p>
            <a:pPr marL="0" indent="0">
              <a:buNone/>
            </a:pPr>
            <a:r>
              <a:rPr lang="en-US" sz="1100" b="1" dirty="0">
                <a:solidFill>
                  <a:srgbClr val="DDE1E8"/>
                </a:solidFill>
                <a:latin typeface="Calibri" pitchFamily="34" charset="0"/>
                <a:ea typeface="Calibri" pitchFamily="34" charset="-122"/>
                <a:cs typeface="Calibri" pitchFamily="34" charset="-120"/>
              </a:rPr>
              <a:t>01</a:t>
            </a:r>
            <a:endParaRPr lang="en-US" sz="1100" dirty="0"/>
          </a:p>
        </p:txBody>
      </p:sp>
      <p:sp>
        <p:nvSpPr>
          <p:cNvPr id="8" name="Text 5"/>
          <p:cNvSpPr/>
          <p:nvPr/>
        </p:nvSpPr>
        <p:spPr>
          <a:xfrm>
            <a:off x="649224" y="2697480"/>
            <a:ext cx="1828800" cy="594360"/>
          </a:xfrm>
          <a:prstGeom prst="rect">
            <a:avLst/>
          </a:prstGeom>
          <a:noFill/>
          <a:ln/>
        </p:spPr>
        <p:txBody>
          <a:bodyPr wrap="square" rtlCol="0" anchor="ctr"/>
          <a:lstStyle/>
          <a:p>
            <a:pPr marL="0" indent="0" algn="ctr">
              <a:lnSpc>
                <a:spcPct val="105000"/>
              </a:lnSpc>
              <a:buNone/>
            </a:pPr>
            <a:r>
              <a:rPr lang="en-US" sz="1300" b="1" dirty="0">
                <a:solidFill>
                  <a:srgbClr val="1F2937"/>
                </a:solidFill>
                <a:latin typeface="Calibri" pitchFamily="34" charset="0"/>
                <a:ea typeface="Calibri" pitchFamily="34" charset="-122"/>
                <a:cs typeface="Calibri" pitchFamily="34" charset="-120"/>
              </a:rPr>
              <a:t>Customer Engagement</a:t>
            </a:r>
            <a:endParaRPr lang="en-US" sz="1300" dirty="0"/>
          </a:p>
        </p:txBody>
      </p:sp>
      <p:sp>
        <p:nvSpPr>
          <p:cNvPr id="9" name="Text 6"/>
          <p:cNvSpPr/>
          <p:nvPr/>
        </p:nvSpPr>
        <p:spPr>
          <a:xfrm>
            <a:off x="685800" y="3383280"/>
            <a:ext cx="1755648" cy="2286000"/>
          </a:xfrm>
          <a:prstGeom prst="rect">
            <a:avLst/>
          </a:prstGeom>
          <a:noFill/>
          <a:ln/>
        </p:spPr>
        <p:txBody>
          <a:bodyPr wrap="square" rtlCol="0" anchor="ctr"/>
          <a:lstStyle/>
          <a:p>
            <a:pPr marL="0" indent="0" algn="ctr">
              <a:lnSpc>
                <a:spcPct val="130000"/>
              </a:lnSpc>
              <a:buNone/>
            </a:pPr>
            <a:r>
              <a:rPr lang="en-US" sz="970" dirty="0">
                <a:solidFill>
                  <a:srgbClr val="48505C"/>
                </a:solidFill>
                <a:latin typeface="Calibri" pitchFamily="34" charset="0"/>
                <a:ea typeface="Calibri" pitchFamily="34" charset="-122"/>
                <a:cs typeface="Calibri" pitchFamily="34" charset="-120"/>
              </a:rPr>
              <a:t>Prioritize loyalty programs for female customers and the 50+age segments; build targeted campaigns to grow Teen engagement.</a:t>
            </a:r>
            <a:endParaRPr lang="en-US" sz="970" dirty="0"/>
          </a:p>
        </p:txBody>
      </p:sp>
      <p:sp>
        <p:nvSpPr>
          <p:cNvPr id="10" name="Shape 7"/>
          <p:cNvSpPr/>
          <p:nvPr/>
        </p:nvSpPr>
        <p:spPr>
          <a:xfrm>
            <a:off x="2756916" y="1600200"/>
            <a:ext cx="2121408" cy="4206240"/>
          </a:xfrm>
          <a:prstGeom prst="roundRect">
            <a:avLst>
              <a:gd name="adj" fmla="val 3879"/>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1" name="Shape 8"/>
          <p:cNvSpPr/>
          <p:nvPr/>
        </p:nvSpPr>
        <p:spPr>
          <a:xfrm>
            <a:off x="3506724" y="1920240"/>
            <a:ext cx="621792" cy="621792"/>
          </a:xfrm>
          <a:prstGeom prst="ellipse">
            <a:avLst/>
          </a:prstGeom>
          <a:solidFill>
            <a:srgbClr val="6A1B9A"/>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3668390" y="2081906"/>
            <a:ext cx="298460" cy="298460"/>
          </a:xfrm>
          <a:prstGeom prst="rect">
            <a:avLst/>
          </a:prstGeom>
        </p:spPr>
      </p:pic>
      <p:sp>
        <p:nvSpPr>
          <p:cNvPr id="13" name="Text 9"/>
          <p:cNvSpPr/>
          <p:nvPr/>
        </p:nvSpPr>
        <p:spPr>
          <a:xfrm>
            <a:off x="2866644" y="1737360"/>
            <a:ext cx="548640" cy="274320"/>
          </a:xfrm>
          <a:prstGeom prst="rect">
            <a:avLst/>
          </a:prstGeom>
          <a:noFill/>
          <a:ln/>
        </p:spPr>
        <p:txBody>
          <a:bodyPr wrap="square" rtlCol="0" anchor="ctr"/>
          <a:lstStyle/>
          <a:p>
            <a:pPr marL="0" indent="0">
              <a:buNone/>
            </a:pPr>
            <a:r>
              <a:rPr lang="en-US" sz="1100" b="1" dirty="0">
                <a:solidFill>
                  <a:srgbClr val="DDE1E8"/>
                </a:solidFill>
                <a:latin typeface="Calibri" pitchFamily="34" charset="0"/>
                <a:ea typeface="Calibri" pitchFamily="34" charset="-122"/>
                <a:cs typeface="Calibri" pitchFamily="34" charset="-120"/>
              </a:rPr>
              <a:t>02</a:t>
            </a:r>
            <a:endParaRPr lang="en-US" sz="1100" dirty="0"/>
          </a:p>
        </p:txBody>
      </p:sp>
      <p:sp>
        <p:nvSpPr>
          <p:cNvPr id="14" name="Text 10"/>
          <p:cNvSpPr/>
          <p:nvPr/>
        </p:nvSpPr>
        <p:spPr>
          <a:xfrm>
            <a:off x="2903220" y="2697480"/>
            <a:ext cx="1828800" cy="594360"/>
          </a:xfrm>
          <a:prstGeom prst="rect">
            <a:avLst/>
          </a:prstGeom>
          <a:noFill/>
          <a:ln/>
        </p:spPr>
        <p:txBody>
          <a:bodyPr wrap="square" rtlCol="0" anchor="ctr"/>
          <a:lstStyle/>
          <a:p>
            <a:pPr marL="0" indent="0" algn="ctr">
              <a:lnSpc>
                <a:spcPct val="105000"/>
              </a:lnSpc>
              <a:buNone/>
            </a:pPr>
            <a:r>
              <a:rPr lang="en-US" sz="1300" b="1" dirty="0">
                <a:solidFill>
                  <a:srgbClr val="1F2937"/>
                </a:solidFill>
                <a:latin typeface="Calibri" pitchFamily="34" charset="0"/>
                <a:ea typeface="Calibri" pitchFamily="34" charset="-122"/>
                <a:cs typeface="Calibri" pitchFamily="34" charset="-120"/>
              </a:rPr>
              <a:t>Product Sales</a:t>
            </a:r>
            <a:endParaRPr lang="en-US" sz="1300" dirty="0"/>
          </a:p>
        </p:txBody>
      </p:sp>
      <p:sp>
        <p:nvSpPr>
          <p:cNvPr id="15" name="Text 11"/>
          <p:cNvSpPr/>
          <p:nvPr/>
        </p:nvSpPr>
        <p:spPr>
          <a:xfrm>
            <a:off x="2939796" y="3383280"/>
            <a:ext cx="1755648" cy="2286000"/>
          </a:xfrm>
          <a:prstGeom prst="rect">
            <a:avLst/>
          </a:prstGeom>
          <a:noFill/>
          <a:ln/>
        </p:spPr>
        <p:txBody>
          <a:bodyPr wrap="square" rtlCol="0" anchor="ctr"/>
          <a:lstStyle/>
          <a:p>
            <a:pPr marL="0" indent="0" algn="ctr">
              <a:lnSpc>
                <a:spcPct val="130000"/>
              </a:lnSpc>
              <a:buNone/>
            </a:pPr>
            <a:r>
              <a:rPr lang="en-US" sz="970" dirty="0">
                <a:solidFill>
                  <a:srgbClr val="48505C"/>
                </a:solidFill>
                <a:latin typeface="Calibri" pitchFamily="34" charset="0"/>
                <a:ea typeface="Calibri" pitchFamily="34" charset="-122"/>
                <a:cs typeface="Calibri" pitchFamily="34" charset="-120"/>
              </a:rPr>
              <a:t>Prioritize inventory for Clothing, Shoes &amp; Technology; increase promotional campaigns for lower-performing categories like Books &amp; Toys.</a:t>
            </a:r>
            <a:endParaRPr lang="en-US" sz="970" dirty="0"/>
          </a:p>
        </p:txBody>
      </p:sp>
      <p:sp>
        <p:nvSpPr>
          <p:cNvPr id="16" name="Shape 12"/>
          <p:cNvSpPr/>
          <p:nvPr/>
        </p:nvSpPr>
        <p:spPr>
          <a:xfrm>
            <a:off x="5010912" y="1600200"/>
            <a:ext cx="2121408" cy="4206240"/>
          </a:xfrm>
          <a:prstGeom prst="roundRect">
            <a:avLst>
              <a:gd name="adj" fmla="val 3879"/>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17" name="Shape 13"/>
          <p:cNvSpPr/>
          <p:nvPr/>
        </p:nvSpPr>
        <p:spPr>
          <a:xfrm>
            <a:off x="5760720" y="1920240"/>
            <a:ext cx="621792" cy="621792"/>
          </a:xfrm>
          <a:prstGeom prst="ellipse">
            <a:avLst/>
          </a:prstGeom>
          <a:solidFill>
            <a:srgbClr val="2E6DA4"/>
          </a:solidFill>
          <a:ln/>
        </p:spPr>
        <p:txBody>
          <a:bodyPr/>
          <a:lstStyle/>
          <a:p>
            <a:endParaRPr lang="en-IN"/>
          </a:p>
        </p:txBody>
      </p:sp>
      <p:pic>
        <p:nvPicPr>
          <p:cNvPr id="18" name="Image 2" descr="preencoded.png"/>
          <p:cNvPicPr>
            <a:picLocks noChangeAspect="1"/>
          </p:cNvPicPr>
          <p:nvPr/>
        </p:nvPicPr>
        <p:blipFill>
          <a:blip r:embed="rId5"/>
          <a:stretch>
            <a:fillRect/>
          </a:stretch>
        </p:blipFill>
        <p:spPr>
          <a:xfrm>
            <a:off x="5922386" y="2081906"/>
            <a:ext cx="298460" cy="298460"/>
          </a:xfrm>
          <a:prstGeom prst="rect">
            <a:avLst/>
          </a:prstGeom>
        </p:spPr>
      </p:pic>
      <p:sp>
        <p:nvSpPr>
          <p:cNvPr id="19" name="Text 14"/>
          <p:cNvSpPr/>
          <p:nvPr/>
        </p:nvSpPr>
        <p:spPr>
          <a:xfrm>
            <a:off x="5120640" y="1737360"/>
            <a:ext cx="548640" cy="274320"/>
          </a:xfrm>
          <a:prstGeom prst="rect">
            <a:avLst/>
          </a:prstGeom>
          <a:noFill/>
          <a:ln/>
        </p:spPr>
        <p:txBody>
          <a:bodyPr wrap="square" rtlCol="0" anchor="ctr"/>
          <a:lstStyle/>
          <a:p>
            <a:pPr marL="0" indent="0">
              <a:buNone/>
            </a:pPr>
            <a:r>
              <a:rPr lang="en-US" sz="1100" b="1" dirty="0">
                <a:solidFill>
                  <a:srgbClr val="DDE1E8"/>
                </a:solidFill>
                <a:latin typeface="Calibri" pitchFamily="34" charset="0"/>
                <a:ea typeface="Calibri" pitchFamily="34" charset="-122"/>
                <a:cs typeface="Calibri" pitchFamily="34" charset="-120"/>
              </a:rPr>
              <a:t>03</a:t>
            </a:r>
            <a:endParaRPr lang="en-US" sz="1100" dirty="0"/>
          </a:p>
        </p:txBody>
      </p:sp>
      <p:sp>
        <p:nvSpPr>
          <p:cNvPr id="20" name="Text 15"/>
          <p:cNvSpPr/>
          <p:nvPr/>
        </p:nvSpPr>
        <p:spPr>
          <a:xfrm>
            <a:off x="5157216" y="2697480"/>
            <a:ext cx="1828800" cy="594360"/>
          </a:xfrm>
          <a:prstGeom prst="rect">
            <a:avLst/>
          </a:prstGeom>
          <a:noFill/>
          <a:ln/>
        </p:spPr>
        <p:txBody>
          <a:bodyPr wrap="square" rtlCol="0" anchor="ctr"/>
          <a:lstStyle/>
          <a:p>
            <a:pPr marL="0" indent="0" algn="ctr">
              <a:lnSpc>
                <a:spcPct val="105000"/>
              </a:lnSpc>
              <a:buNone/>
            </a:pPr>
            <a:r>
              <a:rPr lang="en-US" sz="1300" b="1" dirty="0">
                <a:solidFill>
                  <a:srgbClr val="1F2937"/>
                </a:solidFill>
                <a:latin typeface="Calibri" pitchFamily="34" charset="0"/>
                <a:ea typeface="Calibri" pitchFamily="34" charset="-122"/>
                <a:cs typeface="Calibri" pitchFamily="34" charset="-120"/>
              </a:rPr>
              <a:t>Marketing Strategy</a:t>
            </a:r>
            <a:endParaRPr lang="en-US" sz="1300" dirty="0"/>
          </a:p>
        </p:txBody>
      </p:sp>
      <p:sp>
        <p:nvSpPr>
          <p:cNvPr id="21" name="Text 16"/>
          <p:cNvSpPr/>
          <p:nvPr/>
        </p:nvSpPr>
        <p:spPr>
          <a:xfrm>
            <a:off x="5193792" y="3383280"/>
            <a:ext cx="1755648" cy="2286000"/>
          </a:xfrm>
          <a:prstGeom prst="rect">
            <a:avLst/>
          </a:prstGeom>
          <a:noFill/>
          <a:ln/>
        </p:spPr>
        <p:txBody>
          <a:bodyPr wrap="square" rtlCol="0" anchor="ctr"/>
          <a:lstStyle/>
          <a:p>
            <a:pPr marL="0" indent="0" algn="ctr">
              <a:lnSpc>
                <a:spcPct val="130000"/>
              </a:lnSpc>
              <a:buNone/>
            </a:pPr>
            <a:r>
              <a:rPr lang="en-US" sz="970" dirty="0">
                <a:solidFill>
                  <a:srgbClr val="48505C"/>
                </a:solidFill>
                <a:latin typeface="Calibri" pitchFamily="34" charset="0"/>
                <a:ea typeface="Calibri" pitchFamily="34" charset="-122"/>
                <a:cs typeface="Calibri" pitchFamily="34" charset="-120"/>
              </a:rPr>
              <a:t>Focus investment on female customers and the 50+ segment; run category-specific campaigns around Clothing.</a:t>
            </a:r>
            <a:endParaRPr lang="en-US" sz="970" dirty="0"/>
          </a:p>
        </p:txBody>
      </p:sp>
      <p:sp>
        <p:nvSpPr>
          <p:cNvPr id="22" name="Shape 17"/>
          <p:cNvSpPr/>
          <p:nvPr/>
        </p:nvSpPr>
        <p:spPr>
          <a:xfrm>
            <a:off x="7264908" y="1600200"/>
            <a:ext cx="2121408" cy="4206240"/>
          </a:xfrm>
          <a:prstGeom prst="roundRect">
            <a:avLst>
              <a:gd name="adj" fmla="val 3879"/>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3" name="Shape 18"/>
          <p:cNvSpPr/>
          <p:nvPr/>
        </p:nvSpPr>
        <p:spPr>
          <a:xfrm>
            <a:off x="8014716" y="1920240"/>
            <a:ext cx="621792" cy="621792"/>
          </a:xfrm>
          <a:prstGeom prst="ellipse">
            <a:avLst/>
          </a:prstGeom>
          <a:solidFill>
            <a:srgbClr val="8E44AD"/>
          </a:solidFill>
          <a:ln/>
        </p:spPr>
        <p:txBody>
          <a:bodyPr/>
          <a:lstStyle/>
          <a:p>
            <a:endParaRPr lang="en-IN"/>
          </a:p>
        </p:txBody>
      </p:sp>
      <p:pic>
        <p:nvPicPr>
          <p:cNvPr id="24" name="Image 3" descr="preencoded.png"/>
          <p:cNvPicPr>
            <a:picLocks noChangeAspect="1"/>
          </p:cNvPicPr>
          <p:nvPr/>
        </p:nvPicPr>
        <p:blipFill>
          <a:blip r:embed="rId6"/>
          <a:stretch>
            <a:fillRect/>
          </a:stretch>
        </p:blipFill>
        <p:spPr>
          <a:xfrm>
            <a:off x="8176382" y="2081906"/>
            <a:ext cx="298460" cy="298460"/>
          </a:xfrm>
          <a:prstGeom prst="rect">
            <a:avLst/>
          </a:prstGeom>
        </p:spPr>
      </p:pic>
      <p:sp>
        <p:nvSpPr>
          <p:cNvPr id="25" name="Text 19"/>
          <p:cNvSpPr/>
          <p:nvPr/>
        </p:nvSpPr>
        <p:spPr>
          <a:xfrm>
            <a:off x="7374636" y="1737360"/>
            <a:ext cx="548640" cy="274320"/>
          </a:xfrm>
          <a:prstGeom prst="rect">
            <a:avLst/>
          </a:prstGeom>
          <a:noFill/>
          <a:ln/>
        </p:spPr>
        <p:txBody>
          <a:bodyPr wrap="square" rtlCol="0" anchor="ctr"/>
          <a:lstStyle/>
          <a:p>
            <a:pPr marL="0" indent="0">
              <a:buNone/>
            </a:pPr>
            <a:r>
              <a:rPr lang="en-US" sz="1100" b="1" dirty="0">
                <a:solidFill>
                  <a:srgbClr val="DDE1E8"/>
                </a:solidFill>
                <a:latin typeface="Calibri" pitchFamily="34" charset="0"/>
                <a:ea typeface="Calibri" pitchFamily="34" charset="-122"/>
                <a:cs typeface="Calibri" pitchFamily="34" charset="-120"/>
              </a:rPr>
              <a:t>04</a:t>
            </a:r>
            <a:endParaRPr lang="en-US" sz="1100" dirty="0"/>
          </a:p>
        </p:txBody>
      </p:sp>
      <p:sp>
        <p:nvSpPr>
          <p:cNvPr id="26" name="Text 20"/>
          <p:cNvSpPr/>
          <p:nvPr/>
        </p:nvSpPr>
        <p:spPr>
          <a:xfrm>
            <a:off x="7411212" y="2697480"/>
            <a:ext cx="1828800" cy="594360"/>
          </a:xfrm>
          <a:prstGeom prst="rect">
            <a:avLst/>
          </a:prstGeom>
          <a:noFill/>
          <a:ln/>
        </p:spPr>
        <p:txBody>
          <a:bodyPr wrap="square" rtlCol="0" anchor="ctr"/>
          <a:lstStyle/>
          <a:p>
            <a:pPr marL="0" indent="0" algn="ctr">
              <a:lnSpc>
                <a:spcPct val="105000"/>
              </a:lnSpc>
              <a:buNone/>
            </a:pPr>
            <a:r>
              <a:rPr lang="en-US" sz="1300" b="1" dirty="0">
                <a:solidFill>
                  <a:srgbClr val="1F2937"/>
                </a:solidFill>
                <a:latin typeface="Calibri" pitchFamily="34" charset="0"/>
                <a:ea typeface="Calibri" pitchFamily="34" charset="-122"/>
                <a:cs typeface="Calibri" pitchFamily="34" charset="-120"/>
              </a:rPr>
              <a:t>Mall Performance</a:t>
            </a:r>
            <a:endParaRPr lang="en-US" sz="1300" dirty="0"/>
          </a:p>
        </p:txBody>
      </p:sp>
      <p:sp>
        <p:nvSpPr>
          <p:cNvPr id="27" name="Text 21"/>
          <p:cNvSpPr/>
          <p:nvPr/>
        </p:nvSpPr>
        <p:spPr>
          <a:xfrm>
            <a:off x="7447788" y="3383280"/>
            <a:ext cx="1755648" cy="2286000"/>
          </a:xfrm>
          <a:prstGeom prst="rect">
            <a:avLst/>
          </a:prstGeom>
          <a:noFill/>
          <a:ln/>
        </p:spPr>
        <p:txBody>
          <a:bodyPr wrap="square" rtlCol="0" anchor="ctr"/>
          <a:lstStyle/>
          <a:p>
            <a:pPr algn="ctr">
              <a:lnSpc>
                <a:spcPct val="130000"/>
              </a:lnSpc>
            </a:pPr>
            <a:r>
              <a:rPr lang="en-IN" sz="1000" dirty="0">
                <a:solidFill>
                  <a:schemeClr val="tx1">
                    <a:lumMod val="65000"/>
                    <a:lumOff val="35000"/>
                  </a:schemeClr>
                </a:solidFill>
              </a:rPr>
              <a:t>adopt best practices from Mall of Istanbul, Kanyon, and Metrocity at lower-performing locations.</a:t>
            </a:r>
            <a:endParaRPr lang="en-US" sz="970" dirty="0">
              <a:solidFill>
                <a:schemeClr val="tx1">
                  <a:lumMod val="65000"/>
                  <a:lumOff val="35000"/>
                </a:schemeClr>
              </a:solidFill>
            </a:endParaRPr>
          </a:p>
        </p:txBody>
      </p:sp>
      <p:sp>
        <p:nvSpPr>
          <p:cNvPr id="28" name="Shape 22"/>
          <p:cNvSpPr/>
          <p:nvPr/>
        </p:nvSpPr>
        <p:spPr>
          <a:xfrm>
            <a:off x="9518904" y="1600200"/>
            <a:ext cx="2121408" cy="4206240"/>
          </a:xfrm>
          <a:prstGeom prst="roundRect">
            <a:avLst>
              <a:gd name="adj" fmla="val 3879"/>
            </a:avLst>
          </a:prstGeom>
          <a:solidFill>
            <a:srgbClr val="F5F6F8"/>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29" name="Shape 23"/>
          <p:cNvSpPr/>
          <p:nvPr/>
        </p:nvSpPr>
        <p:spPr>
          <a:xfrm>
            <a:off x="10268712" y="1920240"/>
            <a:ext cx="621792" cy="621792"/>
          </a:xfrm>
          <a:prstGeom prst="ellipse">
            <a:avLst/>
          </a:prstGeom>
          <a:solidFill>
            <a:srgbClr val="C9A227"/>
          </a:solidFill>
          <a:ln/>
        </p:spPr>
        <p:txBody>
          <a:bodyPr/>
          <a:lstStyle/>
          <a:p>
            <a:endParaRPr lang="en-IN"/>
          </a:p>
        </p:txBody>
      </p:sp>
      <p:pic>
        <p:nvPicPr>
          <p:cNvPr id="30" name="Image 4" descr="preencoded.png"/>
          <p:cNvPicPr>
            <a:picLocks noChangeAspect="1"/>
          </p:cNvPicPr>
          <p:nvPr/>
        </p:nvPicPr>
        <p:blipFill>
          <a:blip r:embed="rId7"/>
          <a:stretch>
            <a:fillRect/>
          </a:stretch>
        </p:blipFill>
        <p:spPr>
          <a:xfrm>
            <a:off x="10430378" y="2081906"/>
            <a:ext cx="298460" cy="298460"/>
          </a:xfrm>
          <a:prstGeom prst="rect">
            <a:avLst/>
          </a:prstGeom>
        </p:spPr>
      </p:pic>
      <p:sp>
        <p:nvSpPr>
          <p:cNvPr id="31" name="Text 24"/>
          <p:cNvSpPr/>
          <p:nvPr/>
        </p:nvSpPr>
        <p:spPr>
          <a:xfrm>
            <a:off x="9628632" y="1737360"/>
            <a:ext cx="548640" cy="274320"/>
          </a:xfrm>
          <a:prstGeom prst="rect">
            <a:avLst/>
          </a:prstGeom>
          <a:noFill/>
          <a:ln/>
        </p:spPr>
        <p:txBody>
          <a:bodyPr wrap="square" rtlCol="0" anchor="ctr"/>
          <a:lstStyle/>
          <a:p>
            <a:pPr marL="0" indent="0">
              <a:buNone/>
            </a:pPr>
            <a:r>
              <a:rPr lang="en-US" sz="1100" b="1" dirty="0">
                <a:solidFill>
                  <a:srgbClr val="DDE1E8"/>
                </a:solidFill>
                <a:latin typeface="Calibri" pitchFamily="34" charset="0"/>
                <a:ea typeface="Calibri" pitchFamily="34" charset="-122"/>
                <a:cs typeface="Calibri" pitchFamily="34" charset="-120"/>
              </a:rPr>
              <a:t>05</a:t>
            </a:r>
            <a:endParaRPr lang="en-US" sz="1100" dirty="0"/>
          </a:p>
        </p:txBody>
      </p:sp>
      <p:sp>
        <p:nvSpPr>
          <p:cNvPr id="32" name="Text 25"/>
          <p:cNvSpPr/>
          <p:nvPr/>
        </p:nvSpPr>
        <p:spPr>
          <a:xfrm>
            <a:off x="9665208" y="2697480"/>
            <a:ext cx="1828800" cy="594360"/>
          </a:xfrm>
          <a:prstGeom prst="rect">
            <a:avLst/>
          </a:prstGeom>
          <a:noFill/>
          <a:ln/>
        </p:spPr>
        <p:txBody>
          <a:bodyPr wrap="square" rtlCol="0" anchor="ctr"/>
          <a:lstStyle/>
          <a:p>
            <a:pPr marL="0" indent="0" algn="ctr">
              <a:lnSpc>
                <a:spcPct val="105000"/>
              </a:lnSpc>
              <a:buNone/>
            </a:pPr>
            <a:r>
              <a:rPr lang="en-US" sz="1300" b="1" dirty="0">
                <a:solidFill>
                  <a:srgbClr val="1F2937"/>
                </a:solidFill>
                <a:latin typeface="Calibri" pitchFamily="34" charset="0"/>
                <a:ea typeface="Calibri" pitchFamily="34" charset="-122"/>
                <a:cs typeface="Calibri" pitchFamily="34" charset="-120"/>
              </a:rPr>
              <a:t>Payment Experience</a:t>
            </a:r>
            <a:endParaRPr lang="en-US" sz="1300" dirty="0"/>
          </a:p>
        </p:txBody>
      </p:sp>
      <p:sp>
        <p:nvSpPr>
          <p:cNvPr id="33" name="Text 26"/>
          <p:cNvSpPr/>
          <p:nvPr/>
        </p:nvSpPr>
        <p:spPr>
          <a:xfrm>
            <a:off x="9701784" y="3383280"/>
            <a:ext cx="1755648" cy="2286000"/>
          </a:xfrm>
          <a:prstGeom prst="rect">
            <a:avLst/>
          </a:prstGeom>
          <a:noFill/>
          <a:ln/>
        </p:spPr>
        <p:txBody>
          <a:bodyPr wrap="square" rtlCol="0" anchor="ctr"/>
          <a:lstStyle/>
          <a:p>
            <a:pPr marL="0" indent="0" algn="ctr">
              <a:lnSpc>
                <a:spcPct val="130000"/>
              </a:lnSpc>
              <a:buNone/>
            </a:pPr>
            <a:r>
              <a:rPr lang="en-US" sz="970" dirty="0">
                <a:solidFill>
                  <a:srgbClr val="48505C"/>
                </a:solidFill>
                <a:latin typeface="Calibri" pitchFamily="34" charset="0"/>
                <a:ea typeface="Calibri" pitchFamily="34" charset="-122"/>
                <a:cs typeface="Calibri" pitchFamily="34" charset="-120"/>
              </a:rPr>
              <a:t>Maintain efficient cash handling while incentivizing digital payment adoption via cashback &amp; rewards.</a:t>
            </a:r>
            <a:endParaRPr lang="en-US" sz="970" dirty="0"/>
          </a:p>
        </p:txBody>
      </p:sp>
      <p:sp>
        <p:nvSpPr>
          <p:cNvPr id="34" name="Text 27"/>
          <p:cNvSpPr/>
          <p:nvPr/>
        </p:nvSpPr>
        <p:spPr>
          <a:xfrm>
            <a:off x="502920" y="6547104"/>
            <a:ext cx="6400800" cy="256032"/>
          </a:xfrm>
          <a:prstGeom prst="rect">
            <a:avLst/>
          </a:prstGeom>
          <a:noFill/>
          <a:ln/>
        </p:spPr>
        <p:txBody>
          <a:bodyPr wrap="square" rtlCol="0" anchor="ctr"/>
          <a:lstStyle/>
          <a:p>
            <a:pPr marL="0" indent="0">
              <a:buNone/>
            </a:pPr>
            <a:r>
              <a:rPr lang="en-US" sz="800" kern="0" spc="100" dirty="0">
                <a:solidFill>
                  <a:srgbClr val="8A93A3"/>
                </a:solidFill>
                <a:latin typeface="Calibri" pitchFamily="34" charset="0"/>
                <a:ea typeface="Calibri" pitchFamily="34" charset="-122"/>
                <a:cs typeface="Calibri" pitchFamily="34" charset="-120"/>
              </a:rPr>
              <a:t>CUSTOMER DATA ANALYSIS  |  SQL &amp; POWER BI</a:t>
            </a:r>
            <a:endParaRPr lang="en-US" sz="800" dirty="0"/>
          </a:p>
        </p:txBody>
      </p:sp>
      <p:sp>
        <p:nvSpPr>
          <p:cNvPr id="35" name="Text 28"/>
          <p:cNvSpPr/>
          <p:nvPr/>
        </p:nvSpPr>
        <p:spPr>
          <a:xfrm>
            <a:off x="11064240" y="6547104"/>
            <a:ext cx="640080" cy="256032"/>
          </a:xfrm>
          <a:prstGeom prst="rect">
            <a:avLst/>
          </a:prstGeom>
          <a:noFill/>
          <a:ln/>
        </p:spPr>
        <p:txBody>
          <a:bodyPr wrap="square" rtlCol="0" anchor="ctr"/>
          <a:lstStyle/>
          <a:p>
            <a:pPr marL="0" indent="0" algn="r">
              <a:buNone/>
            </a:pPr>
            <a:r>
              <a:rPr lang="en-US" sz="800" dirty="0">
                <a:solidFill>
                  <a:srgbClr val="8A93A3"/>
                </a:solidFill>
                <a:latin typeface="Calibri" pitchFamily="34" charset="0"/>
                <a:ea typeface="Calibri" pitchFamily="34" charset="-122"/>
                <a:cs typeface="Calibri" pitchFamily="34" charset="-120"/>
              </a:rPr>
              <a:t>13 / 15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a:effectLst/>
      </p:bgPr>
    </p:bg>
    <p:spTree>
      <p:nvGrpSpPr>
        <p:cNvPr id="1" name=""/>
        <p:cNvGrpSpPr/>
        <p:nvPr/>
      </p:nvGrpSpPr>
      <p:grpSpPr>
        <a:xfrm>
          <a:off x="0" y="0"/>
          <a:ext cx="0" cy="0"/>
          <a:chOff x="0" y="0"/>
          <a:chExt cx="0" cy="0"/>
        </a:xfrm>
      </p:grpSpPr>
      <p:sp>
        <p:nvSpPr>
          <p:cNvPr id="2" name="Text 0"/>
          <p:cNvSpPr/>
          <p:nvPr/>
        </p:nvSpPr>
        <p:spPr>
          <a:xfrm>
            <a:off x="502920" y="384048"/>
            <a:ext cx="9144000" cy="256032"/>
          </a:xfrm>
          <a:prstGeom prst="rect">
            <a:avLst/>
          </a:prstGeom>
          <a:noFill/>
          <a:ln/>
        </p:spPr>
        <p:txBody>
          <a:bodyPr wrap="square"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SECTION 13</a:t>
            </a:r>
            <a:endParaRPr lang="en-US" sz="1100" dirty="0"/>
          </a:p>
        </p:txBody>
      </p:sp>
      <p:sp>
        <p:nvSpPr>
          <p:cNvPr id="3" name="Text 1"/>
          <p:cNvSpPr/>
          <p:nvPr/>
        </p:nvSpPr>
        <p:spPr>
          <a:xfrm>
            <a:off x="502920" y="621792"/>
            <a:ext cx="10972800" cy="566928"/>
          </a:xfrm>
          <a:prstGeom prst="rect">
            <a:avLst/>
          </a:prstGeom>
          <a:noFill/>
          <a:ln/>
        </p:spPr>
        <p:txBody>
          <a:bodyPr wrap="square" rtlCol="0" anchor="ctr"/>
          <a:lstStyle/>
          <a:p>
            <a:pPr marL="0" indent="0">
              <a:buNone/>
            </a:pPr>
            <a:r>
              <a:rPr lang="en-US" sz="2800" b="1" dirty="0">
                <a:solidFill>
                  <a:srgbClr val="1F4E79"/>
                </a:solidFill>
                <a:latin typeface="Calibri" pitchFamily="34" charset="0"/>
                <a:ea typeface="Calibri" pitchFamily="34" charset="-122"/>
                <a:cs typeface="Calibri" pitchFamily="34" charset="-120"/>
              </a:rPr>
              <a:t>Conclusion &amp; Future Scope</a:t>
            </a:r>
            <a:endParaRPr lang="en-US" sz="2800" dirty="0"/>
          </a:p>
        </p:txBody>
      </p:sp>
      <p:sp>
        <p:nvSpPr>
          <p:cNvPr id="4" name="Shape 2"/>
          <p:cNvSpPr/>
          <p:nvPr/>
        </p:nvSpPr>
        <p:spPr>
          <a:xfrm>
            <a:off x="502920" y="1463040"/>
            <a:ext cx="5394960" cy="4937760"/>
          </a:xfrm>
          <a:prstGeom prst="roundRect">
            <a:avLst>
              <a:gd name="adj" fmla="val 1667"/>
            </a:avLst>
          </a:prstGeom>
          <a:solidFill>
            <a:srgbClr val="1F4E79"/>
          </a:solidFill>
          <a:ln w="12700">
            <a:solidFill>
              <a:srgbClr val="DDE1E8"/>
            </a:solidFill>
            <a:prstDash val="solid"/>
          </a:ln>
          <a:effectLst>
            <a:outerShdw blurRad="101600" dist="38100" dir="5400000" algn="bl" rotWithShape="0">
              <a:srgbClr val="1F2937">
                <a:alpha val="18000"/>
              </a:srgbClr>
            </a:outerShdw>
          </a:effectLst>
        </p:spPr>
        <p:txBody>
          <a:bodyPr/>
          <a:lstStyle/>
          <a:p>
            <a:endParaRPr lang="en-IN"/>
          </a:p>
        </p:txBody>
      </p:sp>
      <p:sp>
        <p:nvSpPr>
          <p:cNvPr id="5" name="Shape 3"/>
          <p:cNvSpPr/>
          <p:nvPr/>
        </p:nvSpPr>
        <p:spPr>
          <a:xfrm>
            <a:off x="777240" y="1737360"/>
            <a:ext cx="594360" cy="594360"/>
          </a:xfrm>
          <a:prstGeom prst="ellipse">
            <a:avLst/>
          </a:prstGeom>
          <a:solidFill>
            <a:srgbClr val="C9A227"/>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931774" y="1891894"/>
            <a:ext cx="285293" cy="285293"/>
          </a:xfrm>
          <a:prstGeom prst="rect">
            <a:avLst/>
          </a:prstGeom>
        </p:spPr>
      </p:pic>
      <p:sp>
        <p:nvSpPr>
          <p:cNvPr id="7" name="Text 4"/>
          <p:cNvSpPr/>
          <p:nvPr/>
        </p:nvSpPr>
        <p:spPr>
          <a:xfrm>
            <a:off x="1508760" y="1828800"/>
            <a:ext cx="4206240" cy="41148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Business Conclusion</a:t>
            </a:r>
            <a:endParaRPr lang="en-US" sz="1700" dirty="0"/>
          </a:p>
        </p:txBody>
      </p:sp>
      <p:sp>
        <p:nvSpPr>
          <p:cNvPr id="8" name="Text 5"/>
          <p:cNvSpPr/>
          <p:nvPr/>
        </p:nvSpPr>
        <p:spPr>
          <a:xfrm>
            <a:off x="777240" y="2514600"/>
            <a:ext cx="4846320" cy="1097280"/>
          </a:xfrm>
          <a:prstGeom prst="rect">
            <a:avLst/>
          </a:prstGeom>
          <a:noFill/>
          <a:ln/>
        </p:spPr>
        <p:txBody>
          <a:bodyPr wrap="square" rtlCol="0" anchor="ctr"/>
          <a:lstStyle/>
          <a:p>
            <a:pPr marL="0" indent="0">
              <a:lnSpc>
                <a:spcPct val="135000"/>
              </a:lnSpc>
              <a:buNone/>
            </a:pPr>
            <a:r>
              <a:rPr lang="en-US" sz="1150" dirty="0">
                <a:solidFill>
                  <a:srgbClr val="E7EEF6"/>
                </a:solidFill>
                <a:latin typeface="Calibri" pitchFamily="34" charset="0"/>
                <a:ea typeface="Calibri" pitchFamily="34" charset="-122"/>
                <a:cs typeface="Calibri" pitchFamily="34" charset="-120"/>
              </a:rPr>
              <a:t>Revenue and engagement are concentrated in identifiable, addressable patterns. Female shoppers and customers aged 50+ drive a disproportionate share of transaction volume and revenue.</a:t>
            </a:r>
            <a:endParaRPr lang="en-US" sz="1150" dirty="0"/>
          </a:p>
        </p:txBody>
      </p:sp>
      <p:sp>
        <p:nvSpPr>
          <p:cNvPr id="9" name="Text 6"/>
          <p:cNvSpPr/>
          <p:nvPr/>
        </p:nvSpPr>
        <p:spPr>
          <a:xfrm>
            <a:off x="777240" y="3657600"/>
            <a:ext cx="4846320" cy="1188720"/>
          </a:xfrm>
          <a:prstGeom prst="rect">
            <a:avLst/>
          </a:prstGeom>
          <a:noFill/>
          <a:ln/>
        </p:spPr>
        <p:txBody>
          <a:bodyPr wrap="square" rtlCol="0" anchor="ctr"/>
          <a:lstStyle/>
          <a:p>
            <a:pPr>
              <a:lnSpc>
                <a:spcPct val="135000"/>
              </a:lnSpc>
            </a:pPr>
            <a:r>
              <a:rPr lang="en-IN" sz="1200" dirty="0">
                <a:solidFill>
                  <a:schemeClr val="bg1"/>
                </a:solidFill>
              </a:rPr>
              <a:t>Clothing is the leading revenue-generating category, followed by Shoes and Technology. Cash remains the dominant payment method, while Mall of Istanbul delivers the strongest overall performance across all locations.</a:t>
            </a:r>
            <a:endParaRPr lang="en-US" sz="1150" dirty="0">
              <a:solidFill>
                <a:schemeClr val="bg1"/>
              </a:solidFill>
            </a:endParaRPr>
          </a:p>
        </p:txBody>
      </p:sp>
      <p:sp>
        <p:nvSpPr>
          <p:cNvPr id="10" name="Shape 7"/>
          <p:cNvSpPr/>
          <p:nvPr/>
        </p:nvSpPr>
        <p:spPr>
          <a:xfrm>
            <a:off x="777240" y="5029200"/>
            <a:ext cx="4846320" cy="0"/>
          </a:xfrm>
          <a:prstGeom prst="line">
            <a:avLst/>
          </a:prstGeom>
          <a:noFill/>
          <a:ln w="12700">
            <a:solidFill>
              <a:srgbClr val="3E6A93"/>
            </a:solidFill>
            <a:prstDash val="solid"/>
          </a:ln>
        </p:spPr>
        <p:txBody>
          <a:bodyPr/>
          <a:lstStyle/>
          <a:p>
            <a:endParaRPr lang="en-IN"/>
          </a:p>
        </p:txBody>
      </p:sp>
      <p:sp>
        <p:nvSpPr>
          <p:cNvPr id="11" name="Text 8"/>
          <p:cNvSpPr/>
          <p:nvPr/>
        </p:nvSpPr>
        <p:spPr>
          <a:xfrm>
            <a:off x="777240" y="5166360"/>
            <a:ext cx="4846320" cy="1005840"/>
          </a:xfrm>
          <a:prstGeom prst="rect">
            <a:avLst/>
          </a:prstGeom>
          <a:noFill/>
          <a:ln/>
        </p:spPr>
        <p:txBody>
          <a:bodyPr wrap="square" rtlCol="0" anchor="ctr"/>
          <a:lstStyle/>
          <a:p>
            <a:pPr marL="0" indent="0">
              <a:lnSpc>
                <a:spcPct val="130000"/>
              </a:lnSpc>
              <a:buNone/>
            </a:pPr>
            <a:r>
              <a:rPr lang="en-US" sz="1050" i="1" dirty="0">
                <a:solidFill>
                  <a:srgbClr val="CFE0F0"/>
                </a:solidFill>
                <a:latin typeface="Calibri" pitchFamily="34" charset="0"/>
                <a:ea typeface="Calibri" pitchFamily="34" charset="-122"/>
                <a:cs typeface="Calibri" pitchFamily="34" charset="-120"/>
              </a:rPr>
              <a:t>SQL analysis and Power BI dashboards together support data-driven decisions across segmentation, product, marketing, and location strategy.</a:t>
            </a:r>
            <a:endParaRPr lang="en-US" sz="1050" dirty="0"/>
          </a:p>
        </p:txBody>
      </p:sp>
      <p:sp>
        <p:nvSpPr>
          <p:cNvPr id="12" name="Text 9"/>
          <p:cNvSpPr/>
          <p:nvPr/>
        </p:nvSpPr>
        <p:spPr>
          <a:xfrm>
            <a:off x="6172200" y="1508760"/>
            <a:ext cx="5486400" cy="274320"/>
          </a:xfrm>
          <a:prstGeom prst="rect">
            <a:avLst/>
          </a:prstGeom>
          <a:noFill/>
          <a:ln/>
        </p:spPr>
        <p:txBody>
          <a:bodyPr wrap="square" rtlCol="0" anchor="ctr"/>
          <a:lstStyle/>
          <a:p>
            <a:pPr marL="0" indent="0">
              <a:buNone/>
            </a:pPr>
            <a:r>
              <a:rPr lang="en-US" sz="1100" b="1" kern="0" spc="200" dirty="0">
                <a:solidFill>
                  <a:srgbClr val="C9A227"/>
                </a:solidFill>
                <a:latin typeface="Calibri" pitchFamily="34" charset="0"/>
                <a:ea typeface="Calibri" pitchFamily="34" charset="-122"/>
                <a:cs typeface="Calibri" pitchFamily="34" charset="-120"/>
              </a:rPr>
              <a:t>FUTURE SCOPE</a:t>
            </a:r>
            <a:endParaRPr lang="en-US" sz="1100" dirty="0"/>
          </a:p>
        </p:txBody>
      </p:sp>
      <p:sp>
        <p:nvSpPr>
          <p:cNvPr id="13" name="Shape 10"/>
          <p:cNvSpPr/>
          <p:nvPr/>
        </p:nvSpPr>
        <p:spPr>
          <a:xfrm>
            <a:off x="6172200" y="1920240"/>
            <a:ext cx="475488" cy="475488"/>
          </a:xfrm>
          <a:prstGeom prst="ellipse">
            <a:avLst/>
          </a:prstGeom>
          <a:solidFill>
            <a:srgbClr val="6A1B9A"/>
          </a:solidFill>
          <a:ln/>
        </p:spPr>
        <p:txBody>
          <a:bodyPr/>
          <a:lstStyle/>
          <a:p>
            <a:endParaRPr lang="en-IN"/>
          </a:p>
        </p:txBody>
      </p:sp>
      <p:pic>
        <p:nvPicPr>
          <p:cNvPr id="14" name="Image 1" descr="preencoded.png"/>
          <p:cNvPicPr>
            <a:picLocks noChangeAspect="1"/>
          </p:cNvPicPr>
          <p:nvPr/>
        </p:nvPicPr>
        <p:blipFill>
          <a:blip r:embed="rId4"/>
          <a:stretch>
            <a:fillRect/>
          </a:stretch>
        </p:blipFill>
        <p:spPr>
          <a:xfrm>
            <a:off x="6295827" y="2043867"/>
            <a:ext cx="228234" cy="228234"/>
          </a:xfrm>
          <a:prstGeom prst="rect">
            <a:avLst/>
          </a:prstGeom>
        </p:spPr>
      </p:pic>
      <p:sp>
        <p:nvSpPr>
          <p:cNvPr id="15" name="Text 11"/>
          <p:cNvSpPr/>
          <p:nvPr/>
        </p:nvSpPr>
        <p:spPr>
          <a:xfrm>
            <a:off x="6812280" y="1892808"/>
            <a:ext cx="4846320" cy="292608"/>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Seasonal Trend Analysis</a:t>
            </a:r>
            <a:endParaRPr lang="en-US" sz="1250" dirty="0"/>
          </a:p>
        </p:txBody>
      </p:sp>
      <p:sp>
        <p:nvSpPr>
          <p:cNvPr id="16" name="Text 12"/>
          <p:cNvSpPr/>
          <p:nvPr/>
        </p:nvSpPr>
        <p:spPr>
          <a:xfrm>
            <a:off x="6812280" y="2167128"/>
            <a:ext cx="4846320" cy="365760"/>
          </a:xfrm>
          <a:prstGeom prst="rect">
            <a:avLst/>
          </a:prstGeom>
          <a:noFill/>
          <a:ln/>
        </p:spPr>
        <p:txBody>
          <a:bodyPr wrap="square" rtlCol="0" anchor="ctr"/>
          <a:lstStyle/>
          <a:p>
            <a:pPr marL="0" indent="0">
              <a:lnSpc>
                <a:spcPct val="120000"/>
              </a:lnSpc>
              <a:buNone/>
            </a:pPr>
            <a:r>
              <a:rPr lang="en-US" sz="1000" dirty="0">
                <a:solidFill>
                  <a:srgbClr val="48505C"/>
                </a:solidFill>
                <a:latin typeface="Calibri" pitchFamily="34" charset="0"/>
                <a:ea typeface="Calibri" pitchFamily="34" charset="-122"/>
                <a:cs typeface="Calibri" pitchFamily="34" charset="-120"/>
              </a:rPr>
              <a:t>Use invoice_date to reveal monthly &amp; seasonal demand patterns.</a:t>
            </a:r>
            <a:endParaRPr lang="en-US" sz="1000" dirty="0"/>
          </a:p>
        </p:txBody>
      </p:sp>
      <p:sp>
        <p:nvSpPr>
          <p:cNvPr id="17" name="Shape 13"/>
          <p:cNvSpPr/>
          <p:nvPr/>
        </p:nvSpPr>
        <p:spPr>
          <a:xfrm>
            <a:off x="6409944" y="2395728"/>
            <a:ext cx="0" cy="329184"/>
          </a:xfrm>
          <a:prstGeom prst="line">
            <a:avLst/>
          </a:prstGeom>
          <a:noFill/>
          <a:ln w="19050">
            <a:solidFill>
              <a:srgbClr val="DDE1E8"/>
            </a:solidFill>
            <a:prstDash val="dash"/>
          </a:ln>
        </p:spPr>
        <p:txBody>
          <a:bodyPr/>
          <a:lstStyle/>
          <a:p>
            <a:endParaRPr lang="en-IN"/>
          </a:p>
        </p:txBody>
      </p:sp>
      <p:sp>
        <p:nvSpPr>
          <p:cNvPr id="18" name="Shape 14"/>
          <p:cNvSpPr/>
          <p:nvPr/>
        </p:nvSpPr>
        <p:spPr>
          <a:xfrm>
            <a:off x="6172200" y="2761488"/>
            <a:ext cx="475488" cy="475488"/>
          </a:xfrm>
          <a:prstGeom prst="ellipse">
            <a:avLst/>
          </a:prstGeom>
          <a:solidFill>
            <a:srgbClr val="6A1B9A"/>
          </a:solidFill>
          <a:ln/>
        </p:spPr>
        <p:txBody>
          <a:bodyPr/>
          <a:lstStyle/>
          <a:p>
            <a:endParaRPr lang="en-IN"/>
          </a:p>
        </p:txBody>
      </p:sp>
      <p:pic>
        <p:nvPicPr>
          <p:cNvPr id="19" name="Image 2" descr="preencoded.png"/>
          <p:cNvPicPr>
            <a:picLocks noChangeAspect="1"/>
          </p:cNvPicPr>
          <p:nvPr/>
        </p:nvPicPr>
        <p:blipFill>
          <a:blip r:embed="rId5"/>
          <a:stretch>
            <a:fillRect/>
          </a:stretch>
        </p:blipFill>
        <p:spPr>
          <a:xfrm>
            <a:off x="6295827" y="2885115"/>
            <a:ext cx="228234" cy="228234"/>
          </a:xfrm>
          <a:prstGeom prst="rect">
            <a:avLst/>
          </a:prstGeom>
        </p:spPr>
      </p:pic>
      <p:sp>
        <p:nvSpPr>
          <p:cNvPr id="20" name="Text 15"/>
          <p:cNvSpPr/>
          <p:nvPr/>
        </p:nvSpPr>
        <p:spPr>
          <a:xfrm>
            <a:off x="6812280" y="2734056"/>
            <a:ext cx="4846320" cy="292608"/>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Repeat-Purchase Analysis</a:t>
            </a:r>
            <a:endParaRPr lang="en-US" sz="1250" dirty="0"/>
          </a:p>
        </p:txBody>
      </p:sp>
      <p:sp>
        <p:nvSpPr>
          <p:cNvPr id="21" name="Text 16"/>
          <p:cNvSpPr/>
          <p:nvPr/>
        </p:nvSpPr>
        <p:spPr>
          <a:xfrm>
            <a:off x="6812280" y="3008376"/>
            <a:ext cx="4846320" cy="365760"/>
          </a:xfrm>
          <a:prstGeom prst="rect">
            <a:avLst/>
          </a:prstGeom>
          <a:noFill/>
          <a:ln/>
        </p:spPr>
        <p:txBody>
          <a:bodyPr wrap="square" rtlCol="0" anchor="ctr"/>
          <a:lstStyle/>
          <a:p>
            <a:pPr marL="0" indent="0">
              <a:lnSpc>
                <a:spcPct val="120000"/>
              </a:lnSpc>
              <a:buNone/>
            </a:pPr>
            <a:r>
              <a:rPr lang="en-US" sz="1000" dirty="0">
                <a:solidFill>
                  <a:srgbClr val="48505C"/>
                </a:solidFill>
                <a:latin typeface="Calibri" pitchFamily="34" charset="0"/>
                <a:ea typeface="Calibri" pitchFamily="34" charset="-122"/>
                <a:cs typeface="Calibri" pitchFamily="34" charset="-120"/>
              </a:rPr>
              <a:t>Distinguish one-time buyers from repeat customers.</a:t>
            </a:r>
            <a:endParaRPr lang="en-US" sz="1000" dirty="0"/>
          </a:p>
        </p:txBody>
      </p:sp>
      <p:sp>
        <p:nvSpPr>
          <p:cNvPr id="22" name="Shape 17"/>
          <p:cNvSpPr/>
          <p:nvPr/>
        </p:nvSpPr>
        <p:spPr>
          <a:xfrm>
            <a:off x="6409944" y="3236976"/>
            <a:ext cx="0" cy="329184"/>
          </a:xfrm>
          <a:prstGeom prst="line">
            <a:avLst/>
          </a:prstGeom>
          <a:noFill/>
          <a:ln w="19050">
            <a:solidFill>
              <a:srgbClr val="DDE1E8"/>
            </a:solidFill>
            <a:prstDash val="dash"/>
          </a:ln>
        </p:spPr>
        <p:txBody>
          <a:bodyPr/>
          <a:lstStyle/>
          <a:p>
            <a:endParaRPr lang="en-IN"/>
          </a:p>
        </p:txBody>
      </p:sp>
      <p:sp>
        <p:nvSpPr>
          <p:cNvPr id="23" name="Shape 18"/>
          <p:cNvSpPr/>
          <p:nvPr/>
        </p:nvSpPr>
        <p:spPr>
          <a:xfrm>
            <a:off x="6172200" y="3602736"/>
            <a:ext cx="475488" cy="475488"/>
          </a:xfrm>
          <a:prstGeom prst="ellipse">
            <a:avLst/>
          </a:prstGeom>
          <a:solidFill>
            <a:srgbClr val="6A1B9A"/>
          </a:solidFill>
          <a:ln/>
        </p:spPr>
        <p:txBody>
          <a:bodyPr/>
          <a:lstStyle/>
          <a:p>
            <a:endParaRPr lang="en-IN"/>
          </a:p>
        </p:txBody>
      </p:sp>
      <p:pic>
        <p:nvPicPr>
          <p:cNvPr id="24" name="Image 3" descr="preencoded.png"/>
          <p:cNvPicPr>
            <a:picLocks noChangeAspect="1"/>
          </p:cNvPicPr>
          <p:nvPr/>
        </p:nvPicPr>
        <p:blipFill>
          <a:blip r:embed="rId6"/>
          <a:stretch>
            <a:fillRect/>
          </a:stretch>
        </p:blipFill>
        <p:spPr>
          <a:xfrm>
            <a:off x="6295827" y="3726363"/>
            <a:ext cx="228234" cy="228234"/>
          </a:xfrm>
          <a:prstGeom prst="rect">
            <a:avLst/>
          </a:prstGeom>
        </p:spPr>
      </p:pic>
      <p:sp>
        <p:nvSpPr>
          <p:cNvPr id="25" name="Text 19"/>
          <p:cNvSpPr/>
          <p:nvPr/>
        </p:nvSpPr>
        <p:spPr>
          <a:xfrm>
            <a:off x="6812280" y="3575304"/>
            <a:ext cx="4846320" cy="292608"/>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Expanded Dataset</a:t>
            </a:r>
            <a:endParaRPr lang="en-US" sz="1250" dirty="0"/>
          </a:p>
        </p:txBody>
      </p:sp>
      <p:sp>
        <p:nvSpPr>
          <p:cNvPr id="26" name="Text 20"/>
          <p:cNvSpPr/>
          <p:nvPr/>
        </p:nvSpPr>
        <p:spPr>
          <a:xfrm>
            <a:off x="6812280" y="3849624"/>
            <a:ext cx="4846320" cy="365760"/>
          </a:xfrm>
          <a:prstGeom prst="rect">
            <a:avLst/>
          </a:prstGeom>
          <a:noFill/>
          <a:ln/>
        </p:spPr>
        <p:txBody>
          <a:bodyPr wrap="square" rtlCol="0" anchor="ctr"/>
          <a:lstStyle/>
          <a:p>
            <a:pPr marL="0" indent="0">
              <a:lnSpc>
                <a:spcPct val="120000"/>
              </a:lnSpc>
              <a:buNone/>
            </a:pPr>
            <a:r>
              <a:rPr lang="en-US" sz="1000" dirty="0">
                <a:solidFill>
                  <a:srgbClr val="48505C"/>
                </a:solidFill>
                <a:latin typeface="Calibri" pitchFamily="34" charset="0"/>
                <a:ea typeface="Calibri" pitchFamily="34" charset="-122"/>
                <a:cs typeface="Calibri" pitchFamily="34" charset="-120"/>
              </a:rPr>
              <a:t>Grow beyond 1,000 records for stronger segment confidence.</a:t>
            </a:r>
            <a:endParaRPr lang="en-US" sz="1000" dirty="0"/>
          </a:p>
        </p:txBody>
      </p:sp>
      <p:sp>
        <p:nvSpPr>
          <p:cNvPr id="27" name="Shape 21"/>
          <p:cNvSpPr/>
          <p:nvPr/>
        </p:nvSpPr>
        <p:spPr>
          <a:xfrm>
            <a:off x="6409944" y="4078224"/>
            <a:ext cx="0" cy="329184"/>
          </a:xfrm>
          <a:prstGeom prst="line">
            <a:avLst/>
          </a:prstGeom>
          <a:noFill/>
          <a:ln w="19050">
            <a:solidFill>
              <a:srgbClr val="DDE1E8"/>
            </a:solidFill>
            <a:prstDash val="dash"/>
          </a:ln>
        </p:spPr>
        <p:txBody>
          <a:bodyPr/>
          <a:lstStyle/>
          <a:p>
            <a:endParaRPr lang="en-IN"/>
          </a:p>
        </p:txBody>
      </p:sp>
      <p:sp>
        <p:nvSpPr>
          <p:cNvPr id="28" name="Shape 22"/>
          <p:cNvSpPr/>
          <p:nvPr/>
        </p:nvSpPr>
        <p:spPr>
          <a:xfrm>
            <a:off x="6172200" y="4443984"/>
            <a:ext cx="475488" cy="475488"/>
          </a:xfrm>
          <a:prstGeom prst="ellipse">
            <a:avLst/>
          </a:prstGeom>
          <a:solidFill>
            <a:srgbClr val="6A1B9A"/>
          </a:solidFill>
          <a:ln/>
        </p:spPr>
        <p:txBody>
          <a:bodyPr/>
          <a:lstStyle/>
          <a:p>
            <a:endParaRPr lang="en-IN"/>
          </a:p>
        </p:txBody>
      </p:sp>
      <p:pic>
        <p:nvPicPr>
          <p:cNvPr id="29" name="Image 4" descr="preencoded.png"/>
          <p:cNvPicPr>
            <a:picLocks noChangeAspect="1"/>
          </p:cNvPicPr>
          <p:nvPr/>
        </p:nvPicPr>
        <p:blipFill>
          <a:blip r:embed="rId7"/>
          <a:stretch>
            <a:fillRect/>
          </a:stretch>
        </p:blipFill>
        <p:spPr>
          <a:xfrm>
            <a:off x="6295827" y="4567611"/>
            <a:ext cx="228234" cy="228234"/>
          </a:xfrm>
          <a:prstGeom prst="rect">
            <a:avLst/>
          </a:prstGeom>
        </p:spPr>
      </p:pic>
      <p:sp>
        <p:nvSpPr>
          <p:cNvPr id="30" name="Text 23"/>
          <p:cNvSpPr/>
          <p:nvPr/>
        </p:nvSpPr>
        <p:spPr>
          <a:xfrm>
            <a:off x="6812280" y="4416552"/>
            <a:ext cx="4846320" cy="292608"/>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Profitability Modeling</a:t>
            </a:r>
            <a:endParaRPr lang="en-US" sz="1250" dirty="0"/>
          </a:p>
        </p:txBody>
      </p:sp>
      <p:sp>
        <p:nvSpPr>
          <p:cNvPr id="31" name="Text 24"/>
          <p:cNvSpPr/>
          <p:nvPr/>
        </p:nvSpPr>
        <p:spPr>
          <a:xfrm>
            <a:off x="6812280" y="4690872"/>
            <a:ext cx="4846320" cy="365760"/>
          </a:xfrm>
          <a:prstGeom prst="rect">
            <a:avLst/>
          </a:prstGeom>
          <a:noFill/>
          <a:ln/>
        </p:spPr>
        <p:txBody>
          <a:bodyPr wrap="square" rtlCol="0" anchor="ctr"/>
          <a:lstStyle/>
          <a:p>
            <a:pPr marL="0" indent="0">
              <a:lnSpc>
                <a:spcPct val="120000"/>
              </a:lnSpc>
              <a:buNone/>
            </a:pPr>
            <a:r>
              <a:rPr lang="en-US" sz="1000" dirty="0">
                <a:solidFill>
                  <a:srgbClr val="48505C"/>
                </a:solidFill>
                <a:latin typeface="Calibri" pitchFamily="34" charset="0"/>
                <a:ea typeface="Calibri" pitchFamily="34" charset="-122"/>
                <a:cs typeface="Calibri" pitchFamily="34" charset="-120"/>
              </a:rPr>
              <a:t>Add COGS to shift from revenue to margin-based analysis.</a:t>
            </a:r>
            <a:endParaRPr lang="en-US" sz="1000" dirty="0"/>
          </a:p>
        </p:txBody>
      </p:sp>
      <p:sp>
        <p:nvSpPr>
          <p:cNvPr id="32" name="Shape 25"/>
          <p:cNvSpPr/>
          <p:nvPr/>
        </p:nvSpPr>
        <p:spPr>
          <a:xfrm>
            <a:off x="6409944" y="4919472"/>
            <a:ext cx="0" cy="329184"/>
          </a:xfrm>
          <a:prstGeom prst="line">
            <a:avLst/>
          </a:prstGeom>
          <a:noFill/>
          <a:ln w="19050">
            <a:solidFill>
              <a:srgbClr val="DDE1E8"/>
            </a:solidFill>
            <a:prstDash val="dash"/>
          </a:ln>
        </p:spPr>
        <p:txBody>
          <a:bodyPr/>
          <a:lstStyle/>
          <a:p>
            <a:endParaRPr lang="en-IN"/>
          </a:p>
        </p:txBody>
      </p:sp>
      <p:sp>
        <p:nvSpPr>
          <p:cNvPr id="33" name="Shape 26"/>
          <p:cNvSpPr/>
          <p:nvPr/>
        </p:nvSpPr>
        <p:spPr>
          <a:xfrm>
            <a:off x="6172200" y="5285232"/>
            <a:ext cx="475488" cy="475488"/>
          </a:xfrm>
          <a:prstGeom prst="ellipse">
            <a:avLst/>
          </a:prstGeom>
          <a:solidFill>
            <a:srgbClr val="6A1B9A"/>
          </a:solidFill>
          <a:ln/>
        </p:spPr>
        <p:txBody>
          <a:bodyPr/>
          <a:lstStyle/>
          <a:p>
            <a:endParaRPr lang="en-IN"/>
          </a:p>
        </p:txBody>
      </p:sp>
      <p:pic>
        <p:nvPicPr>
          <p:cNvPr id="34" name="Image 5" descr="preencoded.png"/>
          <p:cNvPicPr>
            <a:picLocks noChangeAspect="1"/>
          </p:cNvPicPr>
          <p:nvPr/>
        </p:nvPicPr>
        <p:blipFill>
          <a:blip r:embed="rId8"/>
          <a:stretch>
            <a:fillRect/>
          </a:stretch>
        </p:blipFill>
        <p:spPr>
          <a:xfrm>
            <a:off x="6295827" y="5408859"/>
            <a:ext cx="228234" cy="228234"/>
          </a:xfrm>
          <a:prstGeom prst="rect">
            <a:avLst/>
          </a:prstGeom>
        </p:spPr>
      </p:pic>
      <p:sp>
        <p:nvSpPr>
          <p:cNvPr id="35" name="Text 27"/>
          <p:cNvSpPr/>
          <p:nvPr/>
        </p:nvSpPr>
        <p:spPr>
          <a:xfrm>
            <a:off x="6812280" y="5257800"/>
            <a:ext cx="4846320" cy="292608"/>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Automated Refresh</a:t>
            </a:r>
            <a:endParaRPr lang="en-US" sz="1250" dirty="0"/>
          </a:p>
        </p:txBody>
      </p:sp>
      <p:sp>
        <p:nvSpPr>
          <p:cNvPr id="36" name="Text 28"/>
          <p:cNvSpPr/>
          <p:nvPr/>
        </p:nvSpPr>
        <p:spPr>
          <a:xfrm>
            <a:off x="6812280" y="5532120"/>
            <a:ext cx="4846320" cy="365760"/>
          </a:xfrm>
          <a:prstGeom prst="rect">
            <a:avLst/>
          </a:prstGeom>
          <a:noFill/>
          <a:ln/>
        </p:spPr>
        <p:txBody>
          <a:bodyPr wrap="square" rtlCol="0" anchor="ctr"/>
          <a:lstStyle/>
          <a:p>
            <a:pPr marL="0" indent="0">
              <a:lnSpc>
                <a:spcPct val="120000"/>
              </a:lnSpc>
              <a:buNone/>
            </a:pPr>
            <a:r>
              <a:rPr lang="en-US" sz="1000" dirty="0">
                <a:solidFill>
                  <a:srgbClr val="48505C"/>
                </a:solidFill>
                <a:latin typeface="Calibri" pitchFamily="34" charset="0"/>
                <a:ea typeface="Calibri" pitchFamily="34" charset="-122"/>
                <a:cs typeface="Calibri" pitchFamily="34" charset="-120"/>
              </a:rPr>
              <a:t>Pipe source data into MySQL &amp; Power BI without manual re-import.</a:t>
            </a:r>
            <a:endParaRPr lang="en-US" sz="1000" dirty="0"/>
          </a:p>
        </p:txBody>
      </p:sp>
      <p:sp>
        <p:nvSpPr>
          <p:cNvPr id="37" name="Text 29"/>
          <p:cNvSpPr/>
          <p:nvPr/>
        </p:nvSpPr>
        <p:spPr>
          <a:xfrm>
            <a:off x="502920" y="6547104"/>
            <a:ext cx="6400800" cy="256032"/>
          </a:xfrm>
          <a:prstGeom prst="rect">
            <a:avLst/>
          </a:prstGeom>
          <a:noFill/>
          <a:ln/>
        </p:spPr>
        <p:txBody>
          <a:bodyPr wrap="square" rtlCol="0" anchor="ctr"/>
          <a:lstStyle/>
          <a:p>
            <a:pPr marL="0" indent="0">
              <a:buNone/>
            </a:pPr>
            <a:r>
              <a:rPr lang="en-US" sz="800" kern="0" spc="100" dirty="0">
                <a:solidFill>
                  <a:srgbClr val="8A93A3"/>
                </a:solidFill>
                <a:latin typeface="Calibri" pitchFamily="34" charset="0"/>
                <a:ea typeface="Calibri" pitchFamily="34" charset="-122"/>
                <a:cs typeface="Calibri" pitchFamily="34" charset="-120"/>
              </a:rPr>
              <a:t>CUSTOMER DATA ANALYSIS  |  SQL &amp; POWER BI</a:t>
            </a:r>
            <a:endParaRPr lang="en-US" sz="800" dirty="0"/>
          </a:p>
        </p:txBody>
      </p:sp>
      <p:sp>
        <p:nvSpPr>
          <p:cNvPr id="38" name="Text 30"/>
          <p:cNvSpPr/>
          <p:nvPr/>
        </p:nvSpPr>
        <p:spPr>
          <a:xfrm>
            <a:off x="11064240" y="6547104"/>
            <a:ext cx="640080" cy="256032"/>
          </a:xfrm>
          <a:prstGeom prst="rect">
            <a:avLst/>
          </a:prstGeom>
          <a:noFill/>
          <a:ln/>
        </p:spPr>
        <p:txBody>
          <a:bodyPr wrap="square" rtlCol="0" anchor="ctr"/>
          <a:lstStyle/>
          <a:p>
            <a:pPr marL="0" indent="0" algn="r">
              <a:buNone/>
            </a:pPr>
            <a:r>
              <a:rPr lang="en-US" sz="800" dirty="0">
                <a:solidFill>
                  <a:srgbClr val="8A93A3"/>
                </a:solidFill>
                <a:latin typeface="Calibri" pitchFamily="34" charset="0"/>
                <a:ea typeface="Calibri" pitchFamily="34" charset="-122"/>
                <a:cs typeface="Calibri" pitchFamily="34" charset="-120"/>
              </a:rPr>
              <a:t>14 / 15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463040" y="-1463040"/>
            <a:ext cx="4206240" cy="4206240"/>
          </a:xfrm>
          <a:prstGeom prst="ellipse">
            <a:avLst/>
          </a:prstGeom>
          <a:solidFill>
            <a:srgbClr val="FFFFFF">
              <a:alpha val="6000"/>
            </a:srgbClr>
          </a:solidFill>
          <a:ln/>
        </p:spPr>
        <p:txBody>
          <a:bodyPr/>
          <a:lstStyle/>
          <a:p>
            <a:endParaRPr lang="en-IN"/>
          </a:p>
        </p:txBody>
      </p:sp>
      <p:sp>
        <p:nvSpPr>
          <p:cNvPr id="3" name="Shape 1"/>
          <p:cNvSpPr/>
          <p:nvPr/>
        </p:nvSpPr>
        <p:spPr>
          <a:xfrm>
            <a:off x="9875520" y="4389120"/>
            <a:ext cx="3657600" cy="3657600"/>
          </a:xfrm>
          <a:prstGeom prst="ellipse">
            <a:avLst/>
          </a:prstGeom>
          <a:solidFill>
            <a:srgbClr val="FFFFFF">
              <a:alpha val="6000"/>
            </a:srgbClr>
          </a:solidFill>
          <a:ln/>
        </p:spPr>
        <p:txBody>
          <a:bodyPr/>
          <a:lstStyle/>
          <a:p>
            <a:endParaRPr lang="en-IN"/>
          </a:p>
        </p:txBody>
      </p:sp>
      <p:sp>
        <p:nvSpPr>
          <p:cNvPr id="4" name="Text 2"/>
          <p:cNvSpPr/>
          <p:nvPr/>
        </p:nvSpPr>
        <p:spPr>
          <a:xfrm>
            <a:off x="822960" y="2331720"/>
            <a:ext cx="10515600" cy="822960"/>
          </a:xfrm>
          <a:prstGeom prst="rect">
            <a:avLst/>
          </a:prstGeom>
          <a:noFill/>
          <a:ln/>
        </p:spPr>
        <p:txBody>
          <a:bodyPr wrap="square"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5" name="Text 3"/>
          <p:cNvSpPr/>
          <p:nvPr/>
        </p:nvSpPr>
        <p:spPr>
          <a:xfrm>
            <a:off x="841248" y="3063240"/>
            <a:ext cx="10515600" cy="502920"/>
          </a:xfrm>
          <a:prstGeom prst="rect">
            <a:avLst/>
          </a:prstGeom>
          <a:noFill/>
          <a:ln/>
        </p:spPr>
        <p:txBody>
          <a:bodyPr wrap="square" rtlCol="0" anchor="ctr"/>
          <a:lstStyle/>
          <a:p>
            <a:pPr marL="0" indent="0">
              <a:buNone/>
            </a:pPr>
            <a:r>
              <a:rPr lang="en-US" sz="2000" dirty="0">
                <a:solidFill>
                  <a:srgbClr val="E7E9F5"/>
                </a:solidFill>
                <a:latin typeface="Calibri" pitchFamily="34" charset="0"/>
                <a:ea typeface="Calibri" pitchFamily="34" charset="-122"/>
                <a:cs typeface="Calibri" pitchFamily="34" charset="-120"/>
              </a:rPr>
              <a:t>Questions &amp; Discussion</a:t>
            </a:r>
            <a:endParaRPr lang="en-US" sz="2000" dirty="0"/>
          </a:p>
        </p:txBody>
      </p:sp>
      <p:sp>
        <p:nvSpPr>
          <p:cNvPr id="6" name="Shape 4"/>
          <p:cNvSpPr/>
          <p:nvPr/>
        </p:nvSpPr>
        <p:spPr>
          <a:xfrm>
            <a:off x="868680" y="3794760"/>
            <a:ext cx="2103120" cy="0"/>
          </a:xfrm>
          <a:prstGeom prst="line">
            <a:avLst/>
          </a:prstGeom>
          <a:noFill/>
          <a:ln w="31750">
            <a:solidFill>
              <a:srgbClr val="C9A227"/>
            </a:solidFill>
            <a:prstDash val="solid"/>
          </a:ln>
        </p:spPr>
        <p:txBody>
          <a:bodyPr/>
          <a:lstStyle/>
          <a:p>
            <a:endParaRPr lang="en-IN"/>
          </a:p>
        </p:txBody>
      </p:sp>
      <p:sp>
        <p:nvSpPr>
          <p:cNvPr id="7" name="Text 5"/>
          <p:cNvSpPr/>
          <p:nvPr/>
        </p:nvSpPr>
        <p:spPr>
          <a:xfrm>
            <a:off x="868680" y="4023360"/>
            <a:ext cx="7315200" cy="320040"/>
          </a:xfrm>
          <a:prstGeom prst="rect">
            <a:avLst/>
          </a:prstGeom>
          <a:noFill/>
          <a:ln/>
        </p:spPr>
        <p:txBody>
          <a:bodyPr wrap="square" rtlCol="0" anchor="ctr"/>
          <a:lstStyle/>
          <a:p>
            <a:pPr marL="0" indent="0">
              <a:buNone/>
            </a:pPr>
            <a:r>
              <a:rPr lang="en-US" sz="1250" dirty="0">
                <a:solidFill>
                  <a:srgbClr val="CFD3EE"/>
                </a:solidFill>
                <a:latin typeface="Calibri" pitchFamily="34" charset="0"/>
                <a:ea typeface="Calibri" pitchFamily="34" charset="-122"/>
                <a:cs typeface="Calibri" pitchFamily="34" charset="-120"/>
              </a:rPr>
              <a:t>Customer Data Analysis Project Using SQL &amp; Power BI</a:t>
            </a:r>
            <a:endParaRPr lang="en-US" sz="1250" dirty="0"/>
          </a:p>
        </p:txBody>
      </p:sp>
      <p:sp>
        <p:nvSpPr>
          <p:cNvPr id="8" name="Text 6"/>
          <p:cNvSpPr/>
          <p:nvPr/>
        </p:nvSpPr>
        <p:spPr>
          <a:xfrm>
            <a:off x="868680" y="4343400"/>
            <a:ext cx="7315200" cy="3200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Baliji Mohan  •  Data Analyst</a:t>
            </a:r>
            <a:endParaRPr lang="en-US" sz="1250" dirty="0"/>
          </a:p>
        </p:txBody>
      </p:sp>
      <p:sp>
        <p:nvSpPr>
          <p:cNvPr id="9" name="Shape 7"/>
          <p:cNvSpPr/>
          <p:nvPr/>
        </p:nvSpPr>
        <p:spPr>
          <a:xfrm>
            <a:off x="868680" y="5029200"/>
            <a:ext cx="365760" cy="365760"/>
          </a:xfrm>
          <a:prstGeom prst="ellipse">
            <a:avLst/>
          </a:prstGeom>
          <a:solidFill>
            <a:srgbClr val="FFFFFF">
              <a:alpha val="15000"/>
            </a:srgbClr>
          </a:solidFill>
          <a:ln w="12700">
            <a:solidFill>
              <a:srgbClr val="C9A227"/>
            </a:solidFill>
            <a:prstDash val="solid"/>
          </a:ln>
        </p:spPr>
        <p:txBody>
          <a:bodyPr/>
          <a:lstStyle/>
          <a:p>
            <a:endParaRPr lang="en-IN"/>
          </a:p>
        </p:txBody>
      </p:sp>
      <p:pic>
        <p:nvPicPr>
          <p:cNvPr id="10" name="Image 0" descr="preencoded.png"/>
          <p:cNvPicPr>
            <a:picLocks noChangeAspect="1"/>
          </p:cNvPicPr>
          <p:nvPr/>
        </p:nvPicPr>
        <p:blipFill>
          <a:blip r:embed="rId4"/>
          <a:stretch>
            <a:fillRect/>
          </a:stretch>
        </p:blipFill>
        <p:spPr>
          <a:xfrm>
            <a:off x="950976" y="5111496"/>
            <a:ext cx="201168" cy="201168"/>
          </a:xfrm>
          <a:prstGeom prst="rect">
            <a:avLst/>
          </a:prstGeom>
        </p:spPr>
      </p:pic>
      <p:sp>
        <p:nvSpPr>
          <p:cNvPr id="11" name="Text 8"/>
          <p:cNvSpPr/>
          <p:nvPr/>
        </p:nvSpPr>
        <p:spPr>
          <a:xfrm>
            <a:off x="1371600" y="5047488"/>
            <a:ext cx="4114800" cy="329184"/>
          </a:xfrm>
          <a:prstGeom prst="rect">
            <a:avLst/>
          </a:prstGeom>
          <a:noFill/>
          <a:ln/>
        </p:spPr>
        <p:txBody>
          <a:bodyPr wrap="square" rtlCol="0" anchor="ctr"/>
          <a:lstStyle/>
          <a:p>
            <a:r>
              <a:rPr lang="en-US" sz="1150" dirty="0">
                <a:solidFill>
                  <a:srgbClr val="E7E9F5"/>
                </a:solidFill>
                <a:latin typeface="Calibri" pitchFamily="34" charset="0"/>
                <a:ea typeface="Calibri" pitchFamily="34" charset="-122"/>
                <a:cs typeface="Calibri" pitchFamily="34" charset="-120"/>
              </a:rPr>
              <a:t>balijimohan364@gmail.com</a:t>
            </a:r>
            <a:endParaRPr lang="en-US" sz="1150" dirty="0"/>
          </a:p>
        </p:txBody>
      </p:sp>
      <p:sp>
        <p:nvSpPr>
          <p:cNvPr id="12" name="Shape 9"/>
          <p:cNvSpPr/>
          <p:nvPr/>
        </p:nvSpPr>
        <p:spPr>
          <a:xfrm>
            <a:off x="868680" y="5486400"/>
            <a:ext cx="365760" cy="365760"/>
          </a:xfrm>
          <a:prstGeom prst="ellipse">
            <a:avLst/>
          </a:prstGeom>
          <a:solidFill>
            <a:srgbClr val="FFFFFF">
              <a:alpha val="15000"/>
            </a:srgbClr>
          </a:solidFill>
          <a:ln w="12700">
            <a:solidFill>
              <a:srgbClr val="C9A227"/>
            </a:solidFill>
            <a:prstDash val="solid"/>
          </a:ln>
        </p:spPr>
        <p:txBody>
          <a:bodyPr/>
          <a:lstStyle/>
          <a:p>
            <a:endParaRPr lang="en-IN"/>
          </a:p>
        </p:txBody>
      </p:sp>
      <p:pic>
        <p:nvPicPr>
          <p:cNvPr id="13" name="Image 1" descr="preencoded.png"/>
          <p:cNvPicPr>
            <a:picLocks noChangeAspect="1"/>
          </p:cNvPicPr>
          <p:nvPr/>
        </p:nvPicPr>
        <p:blipFill>
          <a:blip r:embed="rId5"/>
          <a:stretch>
            <a:fillRect/>
          </a:stretch>
        </p:blipFill>
        <p:spPr>
          <a:xfrm>
            <a:off x="950976" y="5568696"/>
            <a:ext cx="201168" cy="201168"/>
          </a:xfrm>
          <a:prstGeom prst="rect">
            <a:avLst/>
          </a:prstGeom>
        </p:spPr>
      </p:pic>
      <p:sp>
        <p:nvSpPr>
          <p:cNvPr id="14" name="Text 10"/>
          <p:cNvSpPr/>
          <p:nvPr/>
        </p:nvSpPr>
        <p:spPr>
          <a:xfrm>
            <a:off x="1371600" y="5504688"/>
            <a:ext cx="4114800" cy="329184"/>
          </a:xfrm>
          <a:prstGeom prst="rect">
            <a:avLst/>
          </a:prstGeom>
          <a:noFill/>
          <a:ln/>
        </p:spPr>
        <p:txBody>
          <a:bodyPr wrap="square" rtlCol="0" anchor="ctr"/>
          <a:lstStyle/>
          <a:p>
            <a:r>
              <a:rPr lang="en-US" sz="1150" dirty="0">
                <a:solidFill>
                  <a:srgbClr val="E7E9F5"/>
                </a:solidFill>
                <a:latin typeface="Calibri" pitchFamily="34" charset="0"/>
                <a:ea typeface="Calibri" pitchFamily="34" charset="-122"/>
                <a:cs typeface="Calibri" pitchFamily="34" charset="-120"/>
              </a:rPr>
              <a:t>linkedin.com/in/mohan-baliji-083b90254</a:t>
            </a:r>
            <a:endParaRPr lang="en-US" sz="1150" dirty="0"/>
          </a:p>
        </p:txBody>
      </p:sp>
      <p:sp>
        <p:nvSpPr>
          <p:cNvPr id="15" name="Shape 11"/>
          <p:cNvSpPr/>
          <p:nvPr/>
        </p:nvSpPr>
        <p:spPr>
          <a:xfrm>
            <a:off x="868680" y="5943600"/>
            <a:ext cx="365760" cy="365760"/>
          </a:xfrm>
          <a:prstGeom prst="ellipse">
            <a:avLst/>
          </a:prstGeom>
          <a:solidFill>
            <a:srgbClr val="FFFFFF">
              <a:alpha val="15000"/>
            </a:srgbClr>
          </a:solidFill>
          <a:ln w="12700">
            <a:solidFill>
              <a:srgbClr val="C9A227"/>
            </a:solidFill>
            <a:prstDash val="solid"/>
          </a:ln>
        </p:spPr>
        <p:txBody>
          <a:bodyPr/>
          <a:lstStyle/>
          <a:p>
            <a:endParaRPr lang="en-IN"/>
          </a:p>
        </p:txBody>
      </p:sp>
      <p:pic>
        <p:nvPicPr>
          <p:cNvPr id="16" name="Image 2" descr="preencoded.png"/>
          <p:cNvPicPr>
            <a:picLocks noChangeAspect="1"/>
          </p:cNvPicPr>
          <p:nvPr/>
        </p:nvPicPr>
        <p:blipFill>
          <a:blip r:embed="rId6"/>
          <a:stretch>
            <a:fillRect/>
          </a:stretch>
        </p:blipFill>
        <p:spPr>
          <a:xfrm>
            <a:off x="950976" y="6025896"/>
            <a:ext cx="201168" cy="201168"/>
          </a:xfrm>
          <a:prstGeom prst="rect">
            <a:avLst/>
          </a:prstGeom>
        </p:spPr>
      </p:pic>
      <p:sp>
        <p:nvSpPr>
          <p:cNvPr id="17" name="Text 12"/>
          <p:cNvSpPr/>
          <p:nvPr/>
        </p:nvSpPr>
        <p:spPr>
          <a:xfrm>
            <a:off x="1371600" y="5961888"/>
            <a:ext cx="4114800" cy="329184"/>
          </a:xfrm>
          <a:prstGeom prst="rect">
            <a:avLst/>
          </a:prstGeom>
          <a:noFill/>
          <a:ln/>
        </p:spPr>
        <p:txBody>
          <a:bodyPr wrap="square" rtlCol="0" anchor="ctr"/>
          <a:lstStyle/>
          <a:p>
            <a:r>
              <a:rPr lang="en-US" sz="1150" dirty="0">
                <a:solidFill>
                  <a:srgbClr val="E7E9F5"/>
                </a:solidFill>
                <a:latin typeface="Calibri" pitchFamily="34" charset="0"/>
                <a:ea typeface="Calibri" pitchFamily="34" charset="-122"/>
                <a:cs typeface="Calibri" pitchFamily="34" charset="-120"/>
              </a:rPr>
              <a:t>github.com/balijimohan</a:t>
            </a:r>
            <a:endParaRPr lang="en-US" sz="1150" dirty="0"/>
          </a:p>
        </p:txBody>
      </p:sp>
      <p:sp>
        <p:nvSpPr>
          <p:cNvPr id="18" name="Text 13"/>
          <p:cNvSpPr/>
          <p:nvPr/>
        </p:nvSpPr>
        <p:spPr>
          <a:xfrm>
            <a:off x="868680" y="6446520"/>
            <a:ext cx="7315200" cy="274320"/>
          </a:xfrm>
          <a:prstGeom prst="rect">
            <a:avLst/>
          </a:prstGeom>
          <a:noFill/>
          <a:ln/>
        </p:spPr>
        <p:txBody>
          <a:bodyPr wrap="square" rtlCol="0" anchor="ctr"/>
          <a:lstStyle/>
          <a:p>
            <a:pPr marL="0" indent="0">
              <a:buNone/>
            </a:pPr>
            <a:r>
              <a:rPr lang="en-US" sz="950" i="1" dirty="0">
                <a:solidFill>
                  <a:srgbClr val="B7BCDE"/>
                </a:solidFill>
                <a:latin typeface="Calibri" pitchFamily="34" charset="0"/>
                <a:ea typeface="Calibri" pitchFamily="34" charset="-122"/>
                <a:cs typeface="Calibri" pitchFamily="34" charset="-120"/>
              </a:rPr>
              <a:t>Tools: MySQL  ·  SQL  ·  Power BI  ·  Power Query  ·  DAX</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190</TotalTime>
  <Words>1729</Words>
  <Application>Microsoft Office PowerPoint</Application>
  <PresentationFormat>Widescreen</PresentationFormat>
  <Paragraphs>313</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Courier New</vt:lpstr>
      <vt:lpstr>Segoe UI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Data Analysis Using SQL &amp; Power BI</dc:title>
  <dc:subject>PptxGenJS Presentation</dc:subject>
  <dc:creator>Baliji Mohan</dc:creator>
  <cp:lastModifiedBy>BALIJI MOHAN B</cp:lastModifiedBy>
  <cp:revision>9</cp:revision>
  <dcterms:created xsi:type="dcterms:W3CDTF">2026-07-21T05:28:00Z</dcterms:created>
  <dcterms:modified xsi:type="dcterms:W3CDTF">2026-07-21T11:04:36Z</dcterms:modified>
</cp:coreProperties>
</file>